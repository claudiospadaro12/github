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90" r:id="rId2"/>
    <p:sldId id="443" r:id="rId3"/>
    <p:sldId id="410" r:id="rId4"/>
    <p:sldId id="447" r:id="rId5"/>
    <p:sldId id="444" r:id="rId6"/>
    <p:sldId id="415" r:id="rId7"/>
    <p:sldId id="409" r:id="rId8"/>
    <p:sldId id="412" r:id="rId9"/>
    <p:sldId id="442" r:id="rId10"/>
    <p:sldId id="413" r:id="rId11"/>
    <p:sldId id="445" r:id="rId12"/>
    <p:sldId id="446" r:id="rId13"/>
    <p:sldId id="448" r:id="rId14"/>
    <p:sldId id="319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8600"/>
    <a:srgbClr val="0033CC"/>
    <a:srgbClr val="008000"/>
    <a:srgbClr val="000099"/>
    <a:srgbClr val="FF9300"/>
    <a:srgbClr val="FFCC00"/>
    <a:srgbClr val="FF99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Stile chiaro 1 - Color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7CE84F3-28C3-443E-9E96-99CF82512B78}" styleName="Stile scuro 1 - Colore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89104" autoAdjust="0"/>
  </p:normalViewPr>
  <p:slideViewPr>
    <p:cSldViewPr snapToGrid="0" snapToObjects="1">
      <p:cViewPr varScale="1">
        <p:scale>
          <a:sx n="68" d="100"/>
          <a:sy n="68" d="100"/>
        </p:scale>
        <p:origin x="6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04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28F5962B-1590-2A44-B167-0B47EFD673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3474524-F0F6-C3CF-819C-B9D08B92FF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4413C-841B-4F37-9D52-4EE546FFB47C}" type="datetimeFigureOut">
              <a:rPr lang="it-IT" smtClean="0"/>
              <a:t>29/07/2025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26096F8-EB54-E348-B3A6-3A136DAB52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0076C3B-AE97-6474-7BB1-8F896BC8F9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38EC2-9F0E-4F72-86F1-6E46A662D698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809981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13" name="Shape 11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17085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af.net/it/forex/tools/volatility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31800" y="1635125"/>
            <a:ext cx="7848600" cy="44148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>
          <a:xfrm>
            <a:off x="871538" y="6296025"/>
            <a:ext cx="6969125" cy="5149850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68594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2B7A5-8B69-8324-516D-8188D8C3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E84D8B0-4264-D3B9-66CD-FE2723734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C5B9A99-2701-8C8D-FE61-C0EFBCD14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it-IT" sz="3200" dirty="0"/>
              <a:t>"Benvenuti in un percorso pensato per trasformare l’apertura dei mercati… da momento caotico a opportunità controllata.</a:t>
            </a:r>
            <a:br>
              <a:rPr lang="it-IT" sz="3200" dirty="0"/>
            </a:br>
            <a:r>
              <a:rPr lang="it-IT" sz="3200" dirty="0"/>
              <a:t>In questa lezione non impareremo a 'prevedere il futuro', ma a </a:t>
            </a:r>
            <a:r>
              <a:rPr lang="it-IT" sz="3200" b="1" dirty="0"/>
              <a:t>leggere ciò che il mercato ci sta già dicendo</a:t>
            </a:r>
            <a:r>
              <a:rPr lang="it-IT" sz="3200" dirty="0"/>
              <a:t>, attraverso segnali chiari e strumenti concreti.</a:t>
            </a:r>
          </a:p>
          <a:p>
            <a:pPr>
              <a:buNone/>
            </a:pPr>
            <a:r>
              <a:rPr lang="it-IT" sz="3200" dirty="0"/>
              <a:t>🔍 </a:t>
            </a:r>
            <a:r>
              <a:rPr lang="it-IT" sz="3200" b="1" dirty="0"/>
              <a:t>Parleremo di volatilità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Non dobbiamo temerla: la volatilità è ciò che genera le occasioni. Impareremo come riconoscerla, misurarla, e soprattutto come usarla per agire nel momento giusto, con il giusto controllo.</a:t>
            </a:r>
          </a:p>
          <a:p>
            <a:pPr>
              <a:buNone/>
            </a:pPr>
            <a:r>
              <a:rPr lang="it-IT" sz="3200" dirty="0"/>
              <a:t>📈 </a:t>
            </a:r>
            <a:r>
              <a:rPr lang="it-IT" sz="3200" b="1" dirty="0"/>
              <a:t>Studieremo gli indici principali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Il DAX, l’S&amp;P 500, il Nasdaq: questi non sono semplici numeri in un grafico. Sono </a:t>
            </a:r>
            <a:r>
              <a:rPr lang="it-IT" sz="3200" b="1" dirty="0"/>
              <a:t>indicatori del battito cardiaco dei mercati globali</a:t>
            </a:r>
            <a:r>
              <a:rPr lang="it-IT" sz="3200" dirty="0"/>
              <a:t>. Comprenderli significa sapere dove si stanno muovendo i capitali e, di conseguenza, dove potrebbe muoversi il prezzo.</a:t>
            </a:r>
          </a:p>
          <a:p>
            <a:pPr>
              <a:buNone/>
            </a:pPr>
            <a:r>
              <a:rPr lang="it-IT" sz="3200" dirty="0"/>
              <a:t>🧠 </a:t>
            </a:r>
            <a:r>
              <a:rPr lang="it-IT" sz="3200" b="1" dirty="0"/>
              <a:t>Infine, ci concentreremo sulle strategie operative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Perché il successo nei primi minuti dell’apertura non è frutto di fortuna, ma di preparazione. Approccio tecnico, gestione del rischio, ordine mentale: queste sono le vere armi del trader consapevole.</a:t>
            </a:r>
          </a:p>
          <a:p>
            <a:pPr>
              <a:buNone/>
            </a:pPr>
            <a:r>
              <a:rPr lang="it-IT" sz="4000" dirty="0"/>
              <a:t>📌 E c’è un elemento in più, che accompagnerà ogni slide:</a:t>
            </a:r>
            <a:br>
              <a:rPr lang="it-IT" sz="4000" dirty="0"/>
            </a:br>
            <a:r>
              <a:rPr lang="it-IT" sz="4000" b="1" dirty="0"/>
              <a:t>chiuderemo ogni sezione con una massima</a:t>
            </a:r>
            <a:r>
              <a:rPr lang="it-IT" sz="4000" dirty="0"/>
              <a:t>.</a:t>
            </a:r>
            <a:br>
              <a:rPr lang="it-IT" sz="4000" dirty="0"/>
            </a:br>
            <a:r>
              <a:rPr lang="it-IT" sz="4000" dirty="0"/>
              <a:t>Perché lo facciamo?</a:t>
            </a:r>
            <a:br>
              <a:rPr lang="it-IT" sz="4000" dirty="0"/>
            </a:br>
            <a:r>
              <a:rPr lang="it-IT" sz="4000" dirty="0"/>
              <a:t>Perché ogni massima è una </a:t>
            </a:r>
            <a:r>
              <a:rPr lang="it-IT" sz="4000" b="1" dirty="0"/>
              <a:t>concentrazione di esperienza</a:t>
            </a:r>
            <a:r>
              <a:rPr lang="it-IT" sz="4000" dirty="0"/>
              <a:t>, un </a:t>
            </a:r>
            <a:r>
              <a:rPr lang="it-IT" sz="4000" b="1" dirty="0"/>
              <a:t>principio guida</a:t>
            </a:r>
            <a:r>
              <a:rPr lang="it-IT" sz="4000" dirty="0"/>
              <a:t> da ricordare anche quando i grafici si muovono veloci.</a:t>
            </a:r>
            <a:br>
              <a:rPr lang="it-IT" sz="4000" dirty="0"/>
            </a:br>
            <a:r>
              <a:rPr lang="it-IT" sz="4000" dirty="0"/>
              <a:t>Una frase che, nel momento della decisione, può fare la differenza tra reattività emotiva e azione consapevole.</a:t>
            </a:r>
          </a:p>
          <a:p>
            <a:pPr>
              <a:buNone/>
            </a:pPr>
            <a:r>
              <a:rPr lang="it-IT" sz="3200" dirty="0"/>
              <a:t>👉 Ricordate questa frase:</a:t>
            </a:r>
          </a:p>
          <a:p>
            <a:pPr>
              <a:buNone/>
            </a:pPr>
            <a:r>
              <a:rPr lang="it-IT" sz="3200" dirty="0"/>
              <a:t>«Chi sa leggere l’apertura, ha già un vantaggio sul resto della giornata.»</a:t>
            </a:r>
          </a:p>
          <a:p>
            <a:r>
              <a:rPr lang="it-IT" sz="3200" dirty="0"/>
              <a:t>E alla fine della lezione, il vostro sguardo su quei minuti iniziali sarà completamente diverso: non più caos, ma </a:t>
            </a:r>
            <a:r>
              <a:rPr lang="it-IT" sz="3200" b="1" dirty="0"/>
              <a:t>possibilità calcolate</a:t>
            </a:r>
            <a:r>
              <a:rPr lang="it-IT" sz="3200" dirty="0"/>
              <a:t>.</a:t>
            </a:r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860215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9E6C6-8366-1371-4325-9581405C1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3409720-F4C7-0F79-2560-5CA25D868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90695CF-6CBC-52B4-0084-92ECCDD4F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it-IT" sz="3200" dirty="0"/>
              <a:t>"Benvenuti in un percorso pensato per trasformare l’apertura dei mercati… da momento caotico a opportunità controllata.</a:t>
            </a:r>
            <a:br>
              <a:rPr lang="it-IT" sz="3200" dirty="0"/>
            </a:br>
            <a:r>
              <a:rPr lang="it-IT" sz="3200" dirty="0"/>
              <a:t>In questa lezione non impareremo a 'prevedere il futuro', ma a </a:t>
            </a:r>
            <a:r>
              <a:rPr lang="it-IT" sz="3200" b="1" dirty="0"/>
              <a:t>leggere ciò che il mercato ci sta già dicendo</a:t>
            </a:r>
            <a:r>
              <a:rPr lang="it-IT" sz="3200" dirty="0"/>
              <a:t>, attraverso segnali chiari e strumenti concreti.</a:t>
            </a:r>
          </a:p>
          <a:p>
            <a:pPr>
              <a:buNone/>
            </a:pPr>
            <a:r>
              <a:rPr lang="it-IT" sz="3200" dirty="0"/>
              <a:t>🔍 </a:t>
            </a:r>
            <a:r>
              <a:rPr lang="it-IT" sz="3200" b="1" dirty="0"/>
              <a:t>Parleremo di volatilità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Non dobbiamo temerla: la volatilità è ciò che genera le occasioni. Impareremo come riconoscerla, misurarla, e soprattutto come usarla per agire nel momento giusto, con il giusto controllo.</a:t>
            </a:r>
          </a:p>
          <a:p>
            <a:pPr>
              <a:buNone/>
            </a:pPr>
            <a:r>
              <a:rPr lang="it-IT" sz="3200" dirty="0"/>
              <a:t>📈 </a:t>
            </a:r>
            <a:r>
              <a:rPr lang="it-IT" sz="3200" b="1" dirty="0"/>
              <a:t>Studieremo gli indici principali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Il DAX, l’S&amp;P 500, il Nasdaq: questi non sono semplici numeri in un grafico. Sono </a:t>
            </a:r>
            <a:r>
              <a:rPr lang="it-IT" sz="3200" b="1" dirty="0"/>
              <a:t>indicatori del battito cardiaco dei mercati globali</a:t>
            </a:r>
            <a:r>
              <a:rPr lang="it-IT" sz="3200" dirty="0"/>
              <a:t>. Comprenderli significa sapere dove si stanno muovendo i capitali e, di conseguenza, dove potrebbe muoversi il prezzo.</a:t>
            </a:r>
          </a:p>
          <a:p>
            <a:pPr>
              <a:buNone/>
            </a:pPr>
            <a:r>
              <a:rPr lang="it-IT" sz="3200" dirty="0"/>
              <a:t>🧠 </a:t>
            </a:r>
            <a:r>
              <a:rPr lang="it-IT" sz="3200" b="1" dirty="0"/>
              <a:t>Infine, ci concentreremo sulle strategie operative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Perché il successo nei primi minuti dell’apertura non è frutto di fortuna, ma di preparazione. Approccio tecnico, gestione del rischio, ordine mentale: queste sono le vere armi del trader consapevole.</a:t>
            </a:r>
          </a:p>
          <a:p>
            <a:pPr>
              <a:buNone/>
            </a:pPr>
            <a:r>
              <a:rPr lang="it-IT" sz="4000" dirty="0"/>
              <a:t>📌 E c’è un elemento in più, che accompagnerà ogni slide:</a:t>
            </a:r>
            <a:br>
              <a:rPr lang="it-IT" sz="4000" dirty="0"/>
            </a:br>
            <a:r>
              <a:rPr lang="it-IT" sz="4000" b="1" dirty="0"/>
              <a:t>chiuderemo ogni sezione con una massima</a:t>
            </a:r>
            <a:r>
              <a:rPr lang="it-IT" sz="4000" dirty="0"/>
              <a:t>.</a:t>
            </a:r>
            <a:br>
              <a:rPr lang="it-IT" sz="4000" dirty="0"/>
            </a:br>
            <a:r>
              <a:rPr lang="it-IT" sz="4000" dirty="0"/>
              <a:t>Perché lo facciamo?</a:t>
            </a:r>
            <a:br>
              <a:rPr lang="it-IT" sz="4000" dirty="0"/>
            </a:br>
            <a:r>
              <a:rPr lang="it-IT" sz="4000" dirty="0"/>
              <a:t>Perché ogni massima è una </a:t>
            </a:r>
            <a:r>
              <a:rPr lang="it-IT" sz="4000" b="1" dirty="0"/>
              <a:t>concentrazione di esperienza</a:t>
            </a:r>
            <a:r>
              <a:rPr lang="it-IT" sz="4000" dirty="0"/>
              <a:t>, un </a:t>
            </a:r>
            <a:r>
              <a:rPr lang="it-IT" sz="4000" b="1" dirty="0"/>
              <a:t>principio guida</a:t>
            </a:r>
            <a:r>
              <a:rPr lang="it-IT" sz="4000" dirty="0"/>
              <a:t> da ricordare anche quando i grafici si muovono veloci.</a:t>
            </a:r>
            <a:br>
              <a:rPr lang="it-IT" sz="4000" dirty="0"/>
            </a:br>
            <a:r>
              <a:rPr lang="it-IT" sz="4000" dirty="0"/>
              <a:t>Una frase che, nel momento della decisione, può fare la differenza tra reattività emotiva e azione consapevole.</a:t>
            </a:r>
          </a:p>
          <a:p>
            <a:pPr>
              <a:buNone/>
            </a:pPr>
            <a:r>
              <a:rPr lang="it-IT" sz="3200" dirty="0"/>
              <a:t>👉 Ricordate questa frase:</a:t>
            </a:r>
          </a:p>
          <a:p>
            <a:pPr>
              <a:buNone/>
            </a:pPr>
            <a:r>
              <a:rPr lang="it-IT" sz="3200" dirty="0"/>
              <a:t>«Chi sa leggere l’apertura, ha già un vantaggio sul resto della giornata.»</a:t>
            </a:r>
          </a:p>
          <a:p>
            <a:r>
              <a:rPr lang="it-IT" sz="3200" dirty="0"/>
              <a:t>E alla fine della lezione, il vostro sguardo su quei minuti iniziali sarà completamente diverso: non più caos, ma </a:t>
            </a:r>
            <a:r>
              <a:rPr lang="it-IT" sz="3200" b="1" dirty="0"/>
              <a:t>possibilità calcolate</a:t>
            </a:r>
            <a:r>
              <a:rPr lang="it-IT" sz="3200" dirty="0"/>
              <a:t>.</a:t>
            </a:r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578478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6E8C8-378B-5C87-84BB-EF434D90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30E5F8B-C4C2-95FC-3661-C138000A8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79EE793-9614-CB87-21D2-A28446557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it-IT" sz="3200" b="1" dirty="0"/>
              <a:t>Speech – Slide “Volatilità: il battito cardiaco del mercato”</a:t>
            </a:r>
          </a:p>
          <a:p>
            <a:pPr>
              <a:buNone/>
            </a:pPr>
            <a:r>
              <a:rPr lang="it-IT" sz="3200" dirty="0"/>
              <a:t>"La volatilità è il primo concetto chiave che dobbiamo comprendere.</a:t>
            </a:r>
            <a:br>
              <a:rPr lang="it-IT" sz="3200" dirty="0"/>
            </a:br>
            <a:r>
              <a:rPr lang="it-IT" sz="3200" dirty="0"/>
              <a:t>Nel linguaggio dei trader, è il vero battito cardiaco del mercato.</a:t>
            </a:r>
            <a:br>
              <a:rPr lang="it-IT" sz="3200" dirty="0"/>
            </a:br>
            <a:r>
              <a:rPr lang="it-IT" sz="3200" dirty="0"/>
              <a:t>Più è irregolare, più il mercato è vivo. E come ogni buon medico sa interpretare un ECG, ogni buon trader sa leggere i segnali di volatilità.</a:t>
            </a:r>
          </a:p>
          <a:p>
            <a:pPr>
              <a:buNone/>
            </a:pPr>
            <a:r>
              <a:rPr lang="it-IT" sz="3200" dirty="0"/>
              <a:t>⚡ </a:t>
            </a:r>
            <a:r>
              <a:rPr lang="it-IT" sz="3200" b="1" dirty="0"/>
              <a:t>Ma cos’è, esattamente?</a:t>
            </a:r>
            <a:br>
              <a:rPr lang="it-IT" sz="3200" dirty="0"/>
            </a:br>
            <a:r>
              <a:rPr lang="it-IT" sz="3200" dirty="0"/>
              <a:t>È la misura della </a:t>
            </a:r>
            <a:r>
              <a:rPr lang="it-IT" sz="3200" b="1" dirty="0"/>
              <a:t>velocità e dell’ampiezza</a:t>
            </a:r>
            <a:r>
              <a:rPr lang="it-IT" sz="3200" dirty="0"/>
              <a:t> con cui il prezzo si muove.</a:t>
            </a:r>
            <a:br>
              <a:rPr lang="it-IT" sz="3200" dirty="0"/>
            </a:br>
            <a:r>
              <a:rPr lang="it-IT" sz="3200" dirty="0"/>
              <a:t>Quando il prezzo corre veloce, con forti oscillazioni, diciamo che il mercato è volatile.</a:t>
            </a:r>
            <a:br>
              <a:rPr lang="it-IT" sz="3200" dirty="0"/>
            </a:br>
            <a:r>
              <a:rPr lang="it-IT" sz="3200" dirty="0"/>
              <a:t>Ed è proprio lì che si concentrano le opportunità.</a:t>
            </a:r>
            <a:br>
              <a:rPr lang="it-IT" sz="3200" dirty="0"/>
            </a:br>
            <a:r>
              <a:rPr lang="it-IT" sz="3200" dirty="0"/>
              <a:t>Se il mercato fosse statico, non ci sarebbe margine d’azione.</a:t>
            </a:r>
          </a:p>
          <a:p>
            <a:pPr>
              <a:buNone/>
            </a:pPr>
            <a:r>
              <a:rPr lang="it-IT" sz="3200" dirty="0"/>
              <a:t>📈 </a:t>
            </a:r>
            <a:r>
              <a:rPr lang="it-IT" sz="3200" b="1" dirty="0"/>
              <a:t>Perché è così importante per noi?</a:t>
            </a:r>
            <a:br>
              <a:rPr lang="it-IT" sz="3200" dirty="0"/>
            </a:br>
            <a:r>
              <a:rPr lang="it-IT" sz="3200" dirty="0"/>
              <a:t>Perché ogni strategia – breakout, gap </a:t>
            </a:r>
            <a:r>
              <a:rPr lang="it-IT" sz="3200" dirty="0" err="1"/>
              <a:t>fill</a:t>
            </a:r>
            <a:r>
              <a:rPr lang="it-IT" sz="3200" dirty="0"/>
              <a:t>, pre-apertura – ha senso </a:t>
            </a:r>
            <a:r>
              <a:rPr lang="it-IT" sz="3200" b="1" dirty="0"/>
              <a:t>solo</a:t>
            </a:r>
            <a:r>
              <a:rPr lang="it-IT" sz="3200" dirty="0"/>
              <a:t> se c’è volatilità.</a:t>
            </a:r>
            <a:br>
              <a:rPr lang="it-IT" sz="3200" dirty="0"/>
            </a:br>
            <a:r>
              <a:rPr lang="it-IT" sz="3200" dirty="0"/>
              <a:t>Senza movimento, non c’è spazio per il profitto.</a:t>
            </a:r>
          </a:p>
          <a:p>
            <a:pPr>
              <a:buNone/>
            </a:pPr>
            <a:r>
              <a:rPr lang="it-IT" sz="3200" dirty="0"/>
              <a:t>📊 </a:t>
            </a:r>
            <a:r>
              <a:rPr lang="it-IT" sz="3200" b="1" dirty="0"/>
              <a:t>Ecco un consiglio pratico:</a:t>
            </a:r>
            <a:br>
              <a:rPr lang="it-IT" sz="3200" dirty="0"/>
            </a:br>
            <a:r>
              <a:rPr lang="it-IT" sz="3200" dirty="0"/>
              <a:t>Volete sapere </a:t>
            </a:r>
            <a:r>
              <a:rPr lang="it-IT" sz="3200" b="1" dirty="0"/>
              <a:t>quanta volatilità c’è</a:t>
            </a:r>
            <a:r>
              <a:rPr lang="it-IT" sz="3200" dirty="0"/>
              <a:t> su uno strumento in un dato momento?</a:t>
            </a:r>
            <a:br>
              <a:rPr lang="it-IT" sz="3200" dirty="0"/>
            </a:br>
            <a:r>
              <a:rPr lang="it-IT" sz="3200" dirty="0"/>
              <a:t>Usate questo sito: </a:t>
            </a:r>
            <a:r>
              <a:rPr lang="it-IT" sz="3200" dirty="0">
                <a:hlinkClick r:id="rId3"/>
              </a:rPr>
              <a:t>mataf.net/forex/tools/volatility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Lì trovate la </a:t>
            </a:r>
            <a:r>
              <a:rPr lang="it-IT" sz="3200" b="1" dirty="0"/>
              <a:t>volatilità media giornaliera</a:t>
            </a:r>
            <a:r>
              <a:rPr lang="it-IT" sz="3200" dirty="0"/>
              <a:t> di tutte le principali coppie e indici.</a:t>
            </a:r>
            <a:br>
              <a:rPr lang="it-IT" sz="3200" dirty="0"/>
            </a:br>
            <a:r>
              <a:rPr lang="it-IT" sz="3200" dirty="0"/>
              <a:t>Vi aiuterà a capire se ha senso attendersi movimenti ampi, oppure no.</a:t>
            </a:r>
          </a:p>
          <a:p>
            <a:pPr>
              <a:buNone/>
            </a:pPr>
            <a:r>
              <a:rPr lang="it-IT" sz="3200" dirty="0"/>
              <a:t>🎯 Attenzione però: </a:t>
            </a:r>
            <a:r>
              <a:rPr lang="it-IT" sz="3200" b="1" dirty="0"/>
              <a:t>volatilità non è sinonimo di confusione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Un trader preparato non si fa spaventare dal movimento. Anzi, </a:t>
            </a:r>
            <a:r>
              <a:rPr lang="it-IT" sz="3200" b="1" dirty="0"/>
              <a:t>lo studia, lo anticipa, lo usa.</a:t>
            </a:r>
            <a:endParaRPr lang="it-IT" sz="3200" dirty="0"/>
          </a:p>
          <a:p>
            <a:pPr>
              <a:buNone/>
            </a:pPr>
            <a:r>
              <a:rPr lang="it-IT" sz="3200" dirty="0"/>
              <a:t>👉 E voglio lasciarvi con questa massima, che racchiude tutto il senso di questa slide:</a:t>
            </a:r>
          </a:p>
          <a:p>
            <a:r>
              <a:rPr lang="it-IT" sz="3200" dirty="0"/>
              <a:t>«Il trader inesperto teme la volatilità. Quello consapevole la osserva, la misura… e la sfrutta.»"</a:t>
            </a:r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309157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895F1-B32D-E51C-E30B-10B2CC8B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473DD82-667D-BAC4-5973-D6CAA729C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EC9167F-9BDD-E588-A79F-9C40880B2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it-IT" sz="3200" dirty="0"/>
              <a:t>"Ogni giorno, ci sono due momenti in cui il mercato prende vita: le 9:00 del mattino e le 15:30 del pomeriggio. Emiliano ci ricorda sempre con grande enfasi l’emozione che provava accanto ai trader esperti: lo sguardo fisso sul monitor, le dita pronte sul mouse... era come assistere al decollo di un aereo.</a:t>
            </a:r>
          </a:p>
          <a:p>
            <a:pPr>
              <a:buNone/>
            </a:pPr>
            <a:r>
              <a:rPr lang="it-IT" sz="3200" dirty="0"/>
              <a:t>Le aperture sono fasi magiche perché rappresentano il punto di massima concentrazione: tutti i trader del mondo reagiscono, quasi simultaneamente, alle ultime notizie e alle analisi della notte.</a:t>
            </a:r>
            <a:br>
              <a:rPr lang="it-IT" sz="3200" dirty="0"/>
            </a:br>
            <a:r>
              <a:rPr lang="it-IT" sz="3200" dirty="0"/>
              <a:t>Ed è proprio lì che esplode la </a:t>
            </a:r>
            <a:r>
              <a:rPr lang="it-IT" sz="3200" b="1" dirty="0"/>
              <a:t>volatilità</a:t>
            </a:r>
            <a:r>
              <a:rPr lang="it-IT" sz="3200" dirty="0"/>
              <a:t>, il motore del nostro trading. È la condizione che ci permette di cogliere movimenti rapidi, decisi, strategici.</a:t>
            </a:r>
          </a:p>
          <a:p>
            <a:pPr>
              <a:buNone/>
            </a:pPr>
            <a:r>
              <a:rPr lang="it-IT" sz="3200" dirty="0"/>
              <a:t>Indici come il DAX in Europa, o l’S&amp;P 500 e il Nasdaq in America, non sono solo numeri. Sono termometri del sentiment globale. Osservarli in questi minuti cruciali ci dà informazioni preziose sulla direzione del mercato.</a:t>
            </a:r>
          </a:p>
          <a:p>
            <a:pPr>
              <a:buNone/>
            </a:pPr>
            <a:r>
              <a:rPr lang="it-IT" sz="3200" dirty="0"/>
              <a:t>L’obiettivo di questa lezione è proprio questo: fornirvi strumenti concreti per affrontare questi momenti non con istinto o improvvisazione, ma con una strategia chiara, consapevole ed efficace."</a:t>
            </a:r>
          </a:p>
          <a:p>
            <a:r>
              <a:rPr lang="it-IT" sz="3200" i="1" dirty="0"/>
              <a:t>(Pausa – richiamo della massima in chiusura)</a:t>
            </a:r>
            <a:br>
              <a:rPr lang="it-IT" sz="3200" dirty="0"/>
            </a:br>
            <a:r>
              <a:rPr lang="it-IT" sz="3200" dirty="0"/>
              <a:t>"Ricordate: le aperture non sono solo l’inizio di una nuova giornata…</a:t>
            </a:r>
            <a:br>
              <a:rPr lang="it-IT" sz="3200" dirty="0"/>
            </a:br>
            <a:r>
              <a:rPr lang="it-IT" sz="3200" dirty="0"/>
              <a:t>sono il momento in cui il mercato ci rivela le sue vere intenzioni."</a:t>
            </a:r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158130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CE412-5D12-C571-09B9-58E8E27B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171953E-2673-5F00-CB81-4CC2772A7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1CDB0B1-16C9-D0AC-3BF7-AB3527C9F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it-IT" b="1" dirty="0" err="1"/>
              <a:t>peech</a:t>
            </a:r>
            <a:r>
              <a:rPr lang="it-IT" b="1" dirty="0"/>
              <a:t> – Slide “Aperture: Momento Chiave”</a:t>
            </a:r>
          </a:p>
          <a:p>
            <a:pPr>
              <a:buNone/>
            </a:pPr>
            <a:r>
              <a:rPr lang="it-IT" dirty="0"/>
              <a:t>"Abbiamo visto perché le aperture sono così volatili.</a:t>
            </a:r>
            <a:br>
              <a:rPr lang="it-IT" dirty="0"/>
            </a:br>
            <a:r>
              <a:rPr lang="it-IT" dirty="0"/>
              <a:t>Ora andiamo dritti al punto: </a:t>
            </a:r>
            <a:r>
              <a:rPr lang="it-IT" b="1" dirty="0"/>
              <a:t>quando</a:t>
            </a:r>
            <a:r>
              <a:rPr lang="it-IT" dirty="0"/>
              <a:t> avvengono questi momenti chiave e </a:t>
            </a:r>
            <a:r>
              <a:rPr lang="it-IT" b="1" dirty="0"/>
              <a:t>quali strumenti</a:t>
            </a:r>
            <a:r>
              <a:rPr lang="it-IT" dirty="0"/>
              <a:t> preferiamo utilizzare per sfruttarli.</a:t>
            </a:r>
          </a:p>
          <a:p>
            <a:pPr>
              <a:buNone/>
            </a:pPr>
            <a:r>
              <a:rPr lang="it-IT" dirty="0"/>
              <a:t>🕘 </a:t>
            </a:r>
            <a:r>
              <a:rPr lang="it-IT" b="1" dirty="0"/>
              <a:t>Alle 9:00 del mattino</a:t>
            </a:r>
            <a:r>
              <a:rPr lang="it-IT" dirty="0"/>
              <a:t>, ora italiana, si apre ufficialmente il mercato europeo.</a:t>
            </a:r>
            <a:br>
              <a:rPr lang="it-IT" dirty="0"/>
            </a:br>
            <a:r>
              <a:rPr lang="it-IT" dirty="0"/>
              <a:t>È qui che inizia davvero la giornata per chi fa trading.</a:t>
            </a:r>
            <a:br>
              <a:rPr lang="it-IT" dirty="0"/>
            </a:br>
            <a:r>
              <a:rPr lang="it-IT" dirty="0"/>
              <a:t>E l’indice che più di ogni altro incarna questa fase è il </a:t>
            </a:r>
            <a:r>
              <a:rPr lang="it-IT" b="1" dirty="0"/>
              <a:t>DAX</a:t>
            </a:r>
            <a:r>
              <a:rPr lang="it-IT" dirty="0"/>
              <a:t>.</a:t>
            </a:r>
          </a:p>
          <a:p>
            <a:pPr>
              <a:buNone/>
            </a:pPr>
            <a:r>
              <a:rPr lang="it-IT" dirty="0"/>
              <a:t>Perché il DAX?</a:t>
            </a:r>
            <a:br>
              <a:rPr lang="it-IT" dirty="0"/>
            </a:br>
            <a:r>
              <a:rPr lang="it-IT" dirty="0"/>
              <a:t>Perché è </a:t>
            </a:r>
            <a:r>
              <a:rPr lang="it-IT" b="1" dirty="0"/>
              <a:t>rapido, liquido e reattivo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È l’indice che meglio risponde alla strategia del breakout sui massimi o minimi notturni, e offre tantissime opportunità già nei primi minuti.</a:t>
            </a:r>
          </a:p>
          <a:p>
            <a:pPr>
              <a:buNone/>
            </a:pPr>
            <a:r>
              <a:rPr lang="it-IT" dirty="0"/>
              <a:t>🕞 Poi c’è il secondo momento cruciale: le </a:t>
            </a:r>
            <a:r>
              <a:rPr lang="it-IT" b="1" dirty="0"/>
              <a:t>15:30</a:t>
            </a:r>
            <a:r>
              <a:rPr lang="it-IT" dirty="0"/>
              <a:t>, con l’apertura di Wall Street.</a:t>
            </a:r>
            <a:br>
              <a:rPr lang="it-IT" dirty="0"/>
            </a:br>
            <a:r>
              <a:rPr lang="it-IT" dirty="0"/>
              <a:t>Qui entra in scena il mercato americano, il più grande e influente del mondo.</a:t>
            </a:r>
          </a:p>
          <a:p>
            <a:pPr>
              <a:buNone/>
            </a:pPr>
            <a:r>
              <a:rPr lang="it-IT" dirty="0"/>
              <a:t>E anche in questo caso, facciamo delle scelte precise:</a:t>
            </a:r>
            <a:br>
              <a:rPr lang="it-IT" dirty="0"/>
            </a:br>
            <a:r>
              <a:rPr lang="it-IT" dirty="0"/>
              <a:t>🔹 Preferiamo il </a:t>
            </a:r>
            <a:r>
              <a:rPr lang="it-IT" b="1" dirty="0"/>
              <a:t>Dow Jones</a:t>
            </a:r>
            <a:r>
              <a:rPr lang="it-IT" dirty="0"/>
              <a:t> per la sua struttura più lenta e prevedibile, perfetta per chi cerca movimenti chiari.</a:t>
            </a:r>
            <a:br>
              <a:rPr lang="it-IT" dirty="0"/>
            </a:br>
            <a:r>
              <a:rPr lang="it-IT" dirty="0"/>
              <a:t>🔹 E ci rivolgiamo al </a:t>
            </a:r>
            <a:r>
              <a:rPr lang="it-IT" b="1" dirty="0"/>
              <a:t>Nasdaq</a:t>
            </a:r>
            <a:r>
              <a:rPr lang="it-IT" dirty="0"/>
              <a:t> quando cerchiamo reattività e spike più forti, ideali per strategie più dinamiche.</a:t>
            </a:r>
          </a:p>
          <a:p>
            <a:pPr>
              <a:buNone/>
            </a:pPr>
            <a:r>
              <a:rPr lang="it-IT" dirty="0"/>
              <a:t>✋ E l’S&amp;P 500?</a:t>
            </a:r>
            <a:br>
              <a:rPr lang="it-IT" dirty="0"/>
            </a:br>
            <a:r>
              <a:rPr lang="it-IT" dirty="0"/>
              <a:t>Sì, è l’indice più tecnico e rappresentativo, ma </a:t>
            </a:r>
            <a:r>
              <a:rPr lang="it-IT" b="1" dirty="0"/>
              <a:t>proprio per questo a volte troppo 'compresso' e difficile da gestire per un trader operativo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In un contesto dove vogliamo cogliere i movimenti iniziali, è meglio puntare su strumenti più 'espressivi' nei primi minuti.</a:t>
            </a:r>
          </a:p>
          <a:p>
            <a:pPr>
              <a:buNone/>
            </a:pPr>
            <a:r>
              <a:rPr lang="it-IT" dirty="0"/>
              <a:t>🎯 In conclusione, questi due orari – 09:00 e 15:30 – non sono solo appuntamenti sul calendario.</a:t>
            </a:r>
            <a:br>
              <a:rPr lang="it-IT" dirty="0"/>
            </a:br>
            <a:r>
              <a:rPr lang="it-IT" dirty="0"/>
              <a:t>Sono </a:t>
            </a:r>
            <a:r>
              <a:rPr lang="it-IT" b="1" dirty="0"/>
              <a:t>fasi di accelerazione pura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Il trader che sa cosa guardare e come prepararsi, può agire </a:t>
            </a:r>
            <a:r>
              <a:rPr lang="it-IT" b="1" dirty="0"/>
              <a:t>prima che la direzione del mercato diventi evidente a tutti</a:t>
            </a:r>
            <a:r>
              <a:rPr lang="it-IT" dirty="0"/>
              <a:t>.</a:t>
            </a:r>
          </a:p>
          <a:p>
            <a:pPr>
              <a:buNone/>
            </a:pPr>
            <a:r>
              <a:rPr lang="it-IT" dirty="0"/>
              <a:t>👉 E quindi, ricordiamolo:</a:t>
            </a:r>
          </a:p>
          <a:p>
            <a:r>
              <a:rPr lang="it-IT" dirty="0"/>
              <a:t>«Chi controlla l’apertura, controlla la direzione della giornata.»"</a:t>
            </a:r>
          </a:p>
          <a:p>
            <a:pPr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03832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77141-201E-155A-7597-99651D388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A71D28C-FB91-B8DE-8213-CC2784D45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4C71B58-F567-C2E4-8AA1-18534E651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it-IT" b="1" dirty="0"/>
              <a:t>Speech parlato</a:t>
            </a:r>
          </a:p>
          <a:p>
            <a:pPr>
              <a:buNone/>
            </a:pPr>
            <a:r>
              <a:rPr lang="it-IT" dirty="0"/>
              <a:t>“Questa tabella ci mostra </a:t>
            </a:r>
            <a:r>
              <a:rPr lang="it-IT" b="1" dirty="0"/>
              <a:t>gli orari ufficiali di apertura e chiusura dei principali mercati mondiali</a:t>
            </a:r>
            <a:r>
              <a:rPr lang="it-IT" dirty="0"/>
              <a:t>, espressi in orario UTC.</a:t>
            </a:r>
            <a:br>
              <a:rPr lang="it-IT" dirty="0"/>
            </a:br>
            <a:r>
              <a:rPr lang="it-IT" dirty="0"/>
              <a:t>Perché è importante conoscerli? Perché nel trading il </a:t>
            </a:r>
            <a:r>
              <a:rPr lang="it-IT" b="1" dirty="0"/>
              <a:t>"quando" è spesso più importante del "cosa"</a:t>
            </a:r>
            <a:r>
              <a:rPr lang="it-IT" dirty="0"/>
              <a:t>.</a:t>
            </a:r>
          </a:p>
          <a:p>
            <a:pPr>
              <a:buNone/>
            </a:pPr>
            <a:r>
              <a:rPr lang="it-IT" dirty="0"/>
              <a:t>Durante ogni apertura si concentrano ordini accumulati, news macroeconomiche, reazioni incrociate.</a:t>
            </a:r>
            <a:br>
              <a:rPr lang="it-IT" dirty="0"/>
            </a:br>
            <a:r>
              <a:rPr lang="it-IT" dirty="0"/>
              <a:t>È qui che nasce la vera </a:t>
            </a:r>
            <a:r>
              <a:rPr lang="it-IT" b="1" dirty="0"/>
              <a:t>volatilità operativa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Basti pensare alla sovrapposizione tra Tokyo e l’apertura europea… o tra Londra e Wall Street nel pomeriggio.</a:t>
            </a:r>
          </a:p>
          <a:p>
            <a:pPr>
              <a:buNone/>
            </a:pPr>
            <a:r>
              <a:rPr lang="it-IT" dirty="0"/>
              <a:t>Notate le fasce orarie: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L’Asia si muove quando in Europa è notte.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L’Europa esplode tra le 07:00 e le 09:00 UTC.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E gli Stati Uniti si accendono dalle 13:30 UTC, con un picco di volumi.</a:t>
            </a:r>
          </a:p>
          <a:p>
            <a:r>
              <a:rPr lang="it-IT" dirty="0"/>
              <a:t>Capire </a:t>
            </a:r>
            <a:r>
              <a:rPr lang="it-IT" b="1" dirty="0"/>
              <a:t>chi apre, quando apre, e con quali effetti a catena</a:t>
            </a:r>
            <a:r>
              <a:rPr lang="it-IT" dirty="0"/>
              <a:t>… ti aiuta a prepararti.</a:t>
            </a:r>
            <a:br>
              <a:rPr lang="it-IT" dirty="0"/>
            </a:br>
            <a:r>
              <a:rPr lang="it-IT" dirty="0"/>
              <a:t>Perché il trader reattivo arriva dopo.</a:t>
            </a:r>
            <a:br>
              <a:rPr lang="it-IT" dirty="0"/>
            </a:br>
            <a:r>
              <a:rPr lang="it-IT" dirty="0"/>
              <a:t>Quello preparato… arriva giusto in tempo.”</a:t>
            </a:r>
          </a:p>
          <a:p>
            <a:pPr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42572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11857-9C9A-AD6D-B534-23527D952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D532031-1AC0-D140-A16D-F08308B7B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16A8E29-C1C6-4E12-BAD8-CB7E4EED8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it-IT" sz="3200" b="1" dirty="0"/>
              <a:t>Speech – Slide “Gli Indici: La Bussola del Trader”</a:t>
            </a:r>
          </a:p>
          <a:p>
            <a:pPr>
              <a:buNone/>
            </a:pPr>
            <a:r>
              <a:rPr lang="it-IT" sz="3200" dirty="0"/>
              <a:t>"Ora entriamo in una parte fondamentale del nostro percorso: la comprensione degli </a:t>
            </a:r>
            <a:r>
              <a:rPr lang="it-IT" sz="3200" b="1" dirty="0"/>
              <a:t>indici di mercato</a:t>
            </a:r>
            <a:r>
              <a:rPr lang="it-IT" sz="3200" dirty="0"/>
              <a:t>.</a:t>
            </a:r>
          </a:p>
          <a:p>
            <a:pPr>
              <a:buNone/>
            </a:pPr>
            <a:r>
              <a:rPr lang="it-IT" sz="3200" dirty="0"/>
              <a:t>📏 Gli indici sono i </a:t>
            </a:r>
            <a:r>
              <a:rPr lang="it-IT" sz="3200" b="1" dirty="0"/>
              <a:t>barometri del mercato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Misurano il comportamento medio di un gruppo di titoli: può trattarsi delle 30 aziende più importanti della Germania, come nel caso del DAX, o delle 500 maggiori società americane, come per l’S&amp;P 500.</a:t>
            </a:r>
            <a:br>
              <a:rPr lang="it-IT" sz="3200" dirty="0"/>
            </a:br>
            <a:r>
              <a:rPr lang="it-IT" sz="3200" dirty="0"/>
              <a:t>Ci dicono, in sintesi, </a:t>
            </a:r>
            <a:r>
              <a:rPr lang="it-IT" sz="3200" b="1" dirty="0"/>
              <a:t>come sta andando un’economia, un settore, o un intero mercato finanziario</a:t>
            </a:r>
            <a:r>
              <a:rPr lang="it-IT" sz="3200" dirty="0"/>
              <a:t>.</a:t>
            </a:r>
          </a:p>
          <a:p>
            <a:pPr>
              <a:buNone/>
            </a:pPr>
            <a:r>
              <a:rPr lang="it-IT" sz="3200" dirty="0"/>
              <a:t>📊 Ma non servono solo a 'guardare':</a:t>
            </a:r>
            <a:br>
              <a:rPr lang="it-IT" sz="3200" dirty="0"/>
            </a:br>
            <a:r>
              <a:rPr lang="it-IT" sz="3200" dirty="0"/>
              <a:t>gli indici sono </a:t>
            </a:r>
            <a:r>
              <a:rPr lang="it-IT" sz="3200" b="1" dirty="0"/>
              <a:t>benchmark</a:t>
            </a:r>
            <a:r>
              <a:rPr lang="it-IT" sz="3200" dirty="0"/>
              <a:t>, cioè punti di riferimento.</a:t>
            </a:r>
            <a:br>
              <a:rPr lang="it-IT" sz="3200" dirty="0"/>
            </a:br>
            <a:r>
              <a:rPr lang="it-IT" sz="3200" dirty="0"/>
              <a:t>Se un portafoglio rende di più di un indice, diciamo che ha “battuto il mercato”. Questo li rende strumenti centrali anche per gli investitori istituzionali.</a:t>
            </a:r>
          </a:p>
          <a:p>
            <a:pPr>
              <a:buNone/>
            </a:pPr>
            <a:r>
              <a:rPr lang="it-IT" sz="3200" dirty="0"/>
              <a:t>🎯 Per noi trader, però, gli indici sono soprattutto </a:t>
            </a:r>
            <a:r>
              <a:rPr lang="it-IT" sz="3200" b="1" dirty="0"/>
              <a:t>strumenti operativi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Perché sono liquidi, hanno buona volatilità e rispondono bene a molte strategie tecniche.</a:t>
            </a:r>
            <a:br>
              <a:rPr lang="it-IT" sz="3200" dirty="0"/>
            </a:br>
            <a:r>
              <a:rPr lang="it-IT" sz="3200" dirty="0"/>
              <a:t>Breakout, gap, trend… tutto quello che studieremo oggi si applica perfettamente sugli indici.</a:t>
            </a:r>
          </a:p>
          <a:p>
            <a:pPr>
              <a:buNone/>
            </a:pPr>
            <a:r>
              <a:rPr lang="it-IT" sz="3200" dirty="0"/>
              <a:t>🔁 E c’è di più:</a:t>
            </a:r>
            <a:br>
              <a:rPr lang="it-IT" sz="3200" dirty="0"/>
            </a:br>
            <a:r>
              <a:rPr lang="it-IT" sz="3200" dirty="0"/>
              <a:t>Gli indici sono </a:t>
            </a:r>
            <a:r>
              <a:rPr lang="it-IT" sz="3200" b="1" dirty="0"/>
              <a:t>il riflesso del sentiment globale</a:t>
            </a:r>
            <a:r>
              <a:rPr lang="it-IT" sz="3200" dirty="0"/>
              <a:t>.</a:t>
            </a:r>
            <a:br>
              <a:rPr lang="it-IT" sz="3200" dirty="0"/>
            </a:br>
            <a:r>
              <a:rPr lang="it-IT" sz="3200" dirty="0"/>
              <a:t>Quando il Nasdaq scende, spesso lo fa anche il DAX. Quando l’S&amp;P500 accelera, molte borse seguono a ruota.</a:t>
            </a:r>
            <a:br>
              <a:rPr lang="it-IT" sz="3200" dirty="0"/>
            </a:br>
            <a:r>
              <a:rPr lang="it-IT" sz="3200" dirty="0"/>
              <a:t>Imparare a leggere questi segnali ci permette </a:t>
            </a:r>
            <a:r>
              <a:rPr lang="it-IT" sz="3200" b="1" dirty="0"/>
              <a:t>non solo di capire cosa sta succedendo</a:t>
            </a:r>
            <a:r>
              <a:rPr lang="it-IT" sz="3200" dirty="0"/>
              <a:t>, ma anche di </a:t>
            </a:r>
            <a:r>
              <a:rPr lang="it-IT" sz="3200" b="1" dirty="0"/>
              <a:t>anticipare dove potrebbe andare il mercato</a:t>
            </a:r>
            <a:r>
              <a:rPr lang="it-IT" sz="3200" dirty="0"/>
              <a:t>.</a:t>
            </a:r>
          </a:p>
          <a:p>
            <a:pPr>
              <a:buNone/>
            </a:pPr>
            <a:r>
              <a:rPr lang="it-IT" sz="3200" dirty="0"/>
              <a:t>👉 E chiudo con una massima che dobbiamo sempre tenere a mente:</a:t>
            </a:r>
          </a:p>
          <a:p>
            <a:r>
              <a:rPr lang="it-IT" sz="3200" dirty="0"/>
              <a:t>«Un indice non è solo un numero: è la voce con cui parla il mercato.»"</a:t>
            </a:r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860250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70674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706832" y="5710230"/>
            <a:ext cx="436937" cy="400067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fld id="{86CB4B4D-7CA3-9044-876B-883B54F8677D}" type="slidenum">
              <a:rPr lang="it-IT" smtClean="0"/>
              <a:pPr/>
              <a:t>‹#›</a:t>
            </a:fld>
            <a:endParaRPr lang="it-IT"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o del título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56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2400" b="1"/>
            </a:lvl1pPr>
            <a:lvl2pPr marL="228600" indent="457200">
              <a:buClrTx/>
              <a:buSzTx/>
              <a:buFontTx/>
              <a:buNone/>
              <a:defRPr sz="2400" b="1"/>
            </a:lvl2pPr>
            <a:lvl3pPr marL="228600" indent="914400">
              <a:buClrTx/>
              <a:buSzTx/>
              <a:buFontTx/>
              <a:buNone/>
              <a:defRPr sz="2400" b="1"/>
            </a:lvl3pPr>
            <a:lvl4pPr marL="228600" indent="1371600">
              <a:buClrTx/>
              <a:buSzTx/>
              <a:buFontTx/>
              <a:buNone/>
              <a:defRPr sz="2400" b="1"/>
            </a:lvl4pPr>
            <a:lvl5pPr marL="228600" indent="1828800">
              <a:buClrTx/>
              <a:buSzTx/>
              <a:buFontTx/>
              <a:buNone/>
              <a:defRPr sz="2400" b="1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57" name="Google Shape;47;p11"/>
          <p:cNvSpPr txBox="1">
            <a:spLocks noGrp="1"/>
          </p:cNvSpPr>
          <p:nvPr>
            <p:ph type="body" sz="half" idx="21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</p:spPr>
        <p:txBody>
          <a:bodyPr/>
          <a:lstStyle/>
          <a:p>
            <a:pPr indent="-342900"/>
            <a:endParaRPr/>
          </a:p>
        </p:txBody>
      </p:sp>
      <p:sp>
        <p:nvSpPr>
          <p:cNvPr id="58" name="Google Shape;48;p11"/>
          <p:cNvSpPr txBox="1">
            <a:spLocks noGrp="1"/>
          </p:cNvSpPr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9" name="Google Shape;49;p11"/>
          <p:cNvSpPr txBox="1">
            <a:spLocks noGrp="1"/>
          </p:cNvSpPr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indent="-342900"/>
            <a:endParaRPr/>
          </a:p>
        </p:txBody>
      </p:sp>
      <p:sp>
        <p:nvSpPr>
          <p:cNvPr id="6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o del título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6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o del título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Texto del título</a:t>
            </a:r>
          </a:p>
        </p:txBody>
      </p:sp>
      <p:sp>
        <p:nvSpPr>
          <p:cNvPr id="76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 indent="-431800">
              <a:buSzPts val="3200"/>
              <a:defRPr sz="3200"/>
            </a:lvl1pPr>
            <a:lvl2pPr marL="972457" indent="-464457">
              <a:buSzPts val="3200"/>
              <a:defRPr sz="3200"/>
            </a:lvl2pPr>
            <a:lvl3pPr marL="1498600" indent="-508000">
              <a:buSzPts val="3200"/>
              <a:defRPr sz="3200"/>
            </a:lvl3pPr>
            <a:lvl4pPr marL="2042160" indent="-568960">
              <a:buSzPts val="3200"/>
              <a:defRPr sz="3200"/>
            </a:lvl4pPr>
            <a:lvl5pPr marL="2499360" indent="-568960">
              <a:buSzPts val="3200"/>
              <a:defRPr sz="32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7" name="Google Shape;61;p13"/>
          <p:cNvSpPr txBox="1"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600"/>
            </a:pPr>
            <a:endParaRPr/>
          </a:p>
        </p:txBody>
      </p:sp>
      <p:sp>
        <p:nvSpPr>
          <p:cNvPr id="7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o del título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Texto del título</a:t>
            </a:r>
          </a:p>
        </p:txBody>
      </p:sp>
      <p:sp>
        <p:nvSpPr>
          <p:cNvPr id="86" name="Google Shape;67;p14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87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8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o del título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96" name="Nivel de texto 1…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</p:spPr>
        <p:txBody>
          <a:bodyPr/>
          <a:lstStyle>
            <a:lvl1pPr indent="-342900"/>
            <a:lvl2pPr marL="971550" indent="-400050"/>
            <a:lvl3pPr marL="1508760" indent="-480060"/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97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o del título"/>
          <p:cNvSpPr txBox="1">
            <a:spLocks noGrp="1"/>
          </p:cNvSpPr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105" name="Nivel de texto 1…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>
            <a:lvl1pPr indent="-342900"/>
            <a:lvl2pPr marL="971550" indent="-400050"/>
            <a:lvl3pPr marL="1508760" indent="-480060"/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06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 l="95000" t="9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3" name="Nivel de texto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transition spd="med"/>
  <p:hf hdr="0" ftr="0" dt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406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7900" marR="0" indent="-4445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13839" marR="0" indent="-4978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8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4;p16">
            <a:extLst>
              <a:ext uri="{FF2B5EF4-FFF2-40B4-BE49-F238E27FC236}">
                <a16:creationId xmlns:a16="http://schemas.microsoft.com/office/drawing/2014/main" id="{1AD2C56F-C303-71EA-2CB2-2F23067325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1241" y="1004747"/>
            <a:ext cx="3329492" cy="8409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65;p16">
            <a:extLst>
              <a:ext uri="{FF2B5EF4-FFF2-40B4-BE49-F238E27FC236}">
                <a16:creationId xmlns:a16="http://schemas.microsoft.com/office/drawing/2014/main" id="{EDCC66C9-1943-A631-233F-2C6B4A01EFA7}"/>
              </a:ext>
            </a:extLst>
          </p:cNvPr>
          <p:cNvGrpSpPr/>
          <p:nvPr/>
        </p:nvGrpSpPr>
        <p:grpSpPr>
          <a:xfrm>
            <a:off x="2704884" y="2184053"/>
            <a:ext cx="6782227" cy="450253"/>
            <a:chOff x="1828800" y="2092988"/>
            <a:chExt cx="8219999" cy="399836"/>
          </a:xfrm>
        </p:grpSpPr>
        <p:cxnSp>
          <p:nvCxnSpPr>
            <p:cNvPr id="4" name="Google Shape;66;p16">
              <a:extLst>
                <a:ext uri="{FF2B5EF4-FFF2-40B4-BE49-F238E27FC236}">
                  <a16:creationId xmlns:a16="http://schemas.microsoft.com/office/drawing/2014/main" id="{A94A7A7E-AE73-ED62-60D3-8997805C7C7C}"/>
                </a:ext>
              </a:extLst>
            </p:cNvPr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" name="Google Shape;67;p16">
              <a:extLst>
                <a:ext uri="{FF2B5EF4-FFF2-40B4-BE49-F238E27FC236}">
                  <a16:creationId xmlns:a16="http://schemas.microsoft.com/office/drawing/2014/main" id="{597635E5-FFB3-9343-1770-F0579C57EA26}"/>
                </a:ext>
              </a:extLst>
            </p:cNvPr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" name="Google Shape;68;p16">
              <a:extLst>
                <a:ext uri="{FF2B5EF4-FFF2-40B4-BE49-F238E27FC236}">
                  <a16:creationId xmlns:a16="http://schemas.microsoft.com/office/drawing/2014/main" id="{1F4CF4D1-E75E-8CF1-8790-83B1572ED981}"/>
                </a:ext>
              </a:extLst>
            </p:cNvPr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" name="Google Shape;69;p16">
              <a:extLst>
                <a:ext uri="{FF2B5EF4-FFF2-40B4-BE49-F238E27FC236}">
                  <a16:creationId xmlns:a16="http://schemas.microsoft.com/office/drawing/2014/main" id="{25899188-6C44-6F45-E04D-A34B0828E036}"/>
                </a:ext>
              </a:extLst>
            </p:cNvPr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22C8EA7C-46B8-1555-2C1B-15A00CB37096}"/>
              </a:ext>
            </a:extLst>
          </p:cNvPr>
          <p:cNvGrpSpPr/>
          <p:nvPr/>
        </p:nvGrpSpPr>
        <p:grpSpPr>
          <a:xfrm>
            <a:off x="1185813" y="2977326"/>
            <a:ext cx="9845508" cy="953650"/>
            <a:chOff x="292100" y="3594100"/>
            <a:chExt cx="12126118" cy="3387785"/>
          </a:xfrm>
        </p:grpSpPr>
        <p:sp>
          <p:nvSpPr>
            <p:cNvPr id="9" name="Google Shape;70;p16">
              <a:extLst>
                <a:ext uri="{FF2B5EF4-FFF2-40B4-BE49-F238E27FC236}">
                  <a16:creationId xmlns:a16="http://schemas.microsoft.com/office/drawing/2014/main" id="{6B263458-BCF5-F548-13F1-478EC512E923}"/>
                </a:ext>
              </a:extLst>
            </p:cNvPr>
            <p:cNvSpPr txBox="1"/>
            <p:nvPr/>
          </p:nvSpPr>
          <p:spPr>
            <a:xfrm>
              <a:off x="302419" y="3597617"/>
              <a:ext cx="12115799" cy="3384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51462" rIns="0" bIns="51462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r>
                <a:rPr lang="it-IT" sz="3200" b="1" dirty="0">
                  <a:solidFill>
                    <a:schemeClr val="bg1"/>
                  </a:solidFill>
                </a:rPr>
                <a:t> </a:t>
              </a:r>
            </a:p>
            <a:p>
              <a:pPr algn="ctr">
                <a:buClr>
                  <a:schemeClr val="dk1"/>
                </a:buClr>
                <a:buSzPts val="1100"/>
              </a:pPr>
              <a:endParaRPr lang="it-IT" sz="3200" i="1" dirty="0">
                <a:solidFill>
                  <a:schemeClr val="bg1"/>
                </a:solidFill>
              </a:endParaRPr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16B5FE71-B61C-E734-6BCD-84D1F358BB05}"/>
                </a:ext>
              </a:extLst>
            </p:cNvPr>
            <p:cNvSpPr/>
            <p:nvPr/>
          </p:nvSpPr>
          <p:spPr>
            <a:xfrm>
              <a:off x="292100" y="3594100"/>
              <a:ext cx="12115800" cy="3350405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102" dirty="0"/>
            </a:p>
          </p:txBody>
        </p:sp>
      </p:grpSp>
      <p:sp>
        <p:nvSpPr>
          <p:cNvPr id="20" name="Segnaposto numero diapositiva 19">
            <a:extLst>
              <a:ext uri="{FF2B5EF4-FFF2-40B4-BE49-F238E27FC236}">
                <a16:creationId xmlns:a16="http://schemas.microsoft.com/office/drawing/2014/main" id="{6C409288-AA55-D917-D5BE-FFE60F1A991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1</a:t>
            </a:fld>
            <a:endParaRPr lang="it-IT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FF1EC8-4ABD-F219-F842-BCECD824FDF1}"/>
              </a:ext>
            </a:extLst>
          </p:cNvPr>
          <p:cNvSpPr txBox="1"/>
          <p:nvPr/>
        </p:nvSpPr>
        <p:spPr>
          <a:xfrm>
            <a:off x="1160679" y="3156502"/>
            <a:ext cx="962778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it-IT" sz="3200" dirty="0">
                <a:solidFill>
                  <a:schemeClr val="bg1"/>
                </a:solidFill>
              </a:rPr>
              <a:t>🟡 </a:t>
            </a:r>
            <a:r>
              <a:rPr lang="it-IT" sz="2400" dirty="0">
                <a:solidFill>
                  <a:schemeClr val="bg1"/>
                </a:solidFill>
              </a:rPr>
              <a:t>Come tradare il Gold (XAU/USD)</a:t>
            </a:r>
          </a:p>
        </p:txBody>
      </p:sp>
    </p:spTree>
    <p:extLst>
      <p:ext uri="{BB962C8B-B14F-4D97-AF65-F5344CB8AC3E}">
        <p14:creationId xmlns:p14="http://schemas.microsoft.com/office/powerpoint/2010/main" val="369041868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26F3D-CA6E-2701-2B24-7412586B60E2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1074655" y="194955"/>
            <a:ext cx="10279145" cy="6290686"/>
          </a:xfrm>
        </p:spPr>
        <p:txBody>
          <a:bodyPr>
            <a:normAutofit/>
          </a:bodyPr>
          <a:lstStyle/>
          <a:p>
            <a:pPr marL="50800" indent="0">
              <a:buNone/>
            </a:pPr>
            <a:endParaRPr lang="it-IT" sz="2400" dirty="0"/>
          </a:p>
          <a:p>
            <a:pPr marL="50800" indent="0">
              <a:buNone/>
            </a:pPr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Il Gold, o oro, è una commodity rifugio (safe haven asset) e rappresenta una forma storica di riserva di valore. </a:t>
            </a:r>
          </a:p>
          <a:p>
            <a:pPr marL="50800" indent="0">
              <a:buNone/>
            </a:pPr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Viene quotato in dollari americani (USD), per cui la sua dinamica è fortemente legata anche al comportamento della valuta statunitense.</a:t>
            </a:r>
          </a:p>
          <a:p>
            <a:pPr marL="50800" indent="0">
              <a:buNone/>
            </a:pPr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Simbolo: XAU/USD</a:t>
            </a:r>
          </a:p>
          <a:p>
            <a:pPr marL="50800" indent="0">
              <a:buNone/>
            </a:pPr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Volatilità: medio-alta</a:t>
            </a:r>
          </a:p>
          <a:p>
            <a:pPr marL="50800" indent="0">
              <a:buNone/>
            </a:pPr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Orari di maggiore attività: sessioni Londra e New York</a:t>
            </a:r>
          </a:p>
          <a:p>
            <a:pPr marL="50800" indent="0">
              <a:buNone/>
            </a:pPr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Principali attori: banche centrali, hedge fund (Un fondo speculativo (in inglese hedge fund), detto anche fondo hedge, è un fondo comune di investimento privato, amministrato da una società di gestione professionale) e investitori istituzionali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13B3F-DC54-A7C3-7AE3-6D6F8F0D151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2</a:t>
            </a:fld>
            <a:endParaRPr lang="it-IT" dirty="0"/>
          </a:p>
        </p:txBody>
      </p:sp>
      <p:sp>
        <p:nvSpPr>
          <p:cNvPr id="8" name="Google Shape;102;p2">
            <a:extLst>
              <a:ext uri="{FF2B5EF4-FFF2-40B4-BE49-F238E27FC236}">
                <a16:creationId xmlns:a16="http://schemas.microsoft.com/office/drawing/2014/main" id="{1B43FD26-1BBD-3C95-C3F4-7C66E132A145}"/>
              </a:ext>
            </a:extLst>
          </p:cNvPr>
          <p:cNvSpPr/>
          <p:nvPr/>
        </p:nvSpPr>
        <p:spPr>
          <a:xfrm>
            <a:off x="705838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865516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1095D-5592-09DE-181F-7A9ABB0B0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04;p2">
            <a:extLst>
              <a:ext uri="{FF2B5EF4-FFF2-40B4-BE49-F238E27FC236}">
                <a16:creationId xmlns:a16="http://schemas.microsoft.com/office/drawing/2014/main" id="{E545533B-EB77-EF1F-5B35-3A2D780B98DC}"/>
              </a:ext>
            </a:extLst>
          </p:cNvPr>
          <p:cNvSpPr txBox="1"/>
          <p:nvPr/>
        </p:nvSpPr>
        <p:spPr>
          <a:xfrm>
            <a:off x="933254" y="697584"/>
            <a:ext cx="10388783" cy="5561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algn="ctr">
              <a:buClr>
                <a:srgbClr val="FF9300"/>
              </a:buClr>
            </a:pPr>
            <a:endParaRPr lang="it-IT" sz="2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98DAA089-22B1-4805-9787-2B7ACFDDC077}"/>
              </a:ext>
            </a:extLst>
          </p:cNvPr>
          <p:cNvSpPr/>
          <p:nvPr/>
        </p:nvSpPr>
        <p:spPr>
          <a:xfrm>
            <a:off x="664521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5546C36-B544-95E8-73CC-2CAAFBFA56F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3</a:t>
            </a:fld>
            <a:endParaRPr lang="it-IT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C3E83-0E03-75BE-9BC3-B89F2573A9E8}"/>
              </a:ext>
            </a:extLst>
          </p:cNvPr>
          <p:cNvSpPr txBox="1"/>
          <p:nvPr/>
        </p:nvSpPr>
        <p:spPr>
          <a:xfrm>
            <a:off x="1357460" y="697583"/>
            <a:ext cx="10096108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400" b="1" dirty="0">
                <a:solidFill>
                  <a:schemeClr val="accent2">
                    <a:lumMod val="75000"/>
                  </a:schemeClr>
                </a:solidFill>
              </a:rPr>
              <a:t>Caratteristiche principali: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Non genera interessi → è sensibile ai tassi reali.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Scarsità fisica → non può essere stampato come una valuta.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Quotato in USD → inversamente correlato con il Dollaro.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Alta liquidità → ottimo per trading intra e multiday.</a:t>
            </a:r>
          </a:p>
        </p:txBody>
      </p:sp>
    </p:spTree>
    <p:extLst>
      <p:ext uri="{BB962C8B-B14F-4D97-AF65-F5344CB8AC3E}">
        <p14:creationId xmlns:p14="http://schemas.microsoft.com/office/powerpoint/2010/main" val="155435091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914D4-73F1-85DC-D293-ED1812E5B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04;p2">
            <a:extLst>
              <a:ext uri="{FF2B5EF4-FFF2-40B4-BE49-F238E27FC236}">
                <a16:creationId xmlns:a16="http://schemas.microsoft.com/office/drawing/2014/main" id="{F42E4C0E-1B6D-C786-708D-B2DA5136CC5B}"/>
              </a:ext>
            </a:extLst>
          </p:cNvPr>
          <p:cNvSpPr txBox="1"/>
          <p:nvPr/>
        </p:nvSpPr>
        <p:spPr>
          <a:xfrm>
            <a:off x="933254" y="697584"/>
            <a:ext cx="10388783" cy="5561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algn="ctr">
              <a:buClr>
                <a:srgbClr val="FF9300"/>
              </a:buClr>
            </a:pPr>
            <a:endParaRPr lang="it-IT" sz="2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688114C4-262F-F5E6-2A32-3D1F7DDD1EDA}"/>
              </a:ext>
            </a:extLst>
          </p:cNvPr>
          <p:cNvSpPr/>
          <p:nvPr/>
        </p:nvSpPr>
        <p:spPr>
          <a:xfrm>
            <a:off x="664521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6A94F79-E8C5-74B5-E425-F6CB96053E7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4</a:t>
            </a:fld>
            <a:endParaRPr lang="it-IT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40066-F6CC-2CF1-7EBB-741E2E8F579C}"/>
              </a:ext>
            </a:extLst>
          </p:cNvPr>
          <p:cNvSpPr txBox="1"/>
          <p:nvPr/>
        </p:nvSpPr>
        <p:spPr>
          <a:xfrm>
            <a:off x="1357460" y="697583"/>
            <a:ext cx="10096108" cy="5632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</a:rPr>
              <a:t>🌍 </a:t>
            </a:r>
            <a:r>
              <a:rPr lang="it-IT" sz="2400" b="1" dirty="0">
                <a:solidFill>
                  <a:schemeClr val="accent2">
                    <a:lumMod val="75000"/>
                  </a:schemeClr>
                </a:solidFill>
              </a:rPr>
              <a:t>Fattori macroeconomici e socio-politici che influenzano l’oro</a:t>
            </a:r>
          </a:p>
          <a:p>
            <a:endParaRPr lang="it-IT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it-IT" sz="2400" b="1" dirty="0">
                <a:solidFill>
                  <a:schemeClr val="accent2">
                    <a:lumMod val="75000"/>
                  </a:schemeClr>
                </a:solidFill>
              </a:rPr>
              <a:t>🏦 Tassi di interesse reali (USA)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Definizione: tasso nominale meno inflazione attesa.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Impatto sull’oro: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Quando i tassi reali scendono o sono negativi, l’oro diventa più attraente → LONG.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Quando i tassi reali salgono, l’oro perde appeal (non dà rendimento) → SHORT.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Fonte dati: rendimenti Treasury a 10 anni e CPI (Consumer Price Index).</a:t>
            </a:r>
          </a:p>
        </p:txBody>
      </p:sp>
    </p:spTree>
    <p:extLst>
      <p:ext uri="{BB962C8B-B14F-4D97-AF65-F5344CB8AC3E}">
        <p14:creationId xmlns:p14="http://schemas.microsoft.com/office/powerpoint/2010/main" val="166342199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45042-EF44-8EA6-717D-79A92869F96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5</a:t>
            </a:fld>
            <a:endParaRPr lang="it-IT" dirty="0"/>
          </a:p>
        </p:txBody>
      </p:sp>
      <p:sp>
        <p:nvSpPr>
          <p:cNvPr id="8" name="Google Shape;102;p2">
            <a:extLst>
              <a:ext uri="{FF2B5EF4-FFF2-40B4-BE49-F238E27FC236}">
                <a16:creationId xmlns:a16="http://schemas.microsoft.com/office/drawing/2014/main" id="{A0F407AB-F70E-F2A8-FC07-197B47D37EC3}"/>
              </a:ext>
            </a:extLst>
          </p:cNvPr>
          <p:cNvSpPr/>
          <p:nvPr/>
        </p:nvSpPr>
        <p:spPr>
          <a:xfrm>
            <a:off x="664521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A67F3-90A2-580C-02C8-17D49EE5CA12}"/>
              </a:ext>
            </a:extLst>
          </p:cNvPr>
          <p:cNvSpPr txBox="1"/>
          <p:nvPr/>
        </p:nvSpPr>
        <p:spPr>
          <a:xfrm>
            <a:off x="989815" y="744719"/>
            <a:ext cx="10363986" cy="52629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400" b="1" dirty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</a:rPr>
              <a:t>💵 </a:t>
            </a:r>
            <a:r>
              <a:rPr lang="it-IT" sz="2400" b="1" dirty="0">
                <a:solidFill>
                  <a:schemeClr val="accent2">
                    <a:lumMod val="75000"/>
                  </a:schemeClr>
                </a:solidFill>
              </a:rPr>
              <a:t>Forza del Dollaro USA (DXY)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L’oro è denominato in dollari → quando il DXY si rafforza, l’oro tende a scendere, e viceversa.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Strategia:DXY forte → Gold short.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DXY debole → Gold long.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DXY= L'US dollar index (USDX o DXY) è un indice (o misura) del valore del dollaro statunitense in relazione a un paniere di valute straniere. L'indice USDX viene calcolato come media geometrica ponderata del valore del dollaro rispetto a: euro (EUR), con peso di 57,6%; yen (JPY), con peso di 13,6%; </a:t>
            </a:r>
          </a:p>
        </p:txBody>
      </p:sp>
    </p:spTree>
    <p:extLst>
      <p:ext uri="{BB962C8B-B14F-4D97-AF65-F5344CB8AC3E}">
        <p14:creationId xmlns:p14="http://schemas.microsoft.com/office/powerpoint/2010/main" val="285865707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90B2E-78C0-B023-5573-1C2C8F10B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04;p2">
            <a:extLst>
              <a:ext uri="{FF2B5EF4-FFF2-40B4-BE49-F238E27FC236}">
                <a16:creationId xmlns:a16="http://schemas.microsoft.com/office/drawing/2014/main" id="{4F162972-853C-FA78-9467-01AD3E1A3408}"/>
              </a:ext>
            </a:extLst>
          </p:cNvPr>
          <p:cNvSpPr txBox="1"/>
          <p:nvPr/>
        </p:nvSpPr>
        <p:spPr>
          <a:xfrm>
            <a:off x="869962" y="1270013"/>
            <a:ext cx="10452075" cy="43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algn="just">
              <a:buClr>
                <a:srgbClr val="FF9300"/>
              </a:buClr>
            </a:pPr>
            <a:endParaRPr lang="it-IT" sz="22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022C1388-1EEC-C900-5D68-7CF0BB246253}"/>
              </a:ext>
            </a:extLst>
          </p:cNvPr>
          <p:cNvSpPr/>
          <p:nvPr/>
        </p:nvSpPr>
        <p:spPr>
          <a:xfrm>
            <a:off x="664521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60A0A2A-917E-EBB2-169F-96D31C33346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6</a:t>
            </a:fld>
            <a:endParaRPr lang="it-I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7D4991-2EC6-BC09-82C1-CC341FD2219D}"/>
              </a:ext>
            </a:extLst>
          </p:cNvPr>
          <p:cNvSpPr txBox="1"/>
          <p:nvPr/>
        </p:nvSpPr>
        <p:spPr>
          <a:xfrm>
            <a:off x="1253765" y="641024"/>
            <a:ext cx="10068272" cy="5632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000" b="1" dirty="0">
                <a:solidFill>
                  <a:schemeClr val="accent2">
                    <a:lumMod val="75000"/>
                  </a:schemeClr>
                </a:solidFill>
              </a:rPr>
              <a:t>2.1 DXY – Dollar Index</a:t>
            </a:r>
          </a:p>
          <a:p>
            <a:endParaRPr lang="it-IT" sz="2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Oro e USD sono inversamente correlati.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DXY forte → pressione ribassista su Gold.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DXY debole → supporto per Gold. 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Monitora il grafico DXY (USD contro un basket di valute major)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b="1" dirty="0">
                <a:solidFill>
                  <a:schemeClr val="accent1">
                    <a:lumMod val="75000"/>
                  </a:schemeClr>
                </a:solidFill>
              </a:rPr>
              <a:t>📉 </a:t>
            </a:r>
            <a:r>
              <a:rPr lang="it-IT" sz="2000" b="1" dirty="0">
                <a:solidFill>
                  <a:schemeClr val="accent2">
                    <a:lumMod val="75000"/>
                  </a:schemeClr>
                </a:solidFill>
              </a:rPr>
              <a:t>Inflazione e aspettative di inflazione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L’oro è visto come protezione dall’inflazione.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Se l’inflazione sale e i tassi non vengono alzati in modo aggressivo → LONG oro.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Se l’inflazione è contenuta e le banche centrali sono hawkish → SHORT oro.</a:t>
            </a:r>
          </a:p>
        </p:txBody>
      </p:sp>
    </p:spTree>
    <p:extLst>
      <p:ext uri="{BB962C8B-B14F-4D97-AF65-F5344CB8AC3E}">
        <p14:creationId xmlns:p14="http://schemas.microsoft.com/office/powerpoint/2010/main" val="38681760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1CFA-9043-1A05-DA9B-DB55AA55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04;p2">
            <a:extLst>
              <a:ext uri="{FF2B5EF4-FFF2-40B4-BE49-F238E27FC236}">
                <a16:creationId xmlns:a16="http://schemas.microsoft.com/office/drawing/2014/main" id="{1CDC970D-A4E4-BF26-3638-3D4F6C956C31}"/>
              </a:ext>
            </a:extLst>
          </p:cNvPr>
          <p:cNvSpPr txBox="1"/>
          <p:nvPr/>
        </p:nvSpPr>
        <p:spPr>
          <a:xfrm>
            <a:off x="869962" y="1270013"/>
            <a:ext cx="10452075" cy="43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algn="just">
              <a:buClr>
                <a:srgbClr val="FF9300"/>
              </a:buClr>
            </a:pPr>
            <a:endParaRPr lang="it-IT" sz="22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30591F07-8A34-FCFB-0799-156695934856}"/>
              </a:ext>
            </a:extLst>
          </p:cNvPr>
          <p:cNvSpPr/>
          <p:nvPr/>
        </p:nvSpPr>
        <p:spPr>
          <a:xfrm>
            <a:off x="705838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014F446-8635-64B1-E549-C798ECBE1DD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7</a:t>
            </a:fld>
            <a:endParaRPr lang="it-I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D9B0A-CEFF-567C-D60D-ED6070002829}"/>
              </a:ext>
            </a:extLst>
          </p:cNvPr>
          <p:cNvSpPr txBox="1"/>
          <p:nvPr/>
        </p:nvSpPr>
        <p:spPr>
          <a:xfrm>
            <a:off x="992510" y="1212275"/>
            <a:ext cx="10616200" cy="40934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400" b="1" dirty="0">
                <a:solidFill>
                  <a:schemeClr val="accent2">
                    <a:lumMod val="75000"/>
                  </a:schemeClr>
                </a:solidFill>
              </a:rPr>
              <a:t>Riassunto :</a:t>
            </a:r>
          </a:p>
          <a:p>
            <a:endParaRPr lang="it-IT" sz="2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Oro è un hedge classico contro inflazione persistente.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Inflazione alta + Fed cauta → oro sale.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Inflazione bassa o calante → oro può scendere. 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Dati chiave: CPI, PCE, inflazione core, aspettative di inflazione su 5y5y forward</a:t>
            </a:r>
          </a:p>
          <a:p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271148886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4BFC0-F73E-1BE3-0BB3-E4952A758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04;p2">
            <a:extLst>
              <a:ext uri="{FF2B5EF4-FFF2-40B4-BE49-F238E27FC236}">
                <a16:creationId xmlns:a16="http://schemas.microsoft.com/office/drawing/2014/main" id="{915369DE-8587-0D7D-E3EE-8D879A1C3C46}"/>
              </a:ext>
            </a:extLst>
          </p:cNvPr>
          <p:cNvSpPr txBox="1"/>
          <p:nvPr/>
        </p:nvSpPr>
        <p:spPr>
          <a:xfrm>
            <a:off x="1008668" y="443061"/>
            <a:ext cx="10313369" cy="1138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algn="just">
              <a:buClr>
                <a:srgbClr val="FF9300"/>
              </a:buClr>
            </a:pPr>
            <a:r>
              <a:rPr lang="it-IT" sz="2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</a:p>
          <a:p>
            <a:pPr algn="just">
              <a:buClr>
                <a:srgbClr val="FF9300"/>
              </a:buClr>
            </a:pPr>
            <a:endParaRPr lang="it-IT" sz="22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Clr>
                <a:srgbClr val="FF9300"/>
              </a:buClr>
            </a:pPr>
            <a:endParaRPr lang="it-IT" sz="22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74A22087-61D7-42ED-A3F5-9BD625FDDE07}"/>
              </a:ext>
            </a:extLst>
          </p:cNvPr>
          <p:cNvSpPr/>
          <p:nvPr/>
        </p:nvSpPr>
        <p:spPr>
          <a:xfrm>
            <a:off x="664521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C61E055-1110-D580-F7B7-ED3F398F457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8</a:t>
            </a:fld>
            <a:endParaRPr lang="it-IT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E8E6E-F654-F4F8-77FB-A3D468A30AAB}"/>
              </a:ext>
            </a:extLst>
          </p:cNvPr>
          <p:cNvSpPr txBox="1"/>
          <p:nvPr/>
        </p:nvSpPr>
        <p:spPr>
          <a:xfrm>
            <a:off x="1008669" y="292231"/>
            <a:ext cx="10698164" cy="61863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1800" b="1" dirty="0">
                <a:solidFill>
                  <a:schemeClr val="accent2">
                    <a:lumMod val="75000"/>
                  </a:schemeClr>
                </a:solidFill>
              </a:rPr>
              <a:t>3. 🌍 Tensioni geopolitiche e crisi internazionali</a:t>
            </a:r>
          </a:p>
          <a:p>
            <a:endParaRPr lang="it-IT" sz="1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1800" dirty="0">
                <a:solidFill>
                  <a:schemeClr val="accent1">
                    <a:lumMod val="75000"/>
                  </a:schemeClr>
                </a:solidFill>
              </a:rPr>
              <a:t>Guerre, atti terroristici, tensioni USA-Cina, conflitti in Medio Oriente, instabilità finanziarie → aumentano la domanda rifugio.</a:t>
            </a:r>
          </a:p>
          <a:p>
            <a:endParaRPr lang="it-IT" sz="1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1800" dirty="0">
                <a:solidFill>
                  <a:schemeClr val="accent1">
                    <a:lumMod val="75000"/>
                  </a:schemeClr>
                </a:solidFill>
              </a:rPr>
              <a:t>In questi casi il Gold sale rapidamente → LONG.</a:t>
            </a:r>
          </a:p>
          <a:p>
            <a:endParaRPr lang="it-IT" sz="1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1800" b="1" dirty="0">
                <a:solidFill>
                  <a:schemeClr val="accent2">
                    <a:lumMod val="75000"/>
                  </a:schemeClr>
                </a:solidFill>
              </a:rPr>
              <a:t>Esempi recenti:</a:t>
            </a:r>
          </a:p>
          <a:p>
            <a:endParaRPr lang="it-IT" sz="1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1800" dirty="0">
                <a:solidFill>
                  <a:schemeClr val="accent1">
                    <a:lumMod val="75000"/>
                  </a:schemeClr>
                </a:solidFill>
              </a:rPr>
              <a:t>Invasione Ucraina 2022 → XAU/USD +10%</a:t>
            </a:r>
          </a:p>
          <a:p>
            <a:endParaRPr lang="it-IT" sz="1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1800" dirty="0">
                <a:solidFill>
                  <a:schemeClr val="accent1">
                    <a:lumMod val="75000"/>
                  </a:schemeClr>
                </a:solidFill>
              </a:rPr>
              <a:t>Crisi banche SVB/CS 2023 → Gold spike</a:t>
            </a:r>
          </a:p>
          <a:p>
            <a:endParaRPr lang="it-IT" sz="1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1800" dirty="0">
                <a:solidFill>
                  <a:schemeClr val="accent1">
                    <a:lumMod val="75000"/>
                  </a:schemeClr>
                </a:solidFill>
              </a:rPr>
              <a:t>Attacchi in Medio Oriente → oro vola per effetto rifugio</a:t>
            </a:r>
          </a:p>
          <a:p>
            <a:endParaRPr lang="it-IT" sz="1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1800" b="1" dirty="0">
                <a:solidFill>
                  <a:schemeClr val="accent2">
                    <a:lumMod val="75000"/>
                  </a:schemeClr>
                </a:solidFill>
              </a:rPr>
              <a:t>Cicli economici globali</a:t>
            </a:r>
          </a:p>
          <a:p>
            <a:endParaRPr lang="it-IT" sz="1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it-IT" sz="1800" dirty="0">
                <a:solidFill>
                  <a:schemeClr val="accent1">
                    <a:lumMod val="75000"/>
                  </a:schemeClr>
                </a:solidFill>
              </a:rPr>
              <a:t>In fasi di contrazione o recessione attesa → aumento domanda rifugio.</a:t>
            </a:r>
          </a:p>
          <a:p>
            <a:endParaRPr lang="it-IT" sz="1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1800" dirty="0">
                <a:solidFill>
                  <a:schemeClr val="accent1">
                    <a:lumMod val="75000"/>
                  </a:schemeClr>
                </a:solidFill>
              </a:rPr>
              <a:t>In espansione economica, capitali si muovono verso azioni e asset più rischiosi.</a:t>
            </a:r>
          </a:p>
          <a:p>
            <a:endParaRPr lang="it-IT" sz="1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1800" dirty="0">
                <a:solidFill>
                  <a:schemeClr val="accent1">
                    <a:lumMod val="75000"/>
                  </a:schemeClr>
                </a:solidFill>
              </a:rPr>
              <a:t>➡️ Monitora: GDP ( prodotto interno lordo ), ISM ( indice manufatturiero),earnings USA (trimestrali)</a:t>
            </a:r>
          </a:p>
        </p:txBody>
      </p:sp>
    </p:spTree>
    <p:extLst>
      <p:ext uri="{BB962C8B-B14F-4D97-AF65-F5344CB8AC3E}">
        <p14:creationId xmlns:p14="http://schemas.microsoft.com/office/powerpoint/2010/main" val="333128052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41A83-E101-A8C6-2EAC-C6BE1E32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CF996B2A-D778-F409-7E91-FF1C56A1790E}"/>
              </a:ext>
            </a:extLst>
          </p:cNvPr>
          <p:cNvSpPr/>
          <p:nvPr/>
        </p:nvSpPr>
        <p:spPr>
          <a:xfrm>
            <a:off x="664521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0FF24E8-874F-6105-6CA1-12B01DF98B8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9</a:t>
            </a:fld>
            <a:endParaRPr lang="it-IT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2ACDC-A02F-FE41-9262-88178AD8F4A2}"/>
              </a:ext>
            </a:extLst>
          </p:cNvPr>
          <p:cNvSpPr txBox="1"/>
          <p:nvPr/>
        </p:nvSpPr>
        <p:spPr>
          <a:xfrm>
            <a:off x="1159497" y="834189"/>
            <a:ext cx="10547336" cy="5632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000" b="1" dirty="0">
                <a:solidFill>
                  <a:schemeClr val="accent2">
                    <a:lumMod val="75000"/>
                  </a:schemeClr>
                </a:solidFill>
              </a:rPr>
              <a:t>4. ⚔️ Strategie operative: Long e Short con contesto macro</a:t>
            </a:r>
          </a:p>
          <a:p>
            <a:endParaRPr lang="it-IT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🟢 SCENARIO LONG (ACQUISTO ORO)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2">
                    <a:lumMod val="75000"/>
                  </a:schemeClr>
                </a:solidFill>
              </a:rPr>
              <a:t>Contesto ideale: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Fed dovish (Il termine “dovish” (in italiano accomodante, pacifico) indica una tendenza delle politiche macroeconomiche a mantenere bassi i tassi di interesse con l'obiettivo di accelerare la crescita e lo sviluppo economico - -- -  o in pausa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Tassi reali stabili o in calo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Inflazione sopra target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DXY debole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Instabilità geopolitica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61876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2DC9F-A835-1C77-4F0B-9F22E6F55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04;p2">
            <a:extLst>
              <a:ext uri="{FF2B5EF4-FFF2-40B4-BE49-F238E27FC236}">
                <a16:creationId xmlns:a16="http://schemas.microsoft.com/office/drawing/2014/main" id="{607F8649-D9DF-18DE-5DBB-B226199A3DE6}"/>
              </a:ext>
            </a:extLst>
          </p:cNvPr>
          <p:cNvSpPr txBox="1"/>
          <p:nvPr/>
        </p:nvSpPr>
        <p:spPr>
          <a:xfrm>
            <a:off x="869962" y="1270013"/>
            <a:ext cx="10452075" cy="461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algn="just">
              <a:buClr>
                <a:srgbClr val="FF9300"/>
              </a:buClr>
            </a:pPr>
            <a:endParaRPr lang="it-IT" sz="2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E6CD7134-2769-51F2-32A9-74BB523FECF9}"/>
              </a:ext>
            </a:extLst>
          </p:cNvPr>
          <p:cNvSpPr/>
          <p:nvPr/>
        </p:nvSpPr>
        <p:spPr>
          <a:xfrm>
            <a:off x="664521" y="0"/>
            <a:ext cx="164124" cy="834189"/>
          </a:xfrm>
          <a:prstGeom prst="rect">
            <a:avLst/>
          </a:prstGeom>
          <a:solidFill>
            <a:srgbClr val="F68F0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2E1C7FB-E480-FED2-C463-B8B919A4416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10</a:t>
            </a:fld>
            <a:endParaRPr lang="it-IT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396717-89FC-0878-EF40-824925384D80}"/>
              </a:ext>
            </a:extLst>
          </p:cNvPr>
          <p:cNvSpPr txBox="1"/>
          <p:nvPr/>
        </p:nvSpPr>
        <p:spPr>
          <a:xfrm>
            <a:off x="1036948" y="417094"/>
            <a:ext cx="10378912" cy="60631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400" b="1" dirty="0">
                <a:solidFill>
                  <a:schemeClr val="accent1">
                    <a:lumMod val="75000"/>
                  </a:schemeClr>
                </a:solidFill>
              </a:rPr>
              <a:t>🔴 </a:t>
            </a:r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SCENARIO SHORT (VENDITA ORO)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2">
                    <a:lumMod val="75000"/>
                  </a:schemeClr>
                </a:solidFill>
              </a:rPr>
              <a:t>Contesto ideale: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Fed hawkish: E' l'atteggiamento, che viene tenuto da un membro del FOMC, del board della BCE o del comitato esecutivo di qualsiasi Banca Centrale, a sostegno di una politica di restrizione monetaria, passante per un rialzo dei tassi di interesse e un rafforzamento del tasso di cambio.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DXY in rally : Il DXY estende il rally nei pressi di 98,70 dopo quattro giorni di guadagni, sostenuto dall'accordo commerciale USA-UE e dalle aspettative sulla politica della Fed. Il cambio GBP/USD rompe al ribasso a 1,3367 e il supporto della linea di tendenza, segnalando una retrazione più approfondita con i venditori in controllo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Tassi reali in aumento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Inflazione contenuta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Nessuna tensione geopolitica</a:t>
            </a:r>
          </a:p>
        </p:txBody>
      </p:sp>
    </p:spTree>
    <p:extLst>
      <p:ext uri="{BB962C8B-B14F-4D97-AF65-F5344CB8AC3E}">
        <p14:creationId xmlns:p14="http://schemas.microsoft.com/office/powerpoint/2010/main" val="138720575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EE66CA6-854C-D671-DACF-E15CE11BC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147" y="0"/>
            <a:ext cx="218630" cy="126319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8D18C-0F8B-F510-A256-9982D5998E33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1187777" y="273377"/>
            <a:ext cx="10444899" cy="6315959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it-IT" b="1" dirty="0">
                <a:solidFill>
                  <a:schemeClr val="accent2">
                    <a:lumMod val="75000"/>
                  </a:schemeClr>
                </a:solidFill>
              </a:rPr>
              <a:t>4. 🧭 Indicatori Tecnici e Conferme da usare sul Gold</a:t>
            </a:r>
          </a:p>
          <a:p>
            <a:pPr marL="50800" indent="0">
              <a:buNone/>
            </a:pPr>
            <a:endParaRPr lang="it-IT" dirty="0">
              <a:solidFill>
                <a:schemeClr val="accent2">
                  <a:lumMod val="75000"/>
                </a:schemeClr>
              </a:solidFill>
            </a:endParaRPr>
          </a:p>
          <a:p>
            <a:pPr marL="50800" indent="0">
              <a:buNone/>
            </a:pPr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Indicatore	                               Funzione	                         Timeframe consigliati</a:t>
            </a:r>
          </a:p>
          <a:p>
            <a:pPr marL="50800" indent="0">
              <a:buNone/>
            </a:pPr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50800" indent="0">
              <a:buNone/>
            </a:pPr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RSI (14)	                        Divergenze, eccessi	                    H1 – H4 – D1</a:t>
            </a:r>
          </a:p>
          <a:p>
            <a:pPr marL="50800" indent="0">
              <a:buNone/>
            </a:pPr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50800" indent="0">
              <a:buNone/>
            </a:pPr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MACD	                             Momentum e direzione trend	       H4 – D1</a:t>
            </a:r>
          </a:p>
          <a:p>
            <a:pPr marL="50800" indent="0">
              <a:buNone/>
            </a:pPr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50800" indent="0">
              <a:buNone/>
            </a:pPr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EMA 50 / EMA 200             Trend, pullback dinamici	                    H1 – H4 –D1</a:t>
            </a:r>
          </a:p>
          <a:p>
            <a:pPr marL="50800" indent="0">
              <a:buNone/>
            </a:pPr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50800" indent="0">
              <a:buNone/>
            </a:pPr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Volumi (OBV)	                 Conferma breakout o reversal	       H1 – H4</a:t>
            </a:r>
          </a:p>
          <a:p>
            <a:pPr marL="50800" indent="0">
              <a:buNone/>
            </a:pPr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50800" indent="0">
              <a:buNone/>
            </a:pPr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Fibonacci	                       Ritracciamenti e proiezioni	       H1 – D1</a:t>
            </a:r>
          </a:p>
          <a:p>
            <a:endParaRPr lang="it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A5116-D7E3-168C-767F-C484E8AACDB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061560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5AEC5-8597-B0F8-5240-A48806FFCD7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12</a:t>
            </a:fld>
            <a:endParaRPr lang="it-IT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CAAB6E-3461-4193-9AAD-EBA98A68E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147" y="0"/>
            <a:ext cx="218630" cy="12631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FE0DE4-D71A-7F16-D30F-774B5DBC5AF5}"/>
              </a:ext>
            </a:extLst>
          </p:cNvPr>
          <p:cNvSpPr txBox="1"/>
          <p:nvPr/>
        </p:nvSpPr>
        <p:spPr>
          <a:xfrm>
            <a:off x="1272619" y="282804"/>
            <a:ext cx="9950234" cy="5632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400" b="1" dirty="0">
                <a:solidFill>
                  <a:schemeClr val="accent2">
                    <a:lumMod val="75000"/>
                  </a:schemeClr>
                </a:solidFill>
              </a:rPr>
              <a:t>5. 🧠 Mindset da trader esperto sul Gold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Mai inseguire la candela emozionale: l’oro può fare spike da 30-60pip in pochi minuti → pazienza.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Gestione del rischio chirurgica: SL sempre definito, gold è volatile.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Ragiona in probabilità, non in certezze: entra solo quando i fondamentali e il prezzo ti danno conferme.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Osserva la correlazione con altri asset: es. EUR/USD, SP500, Crude Oil.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400" dirty="0">
                <a:solidFill>
                  <a:schemeClr val="accent1">
                    <a:lumMod val="75000"/>
                  </a:schemeClr>
                </a:solidFill>
              </a:rPr>
              <a:t>Utilizza allarmi macroeconomici sul calendario: anticipa i movimenti → non tradare senza sapere cosa sta per uscire.</a:t>
            </a:r>
          </a:p>
        </p:txBody>
      </p:sp>
    </p:spTree>
    <p:extLst>
      <p:ext uri="{BB962C8B-B14F-4D97-AF65-F5344CB8AC3E}">
        <p14:creationId xmlns:p14="http://schemas.microsoft.com/office/powerpoint/2010/main" val="251503818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25F27-4D8C-9FD7-D47D-A642778ED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7E1CD-365B-B2A6-5390-8A5076932F0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t>13</a:t>
            </a:fld>
            <a:endParaRPr lang="it-IT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252EE1-84EA-231D-ECB5-B1F993C7A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147" y="0"/>
            <a:ext cx="218630" cy="12631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70A44F-4671-8FAF-76CD-4753804DB1E7}"/>
              </a:ext>
            </a:extLst>
          </p:cNvPr>
          <p:cNvSpPr txBox="1"/>
          <p:nvPr/>
        </p:nvSpPr>
        <p:spPr>
          <a:xfrm>
            <a:off x="1376313" y="876693"/>
            <a:ext cx="9846540" cy="5139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2400" b="1" dirty="0">
                <a:solidFill>
                  <a:schemeClr val="accent2">
                    <a:lumMod val="75000"/>
                  </a:schemeClr>
                </a:solidFill>
              </a:rPr>
              <a:t>6. 📁 Consigli pratici da trader esperto</a:t>
            </a:r>
          </a:p>
          <a:p>
            <a:endParaRPr lang="it-IT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Usa livelli psicologici come radar: numeri pieni ,sono livelli che il mercato “vede”.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Evita overtrading: attendi i momenti, non entrare per noia.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Usa correlazioni inverse e dirette: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Crude Oil ⬆ → inflazione ⬆ → oro 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⬆SP500 ⬇ → flight to safety → oro ⬆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USD ⬆ → oro </a:t>
            </a:r>
          </a:p>
          <a:p>
            <a:endParaRPr lang="it-IT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t-IT" sz="2000" dirty="0">
                <a:solidFill>
                  <a:schemeClr val="accent1">
                    <a:lumMod val="75000"/>
                  </a:schemeClr>
                </a:solidFill>
              </a:rPr>
              <a:t>⬇Crea una “mappa settimanale”: definisci zone operative + catalizzatori attesi.Archivia tutto in un diario operativo: screenshot, contesto macro, entry, exit, errore, lezione.</a:t>
            </a:r>
          </a:p>
        </p:txBody>
      </p:sp>
    </p:spTree>
    <p:extLst>
      <p:ext uri="{BB962C8B-B14F-4D97-AF65-F5344CB8AC3E}">
        <p14:creationId xmlns:p14="http://schemas.microsoft.com/office/powerpoint/2010/main" val="185804666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44025-35B0-8A2C-468A-0B85C1013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120;p4">
            <a:extLst>
              <a:ext uri="{FF2B5EF4-FFF2-40B4-BE49-F238E27FC236}">
                <a16:creationId xmlns:a16="http://schemas.microsoft.com/office/drawing/2014/main" id="{2190CBC5-A8EB-1FA2-6B8A-F6597F87ADE7}"/>
              </a:ext>
            </a:extLst>
          </p:cNvPr>
          <p:cNvGrpSpPr/>
          <p:nvPr/>
        </p:nvGrpSpPr>
        <p:grpSpPr>
          <a:xfrm>
            <a:off x="2928354" y="2590855"/>
            <a:ext cx="6023113" cy="399842"/>
            <a:chOff x="0" y="0"/>
            <a:chExt cx="6023112" cy="399841"/>
          </a:xfrm>
        </p:grpSpPr>
        <p:sp>
          <p:nvSpPr>
            <p:cNvPr id="548" name="Google Shape;121;p4">
              <a:extLst>
                <a:ext uri="{FF2B5EF4-FFF2-40B4-BE49-F238E27FC236}">
                  <a16:creationId xmlns:a16="http://schemas.microsoft.com/office/drawing/2014/main" id="{550330A6-42ED-D48A-106B-03CE82F6E0CC}"/>
                </a:ext>
              </a:extLst>
            </p:cNvPr>
            <p:cNvSpPr/>
            <p:nvPr/>
          </p:nvSpPr>
          <p:spPr>
            <a:xfrm>
              <a:off x="0" y="2335"/>
              <a:ext cx="2680066" cy="1"/>
            </a:xfrm>
            <a:prstGeom prst="line">
              <a:avLst/>
            </a:prstGeom>
            <a:noFill/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549" name="Google Shape;122;p4">
              <a:extLst>
                <a:ext uri="{FF2B5EF4-FFF2-40B4-BE49-F238E27FC236}">
                  <a16:creationId xmlns:a16="http://schemas.microsoft.com/office/drawing/2014/main" id="{66AD102A-AE1F-0A9B-CFB5-1B2E4EAF5427}"/>
                </a:ext>
              </a:extLst>
            </p:cNvPr>
            <p:cNvSpPr/>
            <p:nvPr/>
          </p:nvSpPr>
          <p:spPr>
            <a:xfrm>
              <a:off x="3343047" y="6492"/>
              <a:ext cx="2680066" cy="1"/>
            </a:xfrm>
            <a:prstGeom prst="line">
              <a:avLst/>
            </a:prstGeom>
            <a:noFill/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550" name="Google Shape;123;p4">
              <a:extLst>
                <a:ext uri="{FF2B5EF4-FFF2-40B4-BE49-F238E27FC236}">
                  <a16:creationId xmlns:a16="http://schemas.microsoft.com/office/drawing/2014/main" id="{5FBEDA90-7ADC-2505-CD78-99C1EF9018C2}"/>
                </a:ext>
              </a:extLst>
            </p:cNvPr>
            <p:cNvSpPr/>
            <p:nvPr/>
          </p:nvSpPr>
          <p:spPr>
            <a:xfrm>
              <a:off x="2676077" y="2336"/>
              <a:ext cx="342985" cy="397505"/>
            </a:xfrm>
            <a:prstGeom prst="line">
              <a:avLst/>
            </a:prstGeom>
            <a:noFill/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551" name="Google Shape;124;p4">
              <a:extLst>
                <a:ext uri="{FF2B5EF4-FFF2-40B4-BE49-F238E27FC236}">
                  <a16:creationId xmlns:a16="http://schemas.microsoft.com/office/drawing/2014/main" id="{4BE475AC-72CF-380A-3247-56A0014ECD88}"/>
                </a:ext>
              </a:extLst>
            </p:cNvPr>
            <p:cNvSpPr/>
            <p:nvPr/>
          </p:nvSpPr>
          <p:spPr>
            <a:xfrm flipH="1">
              <a:off x="3009200" y="0"/>
              <a:ext cx="342985" cy="397505"/>
            </a:xfrm>
            <a:prstGeom prst="line">
              <a:avLst/>
            </a:prstGeom>
            <a:noFill/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dirty="0"/>
            </a:p>
          </p:txBody>
        </p:sp>
      </p:grpSp>
      <p:pic>
        <p:nvPicPr>
          <p:cNvPr id="554" name="Google Shape;126;p4" descr="Google Shape;126;p4">
            <a:extLst>
              <a:ext uri="{FF2B5EF4-FFF2-40B4-BE49-F238E27FC236}">
                <a16:creationId xmlns:a16="http://schemas.microsoft.com/office/drawing/2014/main" id="{A6435554-DF68-8C32-0755-BB70535EF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0955" y="6124918"/>
            <a:ext cx="478111" cy="472221"/>
          </a:xfrm>
          <a:prstGeom prst="rect">
            <a:avLst/>
          </a:prstGeom>
          <a:ln w="12700">
            <a:miter lim="400000"/>
          </a:ln>
        </p:spPr>
      </p:pic>
      <p:sp>
        <p:nvSpPr>
          <p:cNvPr id="555" name="Google Shape;127;p4">
            <a:extLst>
              <a:ext uri="{FF2B5EF4-FFF2-40B4-BE49-F238E27FC236}">
                <a16:creationId xmlns:a16="http://schemas.microsoft.com/office/drawing/2014/main" id="{E947F085-A9E2-5C33-5F18-B92882B3052C}"/>
              </a:ext>
            </a:extLst>
          </p:cNvPr>
          <p:cNvSpPr txBox="1"/>
          <p:nvPr/>
        </p:nvSpPr>
        <p:spPr>
          <a:xfrm>
            <a:off x="553241" y="3230241"/>
            <a:ext cx="11194545" cy="2185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 algn="ctr"/>
            <a:r>
              <a:rPr lang="it-IT" sz="40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Grazie per il tempo dedicato</a:t>
            </a:r>
          </a:p>
          <a:p>
            <a:pPr algn="ctr"/>
            <a:endParaRPr lang="it-IT" sz="3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it-IT" sz="3200" i="1" dirty="0">
                <a:solidFill>
                  <a:schemeClr val="bg1"/>
                </a:solidFill>
              </a:rPr>
              <a:t>«Non aspettare il trade perfetto. Prepara te stesso… e il mercato farà il resto»</a:t>
            </a:r>
            <a:endParaRPr lang="en-US" sz="32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1F088472-162A-C3A4-517E-96A2DE164A2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it-IT" smtClean="0"/>
              <a:pPr/>
              <a:t>14</a:t>
            </a:fld>
            <a:endParaRPr lang="it-IT" dirty="0"/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A32D035B-E3E2-F459-18A3-A3AE0B71836A}"/>
              </a:ext>
            </a:extLst>
          </p:cNvPr>
          <p:cNvGrpSpPr/>
          <p:nvPr/>
        </p:nvGrpSpPr>
        <p:grpSpPr>
          <a:xfrm>
            <a:off x="5165935" y="871376"/>
            <a:ext cx="1507253" cy="1479936"/>
            <a:chOff x="5205046" y="969058"/>
            <a:chExt cx="1507253" cy="1382253"/>
          </a:xfrm>
        </p:grpSpPr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57E9DAE6-B503-6266-0AF2-783E5D8F3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C3C3C3"/>
                </a:clrFrom>
                <a:clrTo>
                  <a:srgbClr val="C3C3C3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368747" y="969058"/>
              <a:ext cx="1220550" cy="1272568"/>
            </a:xfrm>
            <a:prstGeom prst="rect">
              <a:avLst/>
            </a:prstGeom>
          </p:spPr>
        </p:pic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8FC856F5-10C5-FEA4-7A89-730FCE9428C4}"/>
                </a:ext>
              </a:extLst>
            </p:cNvPr>
            <p:cNvSpPr/>
            <p:nvPr/>
          </p:nvSpPr>
          <p:spPr>
            <a:xfrm>
              <a:off x="5205046" y="969058"/>
              <a:ext cx="1507253" cy="1382253"/>
            </a:xfrm>
            <a:prstGeom prst="ellipse">
              <a:avLst/>
            </a:prstGeom>
            <a:noFill/>
            <a:ln w="25400" cap="flat">
              <a:solidFill>
                <a:schemeClr val="bg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it-IT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524446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i Office">
  <a:themeElements>
    <a:clrScheme name="Tema di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i Offic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Tema di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i Offic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8263</TotalTime>
  <Words>3076</Words>
  <Application>Microsoft Office PowerPoint</Application>
  <PresentationFormat>Widescreen</PresentationFormat>
  <Paragraphs>228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Tema di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michaelagenova196</dc:creator>
  <cp:lastModifiedBy>WakeUpCall</cp:lastModifiedBy>
  <cp:revision>298</cp:revision>
  <cp:lastPrinted>2025-01-24T17:19:37Z</cp:lastPrinted>
  <dcterms:modified xsi:type="dcterms:W3CDTF">2025-07-29T12:07:19Z</dcterms:modified>
</cp:coreProperties>
</file>