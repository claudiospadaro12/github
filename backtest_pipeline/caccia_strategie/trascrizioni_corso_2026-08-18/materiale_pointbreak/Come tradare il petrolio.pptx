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90" r:id="rId2"/>
    <p:sldId id="443" r:id="rId3"/>
    <p:sldId id="410" r:id="rId4"/>
    <p:sldId id="444" r:id="rId5"/>
    <p:sldId id="415" r:id="rId6"/>
    <p:sldId id="409" r:id="rId7"/>
    <p:sldId id="412" r:id="rId8"/>
    <p:sldId id="442" r:id="rId9"/>
    <p:sldId id="413" r:id="rId10"/>
    <p:sldId id="445" r:id="rId11"/>
    <p:sldId id="446" r:id="rId12"/>
    <p:sldId id="319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8600"/>
    <a:srgbClr val="0033CC"/>
    <a:srgbClr val="008000"/>
    <a:srgbClr val="000099"/>
    <a:srgbClr val="FF9300"/>
    <a:srgbClr val="FFCC00"/>
    <a:srgbClr val="FF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9104" autoAdjust="0"/>
  </p:normalViewPr>
  <p:slideViewPr>
    <p:cSldViewPr snapToGrid="0" snapToObjects="1">
      <p:cViewPr varScale="1">
        <p:scale>
          <a:sx n="68" d="100"/>
          <a:sy n="68" d="100"/>
        </p:scale>
        <p:origin x="6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0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28F5962B-1590-2A44-B167-0B47EFD67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474524-F0F6-C3CF-819C-B9D08B92FF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4413C-841B-4F37-9D52-4EE546FFB47C}" type="datetimeFigureOut">
              <a:rPr lang="it-IT" smtClean="0"/>
              <a:t>24/07/2025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6096F8-EB54-E348-B3A6-3A136DAB5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0076C3B-AE97-6474-7BB1-8F896BC8F9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38EC2-9F0E-4F72-86F1-6E46A662D698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09981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7085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af.net/it/forex/tools/volatility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31800" y="1635125"/>
            <a:ext cx="7848600" cy="44148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871538" y="6296025"/>
            <a:ext cx="6969125" cy="5149850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859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B7A5-8B69-8324-516D-8188D8C3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84D8B0-4264-D3B9-66CD-FE2723734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5B9A99-2701-8C8D-FE61-C0EFBCD14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dirty="0"/>
              <a:t>"Benvenuti in un percorso pensato per trasformare l’apertura dei mercati… da momento caotico a opportunità controllata.</a:t>
            </a:r>
            <a:br>
              <a:rPr lang="it-IT" sz="3200" dirty="0"/>
            </a:br>
            <a:r>
              <a:rPr lang="it-IT" sz="3200" dirty="0"/>
              <a:t>In questa lezione non impareremo a 'prevedere il futuro', ma a </a:t>
            </a:r>
            <a:r>
              <a:rPr lang="it-IT" sz="3200" b="1" dirty="0"/>
              <a:t>leggere ciò che il mercato ci sta già dicendo</a:t>
            </a:r>
            <a:r>
              <a:rPr lang="it-IT" sz="3200" dirty="0"/>
              <a:t>, attraverso segnali chiari e strumenti concreti.</a:t>
            </a:r>
          </a:p>
          <a:p>
            <a:pPr>
              <a:buNone/>
            </a:pPr>
            <a:r>
              <a:rPr lang="it-IT" sz="3200" dirty="0"/>
              <a:t>🔍 </a:t>
            </a:r>
            <a:r>
              <a:rPr lang="it-IT" sz="3200" b="1" dirty="0"/>
              <a:t>Parleremo di volatilità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Non dobbiamo temerla: la volatilità è ciò che genera le occasioni. Impareremo come riconoscerla, misurarla, e soprattutto come usarla per agire nel momento giusto, con il giusto controllo.</a:t>
            </a:r>
          </a:p>
          <a:p>
            <a:pPr>
              <a:buNone/>
            </a:pPr>
            <a:r>
              <a:rPr lang="it-IT" sz="3200" dirty="0"/>
              <a:t>📈 </a:t>
            </a:r>
            <a:r>
              <a:rPr lang="it-IT" sz="3200" b="1" dirty="0"/>
              <a:t>Studieremo gli indici principali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Il DAX, l’S&amp;P 500, il Nasdaq: questi non sono semplici numeri in un grafico. Sono </a:t>
            </a:r>
            <a:r>
              <a:rPr lang="it-IT" sz="3200" b="1" dirty="0"/>
              <a:t>indicatori del battito cardiaco dei mercati globali</a:t>
            </a:r>
            <a:r>
              <a:rPr lang="it-IT" sz="3200" dirty="0"/>
              <a:t>. Comprenderli significa sapere dove si stanno muovendo i capitali e, di conseguenza, dove potrebbe muoversi il prezzo.</a:t>
            </a:r>
          </a:p>
          <a:p>
            <a:pPr>
              <a:buNone/>
            </a:pPr>
            <a:r>
              <a:rPr lang="it-IT" sz="3200" dirty="0"/>
              <a:t>🧠 </a:t>
            </a:r>
            <a:r>
              <a:rPr lang="it-IT" sz="3200" b="1" dirty="0"/>
              <a:t>Infine, ci concentreremo sulle strategie operative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Perché il successo nei primi minuti dell’apertura non è frutto di fortuna, ma di preparazione. Approccio tecnico, gestione del rischio, ordine mentale: queste sono le vere armi del trader consapevole.</a:t>
            </a:r>
          </a:p>
          <a:p>
            <a:pPr>
              <a:buNone/>
            </a:pPr>
            <a:r>
              <a:rPr lang="it-IT" sz="4000" dirty="0"/>
              <a:t>📌 E c’è un elemento in più, che accompagnerà ogni slide:</a:t>
            </a:r>
            <a:br>
              <a:rPr lang="it-IT" sz="4000" dirty="0"/>
            </a:br>
            <a:r>
              <a:rPr lang="it-IT" sz="4000" b="1" dirty="0"/>
              <a:t>chiuderemo ogni sezione con una massima</a:t>
            </a:r>
            <a:r>
              <a:rPr lang="it-IT" sz="4000" dirty="0"/>
              <a:t>.</a:t>
            </a:r>
            <a:br>
              <a:rPr lang="it-IT" sz="4000" dirty="0"/>
            </a:br>
            <a:r>
              <a:rPr lang="it-IT" sz="4000" dirty="0"/>
              <a:t>Perché lo facciamo?</a:t>
            </a:r>
            <a:br>
              <a:rPr lang="it-IT" sz="4000" dirty="0"/>
            </a:br>
            <a:r>
              <a:rPr lang="it-IT" sz="4000" dirty="0"/>
              <a:t>Perché ogni massima è una </a:t>
            </a:r>
            <a:r>
              <a:rPr lang="it-IT" sz="4000" b="1" dirty="0"/>
              <a:t>concentrazione di esperienza</a:t>
            </a:r>
            <a:r>
              <a:rPr lang="it-IT" sz="4000" dirty="0"/>
              <a:t>, un </a:t>
            </a:r>
            <a:r>
              <a:rPr lang="it-IT" sz="4000" b="1" dirty="0"/>
              <a:t>principio guida</a:t>
            </a:r>
            <a:r>
              <a:rPr lang="it-IT" sz="4000" dirty="0"/>
              <a:t> da ricordare anche quando i grafici si muovono veloci.</a:t>
            </a:r>
            <a:br>
              <a:rPr lang="it-IT" sz="4000" dirty="0"/>
            </a:br>
            <a:r>
              <a:rPr lang="it-IT" sz="4000" dirty="0"/>
              <a:t>Una frase che, nel momento della decisione, può fare la differenza tra reattività emotiva e azione consapevole.</a:t>
            </a:r>
          </a:p>
          <a:p>
            <a:pPr>
              <a:buNone/>
            </a:pPr>
            <a:r>
              <a:rPr lang="it-IT" sz="3200" dirty="0"/>
              <a:t>👉 Ricordate questa frase:</a:t>
            </a:r>
          </a:p>
          <a:p>
            <a:pPr>
              <a:buNone/>
            </a:pPr>
            <a:r>
              <a:rPr lang="it-IT" sz="3200" dirty="0"/>
              <a:t>«Chi sa leggere l’apertura, ha già un vantaggio sul resto della giornata.»</a:t>
            </a:r>
          </a:p>
          <a:p>
            <a:r>
              <a:rPr lang="it-IT" sz="3200" dirty="0"/>
              <a:t>E alla fine della lezione, il vostro sguardo su quei minuti iniziali sarà completamente diverso: non più caos, ma </a:t>
            </a:r>
            <a:r>
              <a:rPr lang="it-IT" sz="3200" b="1" dirty="0"/>
              <a:t>possibilità calcolate</a:t>
            </a:r>
            <a:r>
              <a:rPr lang="it-IT" sz="3200" dirty="0"/>
              <a:t>.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86021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E8C8-378B-5C87-84BB-EF434D90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30E5F8B-C4C2-95FC-3661-C138000A8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9EE793-9614-CB87-21D2-A28446557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b="1" dirty="0"/>
              <a:t>Speech – Slide “Volatilità: il battito cardiaco del mercato”</a:t>
            </a:r>
          </a:p>
          <a:p>
            <a:pPr>
              <a:buNone/>
            </a:pPr>
            <a:r>
              <a:rPr lang="it-IT" sz="3200" dirty="0"/>
              <a:t>"La volatilità è il primo concetto chiave che dobbiamo comprendere.</a:t>
            </a:r>
            <a:br>
              <a:rPr lang="it-IT" sz="3200" dirty="0"/>
            </a:br>
            <a:r>
              <a:rPr lang="it-IT" sz="3200" dirty="0"/>
              <a:t>Nel linguaggio dei trader, è il vero battito cardiaco del mercato.</a:t>
            </a:r>
            <a:br>
              <a:rPr lang="it-IT" sz="3200" dirty="0"/>
            </a:br>
            <a:r>
              <a:rPr lang="it-IT" sz="3200" dirty="0"/>
              <a:t>Più è irregolare, più il mercato è vivo. E come ogni buon medico sa interpretare un ECG, ogni buon trader sa leggere i segnali di volatilità.</a:t>
            </a:r>
          </a:p>
          <a:p>
            <a:pPr>
              <a:buNone/>
            </a:pPr>
            <a:r>
              <a:rPr lang="it-IT" sz="3200" dirty="0"/>
              <a:t>⚡ </a:t>
            </a:r>
            <a:r>
              <a:rPr lang="it-IT" sz="3200" b="1" dirty="0"/>
              <a:t>Ma cos’è, esattamente?</a:t>
            </a:r>
            <a:br>
              <a:rPr lang="it-IT" sz="3200" dirty="0"/>
            </a:br>
            <a:r>
              <a:rPr lang="it-IT" sz="3200" dirty="0"/>
              <a:t>È la misura della </a:t>
            </a:r>
            <a:r>
              <a:rPr lang="it-IT" sz="3200" b="1" dirty="0"/>
              <a:t>velocità e dell’ampiezza</a:t>
            </a:r>
            <a:r>
              <a:rPr lang="it-IT" sz="3200" dirty="0"/>
              <a:t> con cui il prezzo si muove.</a:t>
            </a:r>
            <a:br>
              <a:rPr lang="it-IT" sz="3200" dirty="0"/>
            </a:br>
            <a:r>
              <a:rPr lang="it-IT" sz="3200" dirty="0"/>
              <a:t>Quando il prezzo corre veloce, con forti oscillazioni, diciamo che il mercato è volatile.</a:t>
            </a:r>
            <a:br>
              <a:rPr lang="it-IT" sz="3200" dirty="0"/>
            </a:br>
            <a:r>
              <a:rPr lang="it-IT" sz="3200" dirty="0"/>
              <a:t>Ed è proprio lì che si concentrano le opportunità.</a:t>
            </a:r>
            <a:br>
              <a:rPr lang="it-IT" sz="3200" dirty="0"/>
            </a:br>
            <a:r>
              <a:rPr lang="it-IT" sz="3200" dirty="0"/>
              <a:t>Se il mercato fosse statico, non ci sarebbe margine d’azione.</a:t>
            </a:r>
          </a:p>
          <a:p>
            <a:pPr>
              <a:buNone/>
            </a:pPr>
            <a:r>
              <a:rPr lang="it-IT" sz="3200" dirty="0"/>
              <a:t>📈 </a:t>
            </a:r>
            <a:r>
              <a:rPr lang="it-IT" sz="3200" b="1" dirty="0"/>
              <a:t>Perché è così importante per noi?</a:t>
            </a:r>
            <a:br>
              <a:rPr lang="it-IT" sz="3200" dirty="0"/>
            </a:br>
            <a:r>
              <a:rPr lang="it-IT" sz="3200" dirty="0"/>
              <a:t>Perché ogni strategia – breakout, gap </a:t>
            </a:r>
            <a:r>
              <a:rPr lang="it-IT" sz="3200" dirty="0" err="1"/>
              <a:t>fill</a:t>
            </a:r>
            <a:r>
              <a:rPr lang="it-IT" sz="3200" dirty="0"/>
              <a:t>, pre-apertura – ha senso </a:t>
            </a:r>
            <a:r>
              <a:rPr lang="it-IT" sz="3200" b="1" dirty="0"/>
              <a:t>solo</a:t>
            </a:r>
            <a:r>
              <a:rPr lang="it-IT" sz="3200" dirty="0"/>
              <a:t> se c’è volatilità.</a:t>
            </a:r>
            <a:br>
              <a:rPr lang="it-IT" sz="3200" dirty="0"/>
            </a:br>
            <a:r>
              <a:rPr lang="it-IT" sz="3200" dirty="0"/>
              <a:t>Senza movimento, non c’è spazio per il profitto.</a:t>
            </a:r>
          </a:p>
          <a:p>
            <a:pPr>
              <a:buNone/>
            </a:pPr>
            <a:r>
              <a:rPr lang="it-IT" sz="3200" dirty="0"/>
              <a:t>📊 </a:t>
            </a:r>
            <a:r>
              <a:rPr lang="it-IT" sz="3200" b="1" dirty="0"/>
              <a:t>Ecco un consiglio pratico:</a:t>
            </a:r>
            <a:br>
              <a:rPr lang="it-IT" sz="3200" dirty="0"/>
            </a:br>
            <a:r>
              <a:rPr lang="it-IT" sz="3200" dirty="0"/>
              <a:t>Volete sapere </a:t>
            </a:r>
            <a:r>
              <a:rPr lang="it-IT" sz="3200" b="1" dirty="0"/>
              <a:t>quanta volatilità c’è</a:t>
            </a:r>
            <a:r>
              <a:rPr lang="it-IT" sz="3200" dirty="0"/>
              <a:t> su uno strumento in un dato momento?</a:t>
            </a:r>
            <a:br>
              <a:rPr lang="it-IT" sz="3200" dirty="0"/>
            </a:br>
            <a:r>
              <a:rPr lang="it-IT" sz="3200" dirty="0"/>
              <a:t>Usate questo sito: </a:t>
            </a:r>
            <a:r>
              <a:rPr lang="it-IT" sz="3200" dirty="0">
                <a:hlinkClick r:id="rId3"/>
              </a:rPr>
              <a:t>mataf.net/forex/tools/volatility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Lì trovate la </a:t>
            </a:r>
            <a:r>
              <a:rPr lang="it-IT" sz="3200" b="1" dirty="0"/>
              <a:t>volatilità media giornaliera</a:t>
            </a:r>
            <a:r>
              <a:rPr lang="it-IT" sz="3200" dirty="0"/>
              <a:t> di tutte le principali coppie e indici.</a:t>
            </a:r>
            <a:br>
              <a:rPr lang="it-IT" sz="3200" dirty="0"/>
            </a:br>
            <a:r>
              <a:rPr lang="it-IT" sz="3200" dirty="0"/>
              <a:t>Vi aiuterà a capire se ha senso attendersi movimenti ampi, oppure no.</a:t>
            </a:r>
          </a:p>
          <a:p>
            <a:pPr>
              <a:buNone/>
            </a:pPr>
            <a:r>
              <a:rPr lang="it-IT" sz="3200" dirty="0"/>
              <a:t>🎯 Attenzione però: </a:t>
            </a:r>
            <a:r>
              <a:rPr lang="it-IT" sz="3200" b="1" dirty="0"/>
              <a:t>volatilità non è sinonimo di confusione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Un trader preparato non si fa spaventare dal movimento. Anzi, </a:t>
            </a:r>
            <a:r>
              <a:rPr lang="it-IT" sz="3200" b="1" dirty="0"/>
              <a:t>lo studia, lo anticipa, lo usa.</a:t>
            </a:r>
            <a:endParaRPr lang="it-IT" sz="3200" dirty="0"/>
          </a:p>
          <a:p>
            <a:pPr>
              <a:buNone/>
            </a:pPr>
            <a:r>
              <a:rPr lang="it-IT" sz="3200" dirty="0"/>
              <a:t>👉 E voglio lasciarvi con questa massima, che racchiude tutto il senso di questa slide:</a:t>
            </a:r>
          </a:p>
          <a:p>
            <a:r>
              <a:rPr lang="it-IT" sz="3200" dirty="0"/>
              <a:t>«Il trader inesperto teme la volatilità. Quello consapevole la osserva, la misura… e la sfrutta.»"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09157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95F1-B32D-E51C-E30B-10B2CC8B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73DD82-667D-BAC4-5973-D6CAA729C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EC9167F-9BDD-E588-A79F-9C40880B2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dirty="0"/>
              <a:t>"Ogni giorno, ci sono due momenti in cui il mercato prende vita: le 9:00 del mattino e le 15:30 del pomeriggio. Emiliano ci ricorda sempre con grande enfasi l’emozione che provava accanto ai trader esperti: lo sguardo fisso sul monitor, le dita pronte sul mouse... era come assistere al decollo di un aereo.</a:t>
            </a:r>
          </a:p>
          <a:p>
            <a:pPr>
              <a:buNone/>
            </a:pPr>
            <a:r>
              <a:rPr lang="it-IT" sz="3200" dirty="0"/>
              <a:t>Le aperture sono fasi magiche perché rappresentano il punto di massima concentrazione: tutti i trader del mondo reagiscono, quasi simultaneamente, alle ultime notizie e alle analisi della notte.</a:t>
            </a:r>
            <a:br>
              <a:rPr lang="it-IT" sz="3200" dirty="0"/>
            </a:br>
            <a:r>
              <a:rPr lang="it-IT" sz="3200" dirty="0"/>
              <a:t>Ed è proprio lì che esplode la </a:t>
            </a:r>
            <a:r>
              <a:rPr lang="it-IT" sz="3200" b="1" dirty="0"/>
              <a:t>volatilità</a:t>
            </a:r>
            <a:r>
              <a:rPr lang="it-IT" sz="3200" dirty="0"/>
              <a:t>, il motore del nostro trading. È la condizione che ci permette di cogliere movimenti rapidi, decisi, strategici.</a:t>
            </a:r>
          </a:p>
          <a:p>
            <a:pPr>
              <a:buNone/>
            </a:pPr>
            <a:r>
              <a:rPr lang="it-IT" sz="3200" dirty="0"/>
              <a:t>Indici come il DAX in Europa, o l’S&amp;P 500 e il Nasdaq in America, non sono solo numeri. Sono termometri del sentiment globale. Osservarli in questi minuti cruciali ci dà informazioni preziose sulla direzione del mercato.</a:t>
            </a:r>
          </a:p>
          <a:p>
            <a:pPr>
              <a:buNone/>
            </a:pPr>
            <a:r>
              <a:rPr lang="it-IT" sz="3200" dirty="0"/>
              <a:t>L’obiettivo di questa lezione è proprio questo: fornirvi strumenti concreti per affrontare questi momenti non con istinto o improvvisazione, ma con una strategia chiara, consapevole ed efficace."</a:t>
            </a:r>
          </a:p>
          <a:p>
            <a:r>
              <a:rPr lang="it-IT" sz="3200" i="1" dirty="0"/>
              <a:t>(Pausa – richiamo della massima in chiusura)</a:t>
            </a:r>
            <a:br>
              <a:rPr lang="it-IT" sz="3200" dirty="0"/>
            </a:br>
            <a:r>
              <a:rPr lang="it-IT" sz="3200" dirty="0"/>
              <a:t>"Ricordate: le aperture non sono solo l’inizio di una nuova giornata…</a:t>
            </a:r>
            <a:br>
              <a:rPr lang="it-IT" sz="3200" dirty="0"/>
            </a:br>
            <a:r>
              <a:rPr lang="it-IT" sz="3200" dirty="0"/>
              <a:t>sono il momento in cui il mercato ci rivela le sue vere intenzioni."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158130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E412-5D12-C571-09B9-58E8E27B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71953E-2673-5F00-CB81-4CC2772A7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CDB0B1-16C9-D0AC-3BF7-AB3527C9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b="1" dirty="0" err="1"/>
              <a:t>peech</a:t>
            </a:r>
            <a:r>
              <a:rPr lang="it-IT" b="1" dirty="0"/>
              <a:t> – Slide “Aperture: Momento Chiave”</a:t>
            </a:r>
          </a:p>
          <a:p>
            <a:pPr>
              <a:buNone/>
            </a:pPr>
            <a:r>
              <a:rPr lang="it-IT" dirty="0"/>
              <a:t>"Abbiamo visto perché le aperture sono così volatili.</a:t>
            </a:r>
            <a:br>
              <a:rPr lang="it-IT" dirty="0"/>
            </a:br>
            <a:r>
              <a:rPr lang="it-IT" dirty="0"/>
              <a:t>Ora andiamo dritti al punto: </a:t>
            </a:r>
            <a:r>
              <a:rPr lang="it-IT" b="1" dirty="0"/>
              <a:t>quando</a:t>
            </a:r>
            <a:r>
              <a:rPr lang="it-IT" dirty="0"/>
              <a:t> avvengono questi momenti chiave e </a:t>
            </a:r>
            <a:r>
              <a:rPr lang="it-IT" b="1" dirty="0"/>
              <a:t>quali strumenti</a:t>
            </a:r>
            <a:r>
              <a:rPr lang="it-IT" dirty="0"/>
              <a:t> preferiamo utilizzare per sfruttarli.</a:t>
            </a:r>
          </a:p>
          <a:p>
            <a:pPr>
              <a:buNone/>
            </a:pPr>
            <a:r>
              <a:rPr lang="it-IT" dirty="0"/>
              <a:t>🕘 </a:t>
            </a:r>
            <a:r>
              <a:rPr lang="it-IT" b="1" dirty="0"/>
              <a:t>Alle 9:00 del mattino</a:t>
            </a:r>
            <a:r>
              <a:rPr lang="it-IT" dirty="0"/>
              <a:t>, ora italiana, si apre ufficialmente il mercato europeo.</a:t>
            </a:r>
            <a:br>
              <a:rPr lang="it-IT" dirty="0"/>
            </a:br>
            <a:r>
              <a:rPr lang="it-IT" dirty="0"/>
              <a:t>È qui che inizia davvero la giornata per chi fa trading.</a:t>
            </a:r>
            <a:br>
              <a:rPr lang="it-IT" dirty="0"/>
            </a:br>
            <a:r>
              <a:rPr lang="it-IT" dirty="0"/>
              <a:t>E l’indice che più di ogni altro incarna questa fase è il </a:t>
            </a:r>
            <a:r>
              <a:rPr lang="it-IT" b="1" dirty="0"/>
              <a:t>DAX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Perché il DAX?</a:t>
            </a:r>
            <a:br>
              <a:rPr lang="it-IT" dirty="0"/>
            </a:br>
            <a:r>
              <a:rPr lang="it-IT" dirty="0"/>
              <a:t>Perché è </a:t>
            </a:r>
            <a:r>
              <a:rPr lang="it-IT" b="1" dirty="0"/>
              <a:t>rapido, liquido e reattivo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È l’indice che meglio risponde alla strategia del breakout sui massimi o minimi notturni, e offre tantissime opportunità già nei primi minuti.</a:t>
            </a:r>
          </a:p>
          <a:p>
            <a:pPr>
              <a:buNone/>
            </a:pPr>
            <a:r>
              <a:rPr lang="it-IT" dirty="0"/>
              <a:t>🕞 Poi c’è il secondo momento cruciale: le </a:t>
            </a:r>
            <a:r>
              <a:rPr lang="it-IT" b="1" dirty="0"/>
              <a:t>15:30</a:t>
            </a:r>
            <a:r>
              <a:rPr lang="it-IT" dirty="0"/>
              <a:t>, con l’apertura di Wall Street.</a:t>
            </a:r>
            <a:br>
              <a:rPr lang="it-IT" dirty="0"/>
            </a:br>
            <a:r>
              <a:rPr lang="it-IT" dirty="0"/>
              <a:t>Qui entra in scena il mercato americano, il più grande e influente del mondo.</a:t>
            </a:r>
          </a:p>
          <a:p>
            <a:pPr>
              <a:buNone/>
            </a:pPr>
            <a:r>
              <a:rPr lang="it-IT" dirty="0"/>
              <a:t>E anche in questo caso, facciamo delle scelte precise:</a:t>
            </a:r>
            <a:br>
              <a:rPr lang="it-IT" dirty="0"/>
            </a:br>
            <a:r>
              <a:rPr lang="it-IT" dirty="0"/>
              <a:t>🔹 Preferiamo il </a:t>
            </a:r>
            <a:r>
              <a:rPr lang="it-IT" b="1" dirty="0"/>
              <a:t>Dow Jones</a:t>
            </a:r>
            <a:r>
              <a:rPr lang="it-IT" dirty="0"/>
              <a:t> per la sua struttura più lenta e prevedibile, perfetta per chi cerca movimenti chiari.</a:t>
            </a:r>
            <a:br>
              <a:rPr lang="it-IT" dirty="0"/>
            </a:br>
            <a:r>
              <a:rPr lang="it-IT" dirty="0"/>
              <a:t>🔹 E ci rivolgiamo al </a:t>
            </a:r>
            <a:r>
              <a:rPr lang="it-IT" b="1" dirty="0"/>
              <a:t>Nasdaq</a:t>
            </a:r>
            <a:r>
              <a:rPr lang="it-IT" dirty="0"/>
              <a:t> quando cerchiamo reattività e spike più forti, ideali per strategie più dinamiche.</a:t>
            </a:r>
          </a:p>
          <a:p>
            <a:pPr>
              <a:buNone/>
            </a:pPr>
            <a:r>
              <a:rPr lang="it-IT" dirty="0"/>
              <a:t>✋ E l’S&amp;P 500?</a:t>
            </a:r>
            <a:br>
              <a:rPr lang="it-IT" dirty="0"/>
            </a:br>
            <a:r>
              <a:rPr lang="it-IT" dirty="0"/>
              <a:t>Sì, è l’indice più tecnico e rappresentativo, ma </a:t>
            </a:r>
            <a:r>
              <a:rPr lang="it-IT" b="1" dirty="0"/>
              <a:t>proprio per questo a volte troppo 'compresso' e difficile da gestire per un trader operativo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In un contesto dove vogliamo cogliere i movimenti iniziali, è meglio puntare su strumenti più 'espressivi' nei primi minuti.</a:t>
            </a:r>
          </a:p>
          <a:p>
            <a:pPr>
              <a:buNone/>
            </a:pPr>
            <a:r>
              <a:rPr lang="it-IT" dirty="0"/>
              <a:t>🎯 In conclusione, questi due orari – 09:00 e 15:30 – non sono solo appuntamenti sul calendario.</a:t>
            </a:r>
            <a:br>
              <a:rPr lang="it-IT" dirty="0"/>
            </a:br>
            <a:r>
              <a:rPr lang="it-IT" dirty="0"/>
              <a:t>Sono </a:t>
            </a:r>
            <a:r>
              <a:rPr lang="it-IT" b="1" dirty="0"/>
              <a:t>fasi di accelerazione pura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Il trader che sa cosa guardare e come prepararsi, può agire </a:t>
            </a:r>
            <a:r>
              <a:rPr lang="it-IT" b="1" dirty="0"/>
              <a:t>prima che la direzione del mercato diventi evidente a tutti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👉 E quindi, ricordiamolo:</a:t>
            </a:r>
          </a:p>
          <a:p>
            <a:r>
              <a:rPr lang="it-IT" dirty="0"/>
              <a:t>«Chi controlla l’apertura, controlla la direzione della giornata.»"</a:t>
            </a:r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3832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7141-201E-155A-7597-99651D38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A71D28C-FB91-B8DE-8213-CC2784D45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C71B58-F567-C2E4-8AA1-18534E651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b="1" dirty="0"/>
              <a:t>Speech parlato</a:t>
            </a:r>
          </a:p>
          <a:p>
            <a:pPr>
              <a:buNone/>
            </a:pPr>
            <a:r>
              <a:rPr lang="it-IT" dirty="0"/>
              <a:t>“Questa tabella ci mostra </a:t>
            </a:r>
            <a:r>
              <a:rPr lang="it-IT" b="1" dirty="0"/>
              <a:t>gli orari ufficiali di apertura e chiusura dei principali mercati mondiali</a:t>
            </a:r>
            <a:r>
              <a:rPr lang="it-IT" dirty="0"/>
              <a:t>, espressi in orario UTC.</a:t>
            </a:r>
            <a:br>
              <a:rPr lang="it-IT" dirty="0"/>
            </a:br>
            <a:r>
              <a:rPr lang="it-IT" dirty="0"/>
              <a:t>Perché è importante conoscerli? Perché nel trading il </a:t>
            </a:r>
            <a:r>
              <a:rPr lang="it-IT" b="1" dirty="0"/>
              <a:t>"quando" è spesso più importante del "cosa"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Durante ogni apertura si concentrano ordini accumulati, news macroeconomiche, reazioni incrociate.</a:t>
            </a:r>
            <a:br>
              <a:rPr lang="it-IT" dirty="0"/>
            </a:br>
            <a:r>
              <a:rPr lang="it-IT" dirty="0"/>
              <a:t>È qui che nasce la vera </a:t>
            </a:r>
            <a:r>
              <a:rPr lang="it-IT" b="1" dirty="0"/>
              <a:t>volatilità operativa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Basti pensare alla sovrapposizione tra Tokyo e l’apertura europea… o tra Londra e Wall Street nel pomeriggio.</a:t>
            </a:r>
          </a:p>
          <a:p>
            <a:pPr>
              <a:buNone/>
            </a:pPr>
            <a:r>
              <a:rPr lang="it-IT" dirty="0"/>
              <a:t>Notate le fasce orarie: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L’Asia si muove quando in Europa è notte.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L’Europa esplode tra le 07:00 e le 09:00 UTC.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E gli Stati Uniti si accendono dalle 13:30 UTC, con un picco di volumi.</a:t>
            </a:r>
          </a:p>
          <a:p>
            <a:r>
              <a:rPr lang="it-IT" dirty="0"/>
              <a:t>Capire </a:t>
            </a:r>
            <a:r>
              <a:rPr lang="it-IT" b="1" dirty="0"/>
              <a:t>chi apre, quando apre, e con quali effetti a catena</a:t>
            </a:r>
            <a:r>
              <a:rPr lang="it-IT" dirty="0"/>
              <a:t>… ti aiuta a prepararti.</a:t>
            </a:r>
            <a:br>
              <a:rPr lang="it-IT" dirty="0"/>
            </a:br>
            <a:r>
              <a:rPr lang="it-IT" dirty="0"/>
              <a:t>Perché il trader reattivo arriva dopo.</a:t>
            </a:r>
            <a:br>
              <a:rPr lang="it-IT" dirty="0"/>
            </a:br>
            <a:r>
              <a:rPr lang="it-IT" dirty="0"/>
              <a:t>Quello preparato… arriva giusto in tempo.”</a:t>
            </a:r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2572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1857-9C9A-AD6D-B534-23527D95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532031-1AC0-D140-A16D-F08308B7B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6A8E29-C1C6-4E12-BAD8-CB7E4EED8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b="1" dirty="0"/>
              <a:t>Speech – Slide “Gli Indici: La Bussola del Trader”</a:t>
            </a:r>
          </a:p>
          <a:p>
            <a:pPr>
              <a:buNone/>
            </a:pPr>
            <a:r>
              <a:rPr lang="it-IT" sz="3200" dirty="0"/>
              <a:t>"Ora entriamo in una parte fondamentale del nostro percorso: la comprensione degli </a:t>
            </a:r>
            <a:r>
              <a:rPr lang="it-IT" sz="3200" b="1" dirty="0"/>
              <a:t>indici di mercato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📏 Gli indici sono i </a:t>
            </a:r>
            <a:r>
              <a:rPr lang="it-IT" sz="3200" b="1" dirty="0"/>
              <a:t>barometri del mercato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Misurano il comportamento medio di un gruppo di titoli: può trattarsi delle 30 aziende più importanti della Germania, come nel caso del DAX, o delle 500 maggiori società americane, come per l’S&amp;P 500.</a:t>
            </a:r>
            <a:br>
              <a:rPr lang="it-IT" sz="3200" dirty="0"/>
            </a:br>
            <a:r>
              <a:rPr lang="it-IT" sz="3200" dirty="0"/>
              <a:t>Ci dicono, in sintesi, </a:t>
            </a:r>
            <a:r>
              <a:rPr lang="it-IT" sz="3200" b="1" dirty="0"/>
              <a:t>come sta andando un’economia, un settore, o un intero mercato finanziario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📊 Ma non servono solo a 'guardare':</a:t>
            </a:r>
            <a:br>
              <a:rPr lang="it-IT" sz="3200" dirty="0"/>
            </a:br>
            <a:r>
              <a:rPr lang="it-IT" sz="3200" dirty="0"/>
              <a:t>gli indici sono </a:t>
            </a:r>
            <a:r>
              <a:rPr lang="it-IT" sz="3200" b="1" dirty="0"/>
              <a:t>benchmark</a:t>
            </a:r>
            <a:r>
              <a:rPr lang="it-IT" sz="3200" dirty="0"/>
              <a:t>, cioè punti di riferimento.</a:t>
            </a:r>
            <a:br>
              <a:rPr lang="it-IT" sz="3200" dirty="0"/>
            </a:br>
            <a:r>
              <a:rPr lang="it-IT" sz="3200" dirty="0"/>
              <a:t>Se un portafoglio rende di più di un indice, diciamo che ha “battuto il mercato”. Questo li rende strumenti centrali anche per gli investitori istituzionali.</a:t>
            </a:r>
          </a:p>
          <a:p>
            <a:pPr>
              <a:buNone/>
            </a:pPr>
            <a:r>
              <a:rPr lang="it-IT" sz="3200" dirty="0"/>
              <a:t>🎯 Per noi trader, però, gli indici sono soprattutto </a:t>
            </a:r>
            <a:r>
              <a:rPr lang="it-IT" sz="3200" b="1" dirty="0"/>
              <a:t>strumenti operativi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Perché sono liquidi, hanno buona volatilità e rispondono bene a molte strategie tecniche.</a:t>
            </a:r>
            <a:br>
              <a:rPr lang="it-IT" sz="3200" dirty="0"/>
            </a:br>
            <a:r>
              <a:rPr lang="it-IT" sz="3200" dirty="0"/>
              <a:t>Breakout, gap, trend… tutto quello che studieremo oggi si applica perfettamente sugli indici.</a:t>
            </a:r>
          </a:p>
          <a:p>
            <a:pPr>
              <a:buNone/>
            </a:pPr>
            <a:r>
              <a:rPr lang="it-IT" sz="3200" dirty="0"/>
              <a:t>🔁 E c’è di più:</a:t>
            </a:r>
            <a:br>
              <a:rPr lang="it-IT" sz="3200" dirty="0"/>
            </a:br>
            <a:r>
              <a:rPr lang="it-IT" sz="3200" dirty="0"/>
              <a:t>Gli indici sono </a:t>
            </a:r>
            <a:r>
              <a:rPr lang="it-IT" sz="3200" b="1" dirty="0"/>
              <a:t>il riflesso del sentiment globale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Quando il Nasdaq scende, spesso lo fa anche il DAX. Quando l’S&amp;P500 accelera, molte borse seguono a ruota.</a:t>
            </a:r>
            <a:br>
              <a:rPr lang="it-IT" sz="3200" dirty="0"/>
            </a:br>
            <a:r>
              <a:rPr lang="it-IT" sz="3200" dirty="0"/>
              <a:t>Imparare a leggere questi segnali ci permette </a:t>
            </a:r>
            <a:r>
              <a:rPr lang="it-IT" sz="3200" b="1" dirty="0"/>
              <a:t>non solo di capire cosa sta succedendo</a:t>
            </a:r>
            <a:r>
              <a:rPr lang="it-IT" sz="3200" dirty="0"/>
              <a:t>, ma anche di </a:t>
            </a:r>
            <a:r>
              <a:rPr lang="it-IT" sz="3200" b="1" dirty="0"/>
              <a:t>anticipare dove potrebbe andare il mercato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👉 E chiudo con una massima che dobbiamo sempre tenere a mente:</a:t>
            </a:r>
          </a:p>
          <a:p>
            <a:r>
              <a:rPr lang="it-IT" sz="3200" dirty="0"/>
              <a:t>«Un indice non è solo un numero: è la voce con cui parla il mercato.»"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860250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067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706832" y="5710230"/>
            <a:ext cx="436937" cy="400067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fld id="{86CB4B4D-7CA3-9044-876B-883B54F8677D}" type="slidenum">
              <a:rPr lang="it-IT" smtClean="0"/>
              <a:pPr/>
              <a:t>‹#›</a:t>
            </a:fld>
            <a:endParaRPr lang="it-IT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5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7" name="Google Shape;47;p11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42900"/>
            <a:endParaRPr/>
          </a:p>
        </p:txBody>
      </p:sp>
      <p:sp>
        <p:nvSpPr>
          <p:cNvPr id="58" name="Google Shape;48;p11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Google Shape;49;p11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42900"/>
            <a:endParaRPr/>
          </a:p>
        </p:txBody>
      </p:sp>
      <p:sp>
        <p:nvSpPr>
          <p:cNvPr id="6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76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7" name="Google Shape;61;p13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86" name="Google Shape;67;p14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8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96" name="Nivel de texto 1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o del título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05" name="Nivel de texto 1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 l="95000" t="9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13839" marR="0" indent="-4978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8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4;p16">
            <a:extLst>
              <a:ext uri="{FF2B5EF4-FFF2-40B4-BE49-F238E27FC236}">
                <a16:creationId xmlns:a16="http://schemas.microsoft.com/office/drawing/2014/main" id="{1AD2C56F-C303-71EA-2CB2-2F23067325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1241" y="1004747"/>
            <a:ext cx="3329492" cy="8409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65;p16">
            <a:extLst>
              <a:ext uri="{FF2B5EF4-FFF2-40B4-BE49-F238E27FC236}">
                <a16:creationId xmlns:a16="http://schemas.microsoft.com/office/drawing/2014/main" id="{EDCC66C9-1943-A631-233F-2C6B4A01EFA7}"/>
              </a:ext>
            </a:extLst>
          </p:cNvPr>
          <p:cNvGrpSpPr/>
          <p:nvPr/>
        </p:nvGrpSpPr>
        <p:grpSpPr>
          <a:xfrm>
            <a:off x="2704884" y="2184053"/>
            <a:ext cx="6782227" cy="450253"/>
            <a:chOff x="1828800" y="2092988"/>
            <a:chExt cx="8219999" cy="399836"/>
          </a:xfrm>
        </p:grpSpPr>
        <p:cxnSp>
          <p:nvCxnSpPr>
            <p:cNvPr id="4" name="Google Shape;66;p16">
              <a:extLst>
                <a:ext uri="{FF2B5EF4-FFF2-40B4-BE49-F238E27FC236}">
                  <a16:creationId xmlns:a16="http://schemas.microsoft.com/office/drawing/2014/main" id="{A94A7A7E-AE73-ED62-60D3-8997805C7C7C}"/>
                </a:ext>
              </a:extLst>
            </p:cNvPr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" name="Google Shape;67;p16">
              <a:extLst>
                <a:ext uri="{FF2B5EF4-FFF2-40B4-BE49-F238E27FC236}">
                  <a16:creationId xmlns:a16="http://schemas.microsoft.com/office/drawing/2014/main" id="{597635E5-FFB3-9343-1770-F0579C57EA26}"/>
                </a:ext>
              </a:extLst>
            </p:cNvPr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68;p16">
              <a:extLst>
                <a:ext uri="{FF2B5EF4-FFF2-40B4-BE49-F238E27FC236}">
                  <a16:creationId xmlns:a16="http://schemas.microsoft.com/office/drawing/2014/main" id="{1F4CF4D1-E75E-8CF1-8790-83B1572ED981}"/>
                </a:ext>
              </a:extLst>
            </p:cNvPr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" name="Google Shape;69;p16">
              <a:extLst>
                <a:ext uri="{FF2B5EF4-FFF2-40B4-BE49-F238E27FC236}">
                  <a16:creationId xmlns:a16="http://schemas.microsoft.com/office/drawing/2014/main" id="{25899188-6C44-6F45-E04D-A34B0828E036}"/>
                </a:ext>
              </a:extLst>
            </p:cNvPr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2C8EA7C-46B8-1555-2C1B-15A00CB37096}"/>
              </a:ext>
            </a:extLst>
          </p:cNvPr>
          <p:cNvGrpSpPr/>
          <p:nvPr/>
        </p:nvGrpSpPr>
        <p:grpSpPr>
          <a:xfrm>
            <a:off x="1185813" y="2977326"/>
            <a:ext cx="9845508" cy="953650"/>
            <a:chOff x="292100" y="3594100"/>
            <a:chExt cx="12126118" cy="3387785"/>
          </a:xfrm>
        </p:grpSpPr>
        <p:sp>
          <p:nvSpPr>
            <p:cNvPr id="9" name="Google Shape;70;p16">
              <a:extLst>
                <a:ext uri="{FF2B5EF4-FFF2-40B4-BE49-F238E27FC236}">
                  <a16:creationId xmlns:a16="http://schemas.microsoft.com/office/drawing/2014/main" id="{6B263458-BCF5-F548-13F1-478EC512E923}"/>
                </a:ext>
              </a:extLst>
            </p:cNvPr>
            <p:cNvSpPr txBox="1"/>
            <p:nvPr/>
          </p:nvSpPr>
          <p:spPr>
            <a:xfrm>
              <a:off x="302419" y="3597617"/>
              <a:ext cx="12115799" cy="3384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1462" rIns="0" bIns="51462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it-IT" sz="3200" b="1" dirty="0">
                  <a:solidFill>
                    <a:schemeClr val="bg1"/>
                  </a:solidFill>
                </a:rPr>
                <a:t> </a:t>
              </a:r>
            </a:p>
            <a:p>
              <a:pPr algn="ctr">
                <a:buClr>
                  <a:schemeClr val="dk1"/>
                </a:buClr>
                <a:buSzPts val="1100"/>
              </a:pPr>
              <a:endParaRPr lang="it-IT" sz="3200" i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6B5FE71-B61C-E734-6BCD-84D1F358BB05}"/>
                </a:ext>
              </a:extLst>
            </p:cNvPr>
            <p:cNvSpPr/>
            <p:nvPr/>
          </p:nvSpPr>
          <p:spPr>
            <a:xfrm>
              <a:off x="292100" y="3594100"/>
              <a:ext cx="12115800" cy="335040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102" dirty="0"/>
            </a:p>
          </p:txBody>
        </p:sp>
      </p:grp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6C409288-AA55-D917-D5BE-FFE60F1A991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1</a:t>
            </a:fld>
            <a:endParaRPr lang="it-I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F1EC8-4ABD-F219-F842-BCECD824FDF1}"/>
              </a:ext>
            </a:extLst>
          </p:cNvPr>
          <p:cNvSpPr txBox="1"/>
          <p:nvPr/>
        </p:nvSpPr>
        <p:spPr>
          <a:xfrm>
            <a:off x="1194191" y="3169745"/>
            <a:ext cx="962778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it-IT" sz="3200">
                <a:solidFill>
                  <a:schemeClr val="bg1"/>
                </a:solidFill>
              </a:rPr>
              <a:t>🛢️ 1. Descrizione dello strumento: il Petrolio 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41868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6F3D-CA6E-2701-2B24-7412586B60E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074655" y="194955"/>
            <a:ext cx="10279145" cy="6290686"/>
          </a:xfrm>
        </p:spPr>
        <p:txBody>
          <a:bodyPr>
            <a:normAutofit fontScale="92500" lnSpcReduction="20000"/>
          </a:bodyPr>
          <a:lstStyle/>
          <a:p>
            <a:pPr marL="50800" indent="0">
              <a:buNone/>
            </a:pPr>
            <a:endParaRPr lang="it-IT" sz="2400" dirty="0"/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Il petrolio è una commodity energetica tra le più importanti e liquide al mondo. È quotato principalmente in due benchmark:</a:t>
            </a:r>
          </a:p>
          <a:p>
            <a:pPr marL="50800" indent="0">
              <a:buNone/>
            </a:pPr>
            <a:endParaRPr lang="it-IT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WTI (West Texas Intermediate): rappresenta il petrolio leggero americano, scambiato al NYMEX.</a:t>
            </a:r>
          </a:p>
          <a:p>
            <a:pPr marL="50800" indent="0">
              <a:buNone/>
            </a:pPr>
            <a:endParaRPr lang="it-IT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Brent: rappresenta il petrolio estratto nel Mare del Nord, scambiato all’ICE.</a:t>
            </a:r>
          </a:p>
          <a:p>
            <a:pPr marL="50800" indent="0">
              <a:buNone/>
            </a:pPr>
            <a:endParaRPr lang="it-IT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Entrambi sono utilizzati come riferimento globale per i prezzi del petrolio e hanno correlazioni molto strette, anche se con differenze logistiche, di qualità e di costo di trasporto.</a:t>
            </a:r>
          </a:p>
          <a:p>
            <a:pPr marL="50800" indent="0">
              <a:buNone/>
            </a:pPr>
            <a:endParaRPr lang="it-IT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Il petrolio è una materia prima ciclica: risponde a dinamiche di domanda e offerta globali, influenzate da fattori economici, politici, ambientali e tecnologici.</a:t>
            </a:r>
          </a:p>
          <a:p>
            <a:pPr marL="50800" indent="0">
              <a:buNone/>
            </a:pPr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13B3F-DC54-A7C3-7AE3-6D6F8F0D15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2</a:t>
            </a:fld>
            <a:endParaRPr lang="it-IT" dirty="0"/>
          </a:p>
        </p:txBody>
      </p:sp>
      <p:sp>
        <p:nvSpPr>
          <p:cNvPr id="8" name="Google Shape;102;p2">
            <a:extLst>
              <a:ext uri="{FF2B5EF4-FFF2-40B4-BE49-F238E27FC236}">
                <a16:creationId xmlns:a16="http://schemas.microsoft.com/office/drawing/2014/main" id="{1B43FD26-1BBD-3C95-C3F4-7C66E132A145}"/>
              </a:ext>
            </a:extLst>
          </p:cNvPr>
          <p:cNvSpPr/>
          <p:nvPr/>
        </p:nvSpPr>
        <p:spPr>
          <a:xfrm>
            <a:off x="705838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86551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095D-5592-09DE-181F-7A9ABB0B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E545533B-EB77-EF1F-5B35-3A2D780B98DC}"/>
              </a:ext>
            </a:extLst>
          </p:cNvPr>
          <p:cNvSpPr txBox="1"/>
          <p:nvPr/>
        </p:nvSpPr>
        <p:spPr>
          <a:xfrm>
            <a:off x="933254" y="697584"/>
            <a:ext cx="10388783" cy="556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>
              <a:buClr>
                <a:srgbClr val="FF9300"/>
              </a:buClr>
            </a:pPr>
            <a:endParaRPr lang="it-IT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98DAA089-22B1-4805-9787-2B7ACFDDC077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546C36-B544-95E8-73CC-2CAAFBFA56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C3E83-0E03-75BE-9BC3-B89F2573A9E8}"/>
              </a:ext>
            </a:extLst>
          </p:cNvPr>
          <p:cNvSpPr txBox="1"/>
          <p:nvPr/>
        </p:nvSpPr>
        <p:spPr>
          <a:xfrm>
            <a:off x="1357460" y="697583"/>
            <a:ext cx="10096108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000" dirty="0"/>
              <a:t>🌍 </a:t>
            </a:r>
            <a:r>
              <a:rPr lang="it-IT" sz="2000" b="1" dirty="0">
                <a:solidFill>
                  <a:schemeClr val="accent2"/>
                </a:solidFill>
              </a:rPr>
              <a:t>2. Le dinamiche macroeconomiche e socio-politiche che influenzano il petrolio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2.1 Domanda globale: il lato della crescita economica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Crescita economica globale (GDP): Se l’economia mondiale cresce (soprattutto Cina, USA, India), aumenta la domanda di energia e combustibili. Questo spinge al rialzo il prezzo del petrolio.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Produzione industriale e manifatturiera: più fabbriche = più consumo energetico.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Domanda stagionale: ad esempio, in estate negli USA aumenta la domanda per i viaggi su strada (driving season), in inverno per il riscaldamento.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📈 Condizione Long: quando i dati macro mostrano un’economia in espansione → aumento della domanda attesa.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📉 Condizione Short: recessione o rallentamento (es. PMI sotto 50, dati negativi su consumi, disoccupazione in aumento).</a:t>
            </a:r>
          </a:p>
        </p:txBody>
      </p:sp>
    </p:spTree>
    <p:extLst>
      <p:ext uri="{BB962C8B-B14F-4D97-AF65-F5344CB8AC3E}">
        <p14:creationId xmlns:p14="http://schemas.microsoft.com/office/powerpoint/2010/main" val="15543509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45042-EF44-8EA6-717D-79A92869F96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4</a:t>
            </a:fld>
            <a:endParaRPr lang="it-IT" dirty="0"/>
          </a:p>
        </p:txBody>
      </p:sp>
      <p:sp>
        <p:nvSpPr>
          <p:cNvPr id="8" name="Google Shape;102;p2">
            <a:extLst>
              <a:ext uri="{FF2B5EF4-FFF2-40B4-BE49-F238E27FC236}">
                <a16:creationId xmlns:a16="http://schemas.microsoft.com/office/drawing/2014/main" id="{A0F407AB-F70E-F2A8-FC07-197B47D37EC3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A67F3-90A2-580C-02C8-17D49EE5CA12}"/>
              </a:ext>
            </a:extLst>
          </p:cNvPr>
          <p:cNvSpPr txBox="1"/>
          <p:nvPr/>
        </p:nvSpPr>
        <p:spPr>
          <a:xfrm>
            <a:off x="838199" y="235669"/>
            <a:ext cx="10515602" cy="63709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/>
                </a:solidFill>
              </a:rPr>
              <a:t>2.2 Offerta globale: il lato produttivo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Cartello di paesi produttori (Arabia Saudita, Russia, ecc.) che controllano gran parte dell'offerta mondiale. Le decisioni di tagliare o aumentare la produzione muovono in modo potente il mercato.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Produzione USA (shale oil): Gli USA sono diventati i maggiori produttori grazie allo shale oil. Se i dati di produzione (EIA report) aumentano, possono esercitare pressione ribassista.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Scorte settimanali USA (EIA/WAPI): ogni mercoledì l’EIA pubblica le scorte. Aumento delle scorte = offerta in eccesso → prezzi giù; calo delle scorte → prezzi su.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🧠 Osservazione pratica: Se la produzione aumenta e la domanda è costante o in calo → opportunità short. Viceversa, se l’offerta si restringe mentre la domanda cresce → opportunità long.</a:t>
            </a:r>
          </a:p>
        </p:txBody>
      </p:sp>
    </p:spTree>
    <p:extLst>
      <p:ext uri="{BB962C8B-B14F-4D97-AF65-F5344CB8AC3E}">
        <p14:creationId xmlns:p14="http://schemas.microsoft.com/office/powerpoint/2010/main" val="28586570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0B2E-78C0-B023-5573-1C2C8F10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4F162972-853C-FA78-9467-01AD3E1A3408}"/>
              </a:ext>
            </a:extLst>
          </p:cNvPr>
          <p:cNvSpPr txBox="1"/>
          <p:nvPr/>
        </p:nvSpPr>
        <p:spPr>
          <a:xfrm>
            <a:off x="869962" y="1270013"/>
            <a:ext cx="10452075" cy="43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022C1388-1EEC-C900-5D68-7CF0BB246253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0A0A2A-917E-EBB2-169F-96D31C33346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D4991-2EC6-BC09-82C1-CC341FD2219D}"/>
              </a:ext>
            </a:extLst>
          </p:cNvPr>
          <p:cNvSpPr txBox="1"/>
          <p:nvPr/>
        </p:nvSpPr>
        <p:spPr>
          <a:xfrm>
            <a:off x="989814" y="603316"/>
            <a:ext cx="10332223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accent2"/>
                </a:solidFill>
              </a:rPr>
              <a:t>2.3 Geopolitica e conflitti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Conflitti in Medio Oriente: l’area è strategica per la produzione e i trasporti. Qualsiasi tensione (es. Iran, Yemen, attacchi agli impianti, blocchi nello Stretto di Hormuz) genera incertezza → prezzi in rialzo per rischio percepito.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Sanzioni internazionali: ad esempio contro Iran, Venezuela o Russia → riduzione dell’offerta → effetto rialzista.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Eventi climatici (uragani nel Golfo del Messico): impattano sulla capacità produttiva USA temporaneamente.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📈 Condizione Long: escalation di tensioni geopolitiche, attacchi a impianti o petroliere → rischio su offerta futura.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📉 Condizione Short: accordi di pace, apertura di dialoghi diplomatici, fine di sanzioni → aumento atteso della produzione.</a:t>
            </a:r>
          </a:p>
        </p:txBody>
      </p:sp>
    </p:spTree>
    <p:extLst>
      <p:ext uri="{BB962C8B-B14F-4D97-AF65-F5344CB8AC3E}">
        <p14:creationId xmlns:p14="http://schemas.microsoft.com/office/powerpoint/2010/main" val="3868176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1CFA-9043-1A05-DA9B-DB55AA55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1CDC970D-A4E4-BF26-3638-3D4F6C956C31}"/>
              </a:ext>
            </a:extLst>
          </p:cNvPr>
          <p:cNvSpPr txBox="1"/>
          <p:nvPr/>
        </p:nvSpPr>
        <p:spPr>
          <a:xfrm>
            <a:off x="869962" y="1270013"/>
            <a:ext cx="10452075" cy="43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30591F07-8A34-FCFB-0799-156695934856}"/>
              </a:ext>
            </a:extLst>
          </p:cNvPr>
          <p:cNvSpPr/>
          <p:nvPr/>
        </p:nvSpPr>
        <p:spPr>
          <a:xfrm>
            <a:off x="705838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14F446-8635-64B1-E549-C798ECBE1DD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D9B0A-CEFF-567C-D60D-ED6070002829}"/>
              </a:ext>
            </a:extLst>
          </p:cNvPr>
          <p:cNvSpPr txBox="1"/>
          <p:nvPr/>
        </p:nvSpPr>
        <p:spPr>
          <a:xfrm>
            <a:off x="787900" y="527901"/>
            <a:ext cx="10698262" cy="59400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endParaRPr lang="it-IT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b="1" dirty="0">
                <a:solidFill>
                  <a:schemeClr val="accent2"/>
                </a:solidFill>
              </a:rPr>
              <a:t>2.4 Inflazione e politica monetaria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Il petrolio è legato all’inflazione globale. Prezzi alti dell’energia alimentano l’inflazione → le banche centrali alzano i tassi → rallentano l’economia → calo domanda → petrolio giù.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Inoltre, un dollaro forte (USD) tende a far scendere i prezzi del petrolio, essendo quotato in dollari. Inversamente, un dollaro debole sostiene i prezzi.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🔁 Quindi: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DOLLARO SALE → PETROLIO SCENDE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DOLLARO SCENDE → PETROLIO SALE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71148886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BFC0-F73E-1BE3-0BB3-E4952A75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915369DE-8587-0D7D-E3EE-8D879A1C3C46}"/>
              </a:ext>
            </a:extLst>
          </p:cNvPr>
          <p:cNvSpPr txBox="1"/>
          <p:nvPr/>
        </p:nvSpPr>
        <p:spPr>
          <a:xfrm>
            <a:off x="1008668" y="443061"/>
            <a:ext cx="10313369" cy="1138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r>
              <a:rPr lang="it-IT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</a:p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74A22087-61D7-42ED-A3F5-9BD625FDDE07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61E055-1110-D580-F7B7-ED3F398F457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E8E6E-F654-F4F8-77FB-A3D468A30AAB}"/>
              </a:ext>
            </a:extLst>
          </p:cNvPr>
          <p:cNvSpPr txBox="1"/>
          <p:nvPr/>
        </p:nvSpPr>
        <p:spPr>
          <a:xfrm>
            <a:off x="1008668" y="570319"/>
            <a:ext cx="10528481" cy="5539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💼 </a:t>
            </a:r>
            <a:r>
              <a:rPr lang="it-IT" sz="2000" b="1" dirty="0">
                <a:solidFill>
                  <a:schemeClr val="accent2"/>
                </a:solidFill>
              </a:rPr>
              <a:t>3. Come fare trading operativo sul petrolio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📊 </a:t>
            </a:r>
            <a:r>
              <a:rPr lang="it-IT" sz="2000" b="1" dirty="0">
                <a:solidFill>
                  <a:schemeClr val="accent6"/>
                </a:solidFill>
              </a:rPr>
              <a:t>Strategia Long (Acquisto):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Previsione di aumento della domanda (buoni dati macro).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Decisioni OPEC di tagliare la produzione.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Calo scorte settimanali EIA.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Conflitti in Medio Oriente o tensioni geopolitiche.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Debolezza del dollaro USA.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👉 Esempio operativo:</a:t>
            </a: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"Prezzi in area di supporto tecnico, scorte EIA in calo per 3 settimane consecutive, decisione OPEC di tagli → entro long con target successivo livello chiave + trailing stop."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128052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1A83-E101-A8C6-2EAC-C6BE1E32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CF996B2A-D778-F409-7E91-FF1C56A1790E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0FF24E8-874F-6105-6CA1-12B01DF98B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2ACDC-A02F-FE41-9262-88178AD8F4A2}"/>
              </a:ext>
            </a:extLst>
          </p:cNvPr>
          <p:cNvSpPr txBox="1"/>
          <p:nvPr/>
        </p:nvSpPr>
        <p:spPr>
          <a:xfrm>
            <a:off x="989815" y="197963"/>
            <a:ext cx="10717018" cy="63709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dirty="0"/>
              <a:t>📉 </a:t>
            </a:r>
            <a:r>
              <a:rPr lang="it-IT" sz="2400" b="1" dirty="0">
                <a:solidFill>
                  <a:schemeClr val="accent6"/>
                </a:solidFill>
              </a:rPr>
              <a:t>Strategia Short (Vendita):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Dati macro in rallentamento (PMI, consumi).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Aumento della produzione USA o decisioni OPEC di aumento output.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Scorte EIA in aumento.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Diminuzione dei rischi geopolitici.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Rafforzamento del dollaro USA.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👉 Esempio operativo:</a:t>
            </a: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"Prezzi hanno fallito una resistenza tecnica, EIA mostra +6 milioni di barili a sorpresa, dollar index in rally → entro short con primo target su supporto tecnico, stop sopra swing recente."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41461876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DC9F-A835-1C77-4F0B-9F22E6F5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607F8649-D9DF-18DE-5DBB-B226199A3DE6}"/>
              </a:ext>
            </a:extLst>
          </p:cNvPr>
          <p:cNvSpPr txBox="1"/>
          <p:nvPr/>
        </p:nvSpPr>
        <p:spPr>
          <a:xfrm>
            <a:off x="869962" y="1270013"/>
            <a:ext cx="10452075" cy="46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E6CD7134-2769-51F2-32A9-74BB523FECF9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2E1C7FB-E480-FED2-C463-B8B919A4416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96717-89FC-0878-EF40-824925384D80}"/>
              </a:ext>
            </a:extLst>
          </p:cNvPr>
          <p:cNvSpPr txBox="1"/>
          <p:nvPr/>
        </p:nvSpPr>
        <p:spPr>
          <a:xfrm>
            <a:off x="1036948" y="735290"/>
            <a:ext cx="1037891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/>
                </a:solidFill>
              </a:rPr>
              <a:t>🧠 4. Consigli da trader esperto</a:t>
            </a:r>
          </a:p>
          <a:p>
            <a:endParaRPr lang="it-IT" sz="2400" dirty="0"/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Non tradare il petrolio senza sapere cosa fa l’EIA ogni mercoledì.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Tieni sempre d’occhio le dichiarazioni dell’OPEC, le riunioni e i comunicati stampa.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Usa un calendario economico ben settato per USA, Cina e paesi OPEC.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Lavora con livelli tecnici chiari (supporti/resistenze), ma interpreta il contesto macro prima di entrare.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Il petrolio è volatile: gestisci bene la size e usa stop-loss sempre.</a:t>
            </a:r>
          </a:p>
        </p:txBody>
      </p:sp>
    </p:spTree>
    <p:extLst>
      <p:ext uri="{BB962C8B-B14F-4D97-AF65-F5344CB8AC3E}">
        <p14:creationId xmlns:p14="http://schemas.microsoft.com/office/powerpoint/2010/main" val="13872057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E66CA6-854C-D671-DACF-E15CE11B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7" y="0"/>
            <a:ext cx="218630" cy="12631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8D18C-0F8B-F510-A256-9982D5998E33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187777" y="424206"/>
            <a:ext cx="10444899" cy="6165130"/>
          </a:xfrm>
        </p:spPr>
        <p:txBody>
          <a:bodyPr>
            <a:normAutofit fontScale="55000" lnSpcReduction="20000"/>
          </a:bodyPr>
          <a:lstStyle/>
          <a:p>
            <a:pPr marL="50800" indent="0">
              <a:buNone/>
            </a:pPr>
            <a:r>
              <a:rPr lang="it-IT" b="1" dirty="0">
                <a:solidFill>
                  <a:schemeClr val="accent2"/>
                </a:solidFill>
              </a:rPr>
              <a:t>✅ Checklist Operativa Petrolio: LONG / SHORT</a:t>
            </a:r>
          </a:p>
          <a:p>
            <a:pPr marL="50800" indent="0">
              <a:buNone/>
            </a:pPr>
            <a:endParaRPr lang="it-IT" dirty="0"/>
          </a:p>
          <a:p>
            <a:pPr marL="50800" indent="0">
              <a:buNone/>
            </a:pPr>
            <a:r>
              <a:rPr lang="it-IT" dirty="0"/>
              <a:t>🟢 </a:t>
            </a:r>
            <a:r>
              <a:rPr lang="it-IT" b="1" dirty="0">
                <a:solidFill>
                  <a:schemeClr val="accent6"/>
                </a:solidFill>
              </a:rPr>
              <a:t>CONDIZIONI LONG (Acquisto)</a:t>
            </a:r>
          </a:p>
          <a:p>
            <a:pPr marL="50800" indent="0">
              <a:buNone/>
            </a:pPr>
            <a:endParaRPr lang="it-IT" b="1" dirty="0">
              <a:solidFill>
                <a:schemeClr val="accent6"/>
              </a:solidFill>
            </a:endParaRPr>
          </a:p>
          <a:p>
            <a:pPr marL="50800" indent="0">
              <a:buNone/>
            </a:pPr>
            <a:r>
              <a:rPr lang="it-IT" dirty="0"/>
              <a:t>Segna ✔️ se la condizione è presente. Più segni, maggiore la probabilità di successo long.</a:t>
            </a:r>
          </a:p>
          <a:p>
            <a:pPr marL="50800" indent="0">
              <a:buNone/>
            </a:pPr>
            <a:r>
              <a:rPr lang="it-IT" dirty="0"/>
              <a:t>Voce	Descrizione	✔️</a:t>
            </a:r>
          </a:p>
          <a:p>
            <a:pPr marL="50800" indent="0">
              <a:buNone/>
            </a:pPr>
            <a:endParaRPr lang="it-IT" dirty="0"/>
          </a:p>
          <a:p>
            <a:pPr marL="50800" indent="0">
              <a:buNone/>
            </a:pPr>
            <a:r>
              <a:rPr lang="it-IT" dirty="0"/>
              <a:t>📈 Dati macro positivi	                                           PMI manifatturieri in crescita (&gt; 50), PIL in aumento, disoccupazione in calo.	</a:t>
            </a:r>
          </a:p>
          <a:p>
            <a:pPr marL="50800" indent="0">
              <a:buNone/>
            </a:pPr>
            <a:r>
              <a:rPr lang="it-IT" dirty="0"/>
              <a:t>🔋 Domanda stagionale in crescita	Periodo estivo (driving season USA) o invernale (riscaldamento).	</a:t>
            </a:r>
          </a:p>
          <a:p>
            <a:pPr marL="50800" indent="0">
              <a:buNone/>
            </a:pPr>
            <a:r>
              <a:rPr lang="it-IT" dirty="0"/>
              <a:t>🛢️ Taglio produzione OPEC/OPEC+	Dichiarazioni ufficiali o rumors su tagli alla produzione.	</a:t>
            </a:r>
          </a:p>
          <a:p>
            <a:pPr marL="50800" indent="0">
              <a:buNone/>
            </a:pPr>
            <a:r>
              <a:rPr lang="it-IT" dirty="0"/>
              <a:t>📉 Scorte EIA/WAPI in calo	                      Ultimi dati settimanali mostrano riduzione delle scorte.	</a:t>
            </a:r>
          </a:p>
          <a:p>
            <a:pPr marL="50800" indent="0">
              <a:buNone/>
            </a:pPr>
            <a:r>
              <a:rPr lang="it-IT" dirty="0"/>
              <a:t>⚠️ Tensioni geopolitiche	                      Conflitti in aree di produzione o trasporto (Medio Oriente, Hormuz, ecc).	</a:t>
            </a:r>
          </a:p>
          <a:p>
            <a:pPr marL="50800" indent="0">
              <a:buNone/>
            </a:pPr>
            <a:r>
              <a:rPr lang="it-IT" dirty="0"/>
              <a:t>💸 Dollaro debole (DXY in discesa)	Il DXY perde valore → petrolio più economico per paesi non-USD.</a:t>
            </a:r>
          </a:p>
          <a:p>
            <a:pPr marL="50800" indent="0">
              <a:buNone/>
            </a:pPr>
            <a:r>
              <a:rPr lang="it-IT" dirty="0"/>
              <a:t>	</a:t>
            </a:r>
          </a:p>
          <a:p>
            <a:pPr marL="50800" indent="0">
              <a:buNone/>
            </a:pPr>
            <a:r>
              <a:rPr lang="it-IT" dirty="0"/>
              <a:t>📊 Conferma tecnica	Prezzo sopra media mobile, breakout rialzista, RSI &gt; 50.	</a:t>
            </a:r>
          </a:p>
          <a:p>
            <a:pPr marL="50800" indent="0">
              <a:buNone/>
            </a:pPr>
            <a:endParaRPr lang="it-IT" dirty="0"/>
          </a:p>
          <a:p>
            <a:pPr marL="50800" indent="0">
              <a:buNone/>
            </a:pPr>
            <a:r>
              <a:rPr lang="it-IT" dirty="0"/>
              <a:t>👉 Interpretazione:</a:t>
            </a:r>
          </a:p>
          <a:p>
            <a:pPr marL="50800" indent="0">
              <a:buNone/>
            </a:pPr>
            <a:endParaRPr lang="it-IT" dirty="0"/>
          </a:p>
          <a:p>
            <a:pPr marL="50800" indent="0">
              <a:buNone/>
            </a:pPr>
            <a:r>
              <a:rPr lang="it-IT" dirty="0"/>
              <a:t>3–4 segni ✔️ = possibilità di rimbalzo tecnico.</a:t>
            </a:r>
          </a:p>
          <a:p>
            <a:pPr marL="50800" indent="0">
              <a:buNone/>
            </a:pPr>
            <a:endParaRPr lang="it-IT" dirty="0"/>
          </a:p>
          <a:p>
            <a:pPr marL="50800" indent="0">
              <a:buNone/>
            </a:pPr>
            <a:r>
              <a:rPr lang="it-IT" dirty="0"/>
              <a:t>5+ segni ✔️ = condizione macro strutturale per operatività long.</a:t>
            </a:r>
          </a:p>
          <a:p>
            <a:pPr marL="5080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A5116-D7E3-168C-767F-C484E8AACDB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06156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5AEC5-8597-B0F8-5240-A48806FFCD7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11</a:t>
            </a:fld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AAB6E-3461-4193-9AAD-EBA98A68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7" y="0"/>
            <a:ext cx="218630" cy="1263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FE0DE4-D71A-7F16-D30F-774B5DBC5AF5}"/>
              </a:ext>
            </a:extLst>
          </p:cNvPr>
          <p:cNvSpPr txBox="1"/>
          <p:nvPr/>
        </p:nvSpPr>
        <p:spPr>
          <a:xfrm>
            <a:off x="1272619" y="282804"/>
            <a:ext cx="9950234" cy="5755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🔴 </a:t>
            </a:r>
            <a:r>
              <a:rPr lang="it-IT" sz="1600" b="1" dirty="0">
                <a:solidFill>
                  <a:schemeClr val="accent6"/>
                </a:solidFill>
              </a:rPr>
              <a:t>CONDIZIONI SHORT (Vendita)</a:t>
            </a:r>
          </a:p>
          <a:p>
            <a:endParaRPr lang="it-IT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Segna ✔️ se la condizione è presente. Più segni, maggiore la probabilità di successo short.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Voce	Descrizione	✔️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📉 Dati macro negativi	                PIL in rallentamento, PMI sotto 50, disoccupazione in aumento.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🧊 Domanda debole/stagionalità bassa	Periodi tra stagioni, calo industriale o di consumo energetico.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🚀 Aumento produzione USA/OPEC	Dati ufficiali su incremento output (shale oil, decisioni OPEC).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📈 Scorte EIA/WAPI in aumento	Accumulo settimanale anomalo → eccesso di offerta.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🕊️ Allentamento geopolitico	                Fine di sanzioni, trattative diplomatiche, accordi tra produttori.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💵 Dollaro forte (DXY in salita)	Rafforzamento USD → petrolio più caro per acquirenti globali.	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📉 Conferma tecnica	                Prezzo sotto media mobile, rottura supporti, RSI &lt; 50.	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👉 Interpretazione: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3–4 segni ✔️ = potenziale pullback ribassista.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5+ segni ✔️ = condizione macro favorevole per shortare.</a:t>
            </a:r>
          </a:p>
        </p:txBody>
      </p:sp>
    </p:spTree>
    <p:extLst>
      <p:ext uri="{BB962C8B-B14F-4D97-AF65-F5344CB8AC3E}">
        <p14:creationId xmlns:p14="http://schemas.microsoft.com/office/powerpoint/2010/main" val="25150381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44025-35B0-8A2C-468A-0B85C101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120;p4">
            <a:extLst>
              <a:ext uri="{FF2B5EF4-FFF2-40B4-BE49-F238E27FC236}">
                <a16:creationId xmlns:a16="http://schemas.microsoft.com/office/drawing/2014/main" id="{2190CBC5-A8EB-1FA2-6B8A-F6597F87ADE7}"/>
              </a:ext>
            </a:extLst>
          </p:cNvPr>
          <p:cNvGrpSpPr/>
          <p:nvPr/>
        </p:nvGrpSpPr>
        <p:grpSpPr>
          <a:xfrm>
            <a:off x="2928354" y="2590855"/>
            <a:ext cx="6023113" cy="399842"/>
            <a:chOff x="0" y="0"/>
            <a:chExt cx="6023112" cy="399841"/>
          </a:xfrm>
        </p:grpSpPr>
        <p:sp>
          <p:nvSpPr>
            <p:cNvPr id="548" name="Google Shape;121;p4">
              <a:extLst>
                <a:ext uri="{FF2B5EF4-FFF2-40B4-BE49-F238E27FC236}">
                  <a16:creationId xmlns:a16="http://schemas.microsoft.com/office/drawing/2014/main" id="{550330A6-42ED-D48A-106B-03CE82F6E0CC}"/>
                </a:ext>
              </a:extLst>
            </p:cNvPr>
            <p:cNvSpPr/>
            <p:nvPr/>
          </p:nvSpPr>
          <p:spPr>
            <a:xfrm>
              <a:off x="0" y="2335"/>
              <a:ext cx="2680066" cy="1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49" name="Google Shape;122;p4">
              <a:extLst>
                <a:ext uri="{FF2B5EF4-FFF2-40B4-BE49-F238E27FC236}">
                  <a16:creationId xmlns:a16="http://schemas.microsoft.com/office/drawing/2014/main" id="{66AD102A-AE1F-0A9B-CFB5-1B2E4EAF5427}"/>
                </a:ext>
              </a:extLst>
            </p:cNvPr>
            <p:cNvSpPr/>
            <p:nvPr/>
          </p:nvSpPr>
          <p:spPr>
            <a:xfrm>
              <a:off x="3343047" y="6492"/>
              <a:ext cx="2680066" cy="1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50" name="Google Shape;123;p4">
              <a:extLst>
                <a:ext uri="{FF2B5EF4-FFF2-40B4-BE49-F238E27FC236}">
                  <a16:creationId xmlns:a16="http://schemas.microsoft.com/office/drawing/2014/main" id="{5FBEDA90-7ADC-2505-CD78-99C1EF9018C2}"/>
                </a:ext>
              </a:extLst>
            </p:cNvPr>
            <p:cNvSpPr/>
            <p:nvPr/>
          </p:nvSpPr>
          <p:spPr>
            <a:xfrm>
              <a:off x="2676077" y="2336"/>
              <a:ext cx="342985" cy="397505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51" name="Google Shape;124;p4">
              <a:extLst>
                <a:ext uri="{FF2B5EF4-FFF2-40B4-BE49-F238E27FC236}">
                  <a16:creationId xmlns:a16="http://schemas.microsoft.com/office/drawing/2014/main" id="{4BE475AC-72CF-380A-3247-56A0014ECD88}"/>
                </a:ext>
              </a:extLst>
            </p:cNvPr>
            <p:cNvSpPr/>
            <p:nvPr/>
          </p:nvSpPr>
          <p:spPr>
            <a:xfrm flipH="1">
              <a:off x="3009200" y="0"/>
              <a:ext cx="342985" cy="397505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</p:grpSp>
      <p:pic>
        <p:nvPicPr>
          <p:cNvPr id="554" name="Google Shape;126;p4" descr="Google Shape;126;p4">
            <a:extLst>
              <a:ext uri="{FF2B5EF4-FFF2-40B4-BE49-F238E27FC236}">
                <a16:creationId xmlns:a16="http://schemas.microsoft.com/office/drawing/2014/main" id="{A6435554-DF68-8C32-0755-BB70535E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0955" y="6124918"/>
            <a:ext cx="478111" cy="472221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Google Shape;127;p4">
            <a:extLst>
              <a:ext uri="{FF2B5EF4-FFF2-40B4-BE49-F238E27FC236}">
                <a16:creationId xmlns:a16="http://schemas.microsoft.com/office/drawing/2014/main" id="{E947F085-A9E2-5C33-5F18-B92882B3052C}"/>
              </a:ext>
            </a:extLst>
          </p:cNvPr>
          <p:cNvSpPr txBox="1"/>
          <p:nvPr/>
        </p:nvSpPr>
        <p:spPr>
          <a:xfrm>
            <a:off x="553241" y="3230241"/>
            <a:ext cx="11194545" cy="2185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/>
            <a:r>
              <a:rPr lang="it-IT" sz="4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 per il tempo dedicato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3200" i="1" dirty="0">
                <a:solidFill>
                  <a:schemeClr val="bg1"/>
                </a:solidFill>
              </a:rPr>
              <a:t>«Non aspettare il trade perfetto. Prepara te stesso… e il mercato farà il resto»</a:t>
            </a:r>
            <a:endParaRPr lang="en-US" sz="3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F088472-162A-C3A4-517E-96A2DE164A2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12</a:t>
            </a:fld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A32D035B-E3E2-F459-18A3-A3AE0B71836A}"/>
              </a:ext>
            </a:extLst>
          </p:cNvPr>
          <p:cNvGrpSpPr/>
          <p:nvPr/>
        </p:nvGrpSpPr>
        <p:grpSpPr>
          <a:xfrm>
            <a:off x="5165935" y="871376"/>
            <a:ext cx="1507253" cy="1479936"/>
            <a:chOff x="5205046" y="969058"/>
            <a:chExt cx="1507253" cy="1382253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57E9DAE6-B503-6266-0AF2-783E5D8F3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C3C3C3"/>
                </a:clrFrom>
                <a:clrTo>
                  <a:srgbClr val="C3C3C3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68747" y="969058"/>
              <a:ext cx="1220550" cy="1272568"/>
            </a:xfrm>
            <a:prstGeom prst="rect">
              <a:avLst/>
            </a:prstGeom>
          </p:spPr>
        </p:pic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FC856F5-10C5-FEA4-7A89-730FCE9428C4}"/>
                </a:ext>
              </a:extLst>
            </p:cNvPr>
            <p:cNvSpPr/>
            <p:nvPr/>
          </p:nvSpPr>
          <p:spPr>
            <a:xfrm>
              <a:off x="5205046" y="969058"/>
              <a:ext cx="1507253" cy="1382253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24446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8180</TotalTime>
  <Words>2909</Words>
  <Application>Microsoft Office PowerPoint</Application>
  <PresentationFormat>Widescreen</PresentationFormat>
  <Paragraphs>201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michaelagenova196</dc:creator>
  <cp:lastModifiedBy>WakeUpCall</cp:lastModifiedBy>
  <cp:revision>296</cp:revision>
  <cp:lastPrinted>2025-01-24T17:19:37Z</cp:lastPrinted>
  <dcterms:modified xsi:type="dcterms:W3CDTF">2025-07-24T21:16:12Z</dcterms:modified>
</cp:coreProperties>
</file>