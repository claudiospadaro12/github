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2" r:id="rId9"/>
    <p:sldId id="263" r:id="rId10"/>
    <p:sldId id="281" r:id="rId11"/>
    <p:sldId id="269" r:id="rId12"/>
    <p:sldId id="288" r:id="rId13"/>
    <p:sldId id="282" r:id="rId14"/>
    <p:sldId id="280" r:id="rId15"/>
    <p:sldId id="265" r:id="rId16"/>
    <p:sldId id="266" r:id="rId17"/>
    <p:sldId id="267" r:id="rId18"/>
    <p:sldId id="268" r:id="rId19"/>
    <p:sldId id="270" r:id="rId20"/>
    <p:sldId id="286" r:id="rId21"/>
    <p:sldId id="271" r:id="rId22"/>
    <p:sldId id="272" r:id="rId23"/>
    <p:sldId id="273" r:id="rId24"/>
    <p:sldId id="283" r:id="rId25"/>
    <p:sldId id="284" r:id="rId26"/>
    <p:sldId id="287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a2a2fe9968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2a2a2fe9968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a9553e63ff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a9553e63ff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9553e63ff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2a9553e63ff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b6343429c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b6343429c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b6343429c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2b6343429c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b6343429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b6343429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8CB421C7-362E-5507-AB1D-5D003EBF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9553e63ff_0_281:notes">
            <a:extLst>
              <a:ext uri="{FF2B5EF4-FFF2-40B4-BE49-F238E27FC236}">
                <a16:creationId xmlns:a16="http://schemas.microsoft.com/office/drawing/2014/main" id="{3924B811-1D78-0EE1-386C-2BC8F23C3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2a9553e63ff_0_281:notes">
            <a:extLst>
              <a:ext uri="{FF2B5EF4-FFF2-40B4-BE49-F238E27FC236}">
                <a16:creationId xmlns:a16="http://schemas.microsoft.com/office/drawing/2014/main" id="{BFC600BF-6E42-C869-643A-DA628FBBE9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4365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9553e63ff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2a9553e63ff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b6343429c1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b6343429c1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19A505AC-EBFD-D736-8FCF-4CCA2BD4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a9553e63ff_0_363:notes">
            <a:extLst>
              <a:ext uri="{FF2B5EF4-FFF2-40B4-BE49-F238E27FC236}">
                <a16:creationId xmlns:a16="http://schemas.microsoft.com/office/drawing/2014/main" id="{B81F09AE-BC16-B6F7-287E-A955C230B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a9553e63ff_0_363:notes">
            <a:extLst>
              <a:ext uri="{FF2B5EF4-FFF2-40B4-BE49-F238E27FC236}">
                <a16:creationId xmlns:a16="http://schemas.microsoft.com/office/drawing/2014/main" id="{D3EEA250-EE48-EAD0-8AD9-45E0903279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0287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95879DF6-9AD0-F6FF-5E86-6055680BD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b6343429c1_0_89:notes">
            <a:extLst>
              <a:ext uri="{FF2B5EF4-FFF2-40B4-BE49-F238E27FC236}">
                <a16:creationId xmlns:a16="http://schemas.microsoft.com/office/drawing/2014/main" id="{C71E5B5E-CB69-F528-DBAF-DFFC89EA50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2b6343429c1_0_89:notes">
            <a:extLst>
              <a:ext uri="{FF2B5EF4-FFF2-40B4-BE49-F238E27FC236}">
                <a16:creationId xmlns:a16="http://schemas.microsoft.com/office/drawing/2014/main" id="{890244B3-EAF9-FE2E-9E32-6598E8404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8902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4E451D4B-1235-D498-4138-B40FA272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b6343429c1_0_89:notes">
            <a:extLst>
              <a:ext uri="{FF2B5EF4-FFF2-40B4-BE49-F238E27FC236}">
                <a16:creationId xmlns:a16="http://schemas.microsoft.com/office/drawing/2014/main" id="{3FB4B598-CDCE-FBBB-4CF2-AA851B9E12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2b6343429c1_0_89:notes">
            <a:extLst>
              <a:ext uri="{FF2B5EF4-FFF2-40B4-BE49-F238E27FC236}">
                <a16:creationId xmlns:a16="http://schemas.microsoft.com/office/drawing/2014/main" id="{4D57C519-955D-C373-B6CE-5D988BBF0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2910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4529297-959D-E7A1-BA69-1EDBD8C10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9553e63ff_0_281:notes">
            <a:extLst>
              <a:ext uri="{FF2B5EF4-FFF2-40B4-BE49-F238E27FC236}">
                <a16:creationId xmlns:a16="http://schemas.microsoft.com/office/drawing/2014/main" id="{2C55BC08-DE7F-37D5-C081-5DE8EC5DB9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2a9553e63ff_0_281:notes">
            <a:extLst>
              <a:ext uri="{FF2B5EF4-FFF2-40B4-BE49-F238E27FC236}">
                <a16:creationId xmlns:a16="http://schemas.microsoft.com/office/drawing/2014/main" id="{DE1CFCEC-342B-EC16-5D5E-E05918A1E5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94732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F65FEFF-BADA-771A-E3AD-72F32D61C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b6343429c1_0_76:notes">
            <a:extLst>
              <a:ext uri="{FF2B5EF4-FFF2-40B4-BE49-F238E27FC236}">
                <a16:creationId xmlns:a16="http://schemas.microsoft.com/office/drawing/2014/main" id="{D927131C-76CE-47E1-16AE-C5515D2F7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2b6343429c1_0_76:notes">
            <a:extLst>
              <a:ext uri="{FF2B5EF4-FFF2-40B4-BE49-F238E27FC236}">
                <a16:creationId xmlns:a16="http://schemas.microsoft.com/office/drawing/2014/main" id="{7400734A-230A-569E-1997-05669E9A45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5937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b6343429c1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2b6343429c1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a9553e63ff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a9553e63ff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b6343429c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2b6343429c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a9553e63ff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2a9553e63ff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b6343429c1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2b6343429c1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F7D5D948-A61B-1F09-CB6C-58DDB7CA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b6343429c1_0_96:notes">
            <a:extLst>
              <a:ext uri="{FF2B5EF4-FFF2-40B4-BE49-F238E27FC236}">
                <a16:creationId xmlns:a16="http://schemas.microsoft.com/office/drawing/2014/main" id="{BC21B7AC-C0CB-ABFF-E30B-8DFF04CDC5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2b6343429c1_0_96:notes">
            <a:extLst>
              <a:ext uri="{FF2B5EF4-FFF2-40B4-BE49-F238E27FC236}">
                <a16:creationId xmlns:a16="http://schemas.microsoft.com/office/drawing/2014/main" id="{C3EBB016-7B59-CCCC-316D-8DAB86626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2553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b6343429c1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2b6343429c1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b6343429c1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b6343429c1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b6343429c1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b6343429c1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02E2F1B2-50C0-CC96-9469-AAA6A2AC7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b6343429c1_0_63:notes">
            <a:extLst>
              <a:ext uri="{FF2B5EF4-FFF2-40B4-BE49-F238E27FC236}">
                <a16:creationId xmlns:a16="http://schemas.microsoft.com/office/drawing/2014/main" id="{AD3F99EA-CF99-68E0-EE27-EF474A095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b6343429c1_0_63:notes">
            <a:extLst>
              <a:ext uri="{FF2B5EF4-FFF2-40B4-BE49-F238E27FC236}">
                <a16:creationId xmlns:a16="http://schemas.microsoft.com/office/drawing/2014/main" id="{213BF439-0DAE-143C-83FD-86F949FA7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32331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A7901683-06A5-D0DA-3E45-6D3BCCBA5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b6343429c1_0_63:notes">
            <a:extLst>
              <a:ext uri="{FF2B5EF4-FFF2-40B4-BE49-F238E27FC236}">
                <a16:creationId xmlns:a16="http://schemas.microsoft.com/office/drawing/2014/main" id="{EE41A786-D54E-97AE-1EEC-B899FD114F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b6343429c1_0_63:notes">
            <a:extLst>
              <a:ext uri="{FF2B5EF4-FFF2-40B4-BE49-F238E27FC236}">
                <a16:creationId xmlns:a16="http://schemas.microsoft.com/office/drawing/2014/main" id="{D3C528EA-4880-2F56-DD8B-27FF1335BB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01546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093E3760-681D-41CE-DF05-10AC8873B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b6343429c1_0_127:notes">
            <a:extLst>
              <a:ext uri="{FF2B5EF4-FFF2-40B4-BE49-F238E27FC236}">
                <a16:creationId xmlns:a16="http://schemas.microsoft.com/office/drawing/2014/main" id="{1A02DF1D-186D-F7F1-9C47-12ED00D7F6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b6343429c1_0_127:notes">
            <a:extLst>
              <a:ext uri="{FF2B5EF4-FFF2-40B4-BE49-F238E27FC236}">
                <a16:creationId xmlns:a16="http://schemas.microsoft.com/office/drawing/2014/main" id="{BB8007AC-282F-0952-7690-86A3918AF4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8838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1008450" y="2197665"/>
            <a:ext cx="71271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530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2" name="Google Shape;5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 1">
  <p:cSld name="TITLE_AND_BODY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286203" y="4800311"/>
            <a:ext cx="229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OBJECT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471775" y="0"/>
            <a:ext cx="119100" cy="943500"/>
          </a:xfrm>
          <a:prstGeom prst="rect">
            <a:avLst/>
          </a:prstGeom>
          <a:solidFill>
            <a:srgbClr val="F68F0D"/>
          </a:solidFill>
          <a:ln>
            <a:noFill/>
          </a:ln>
        </p:spPr>
        <p:txBody>
          <a:bodyPr spcFirstLastPara="1" wrap="square" lIns="44175" tIns="44175" rIns="44175" bIns="44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subTitle" idx="1"/>
          </p:nvPr>
        </p:nvSpPr>
        <p:spPr>
          <a:xfrm>
            <a:off x="725425" y="566473"/>
            <a:ext cx="67413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3400"/>
              <a:buFont typeface="Calibri"/>
              <a:buNone/>
              <a:defRPr sz="340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398875" y="4735613"/>
            <a:ext cx="5006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b="1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COMPRARE CASA É SBAGLIATO</a:t>
            </a:r>
            <a:endParaRPr sz="900" b="1">
              <a:solidFill>
                <a:srgbClr val="F68F0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8F0D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3650" y="418950"/>
            <a:ext cx="2956675" cy="74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16"/>
          <p:cNvGrpSpPr/>
          <p:nvPr/>
        </p:nvGrpSpPr>
        <p:grpSpPr>
          <a:xfrm>
            <a:off x="1560601" y="1466205"/>
            <a:ext cx="6022793" cy="399836"/>
            <a:chOff x="1828800" y="2092988"/>
            <a:chExt cx="8219999" cy="399836"/>
          </a:xfrm>
        </p:grpSpPr>
        <p:cxnSp>
          <p:nvCxnSpPr>
            <p:cNvPr id="66" name="Google Shape;66;p16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7" name="Google Shape;67;p16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" name="Google Shape;68;p16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" name="Google Shape;69;p16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0" name="Google Shape;70;p16"/>
          <p:cNvSpPr txBox="1"/>
          <p:nvPr/>
        </p:nvSpPr>
        <p:spPr>
          <a:xfrm>
            <a:off x="4487" y="2334400"/>
            <a:ext cx="9135000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5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PIANO DI TRADING </a:t>
            </a:r>
            <a:br>
              <a:rPr lang="it-IT" sz="5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-IT" sz="5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APERTURA EUROPEA</a:t>
            </a:r>
            <a:endParaRPr sz="4400" i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751625" y="4151575"/>
            <a:ext cx="776730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Forex Trading Diary</a:t>
            </a:r>
            <a:br>
              <a:rPr lang="it" sz="2200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 sz="2200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Emiliano Monza</a:t>
            </a:r>
            <a:endParaRPr sz="2200" b="0" i="1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442500" y="2048400"/>
            <a:ext cx="8259000" cy="1046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3400" b="1"/>
              <a:t>PER DEFINIZIONE!</a:t>
            </a:r>
            <a:endParaRPr sz="3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/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17"/>
          <p:cNvGrpSpPr/>
          <p:nvPr/>
        </p:nvGrpSpPr>
        <p:grpSpPr>
          <a:xfrm>
            <a:off x="1560601" y="1466205"/>
            <a:ext cx="6022793" cy="399836"/>
            <a:chOff x="1828800" y="2092988"/>
            <a:chExt cx="8219999" cy="399836"/>
          </a:xfrm>
        </p:grpSpPr>
        <p:cxnSp>
          <p:nvCxnSpPr>
            <p:cNvPr id="80" name="Google Shape;80;p17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1" name="Google Shape;81;p17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2" name="Google Shape;82;p17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3" name="Google Shape;83;p17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4" name="Google Shape;84;p17"/>
          <p:cNvSpPr txBox="1"/>
          <p:nvPr/>
        </p:nvSpPr>
        <p:spPr>
          <a:xfrm>
            <a:off x="786225" y="2797150"/>
            <a:ext cx="7767300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 b="0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L’apertura dei mercati Europei viene tradata alle ore 9:00 del mattino mettendo a confronto gli indici di riferimento :</a:t>
            </a:r>
            <a:br>
              <a:rPr lang="it" sz="2200" b="0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 sz="2200" b="0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D30EUR(Dax Indice Tedesco) in correlazione con il 225JPY (Indice Giapponese) e con l’SPXUSD( indice di riferimento americano).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b="0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it" sz="2200" b="0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l 225JPY, influenza l’SPXUSD che influenza a sua volta il D30EUR.</a:t>
            </a:r>
            <a:endParaRPr sz="2200" b="0" i="0" u="none" strike="noStrike" cap="none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8F0D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8"/>
          <p:cNvGrpSpPr/>
          <p:nvPr/>
        </p:nvGrpSpPr>
        <p:grpSpPr>
          <a:xfrm>
            <a:off x="1560601" y="1466205"/>
            <a:ext cx="6022793" cy="399836"/>
            <a:chOff x="1828800" y="2092988"/>
            <a:chExt cx="8219999" cy="399836"/>
          </a:xfrm>
        </p:grpSpPr>
        <p:cxnSp>
          <p:nvCxnSpPr>
            <p:cNvPr id="90" name="Google Shape;90;p18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" name="Google Shape;91;p18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2" name="Google Shape;92;p18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3" name="Google Shape;93;p18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0" y="2243100"/>
            <a:ext cx="9135000" cy="8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lang="it-IT" sz="47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ELEMENTI DA TENERE NEL GRAFICO</a:t>
            </a:r>
            <a:endParaRPr sz="47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19"/>
          <p:cNvGrpSpPr/>
          <p:nvPr/>
        </p:nvGrpSpPr>
        <p:grpSpPr>
          <a:xfrm>
            <a:off x="1560603" y="441802"/>
            <a:ext cx="6022793" cy="399836"/>
            <a:chOff x="1828800" y="2092988"/>
            <a:chExt cx="8219999" cy="399836"/>
          </a:xfrm>
        </p:grpSpPr>
        <p:cxnSp>
          <p:nvCxnSpPr>
            <p:cNvPr id="105" name="Google Shape;105;p19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6" name="Google Shape;106;p19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7" name="Google Shape;107;p19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8" name="Google Shape;108;p19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09" name="Google Shape;109;p19"/>
          <p:cNvSpPr txBox="1"/>
          <p:nvPr/>
        </p:nvSpPr>
        <p:spPr>
          <a:xfrm>
            <a:off x="191953" y="564295"/>
            <a:ext cx="3147110" cy="5047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b="1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it-IT" b="1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it" b="1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in MULTIPIVOT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- classic b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- Fibonacci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- %Custom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" b="0" i="0" u="none" strike="noStrike" cap="none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SUPER TREND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multiplier</a:t>
            </a:r>
            <a:r>
              <a:rPr lang="it-IT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3.0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multiplier</a:t>
            </a:r>
            <a:r>
              <a:rPr lang="it" b="0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3.5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multiplier</a:t>
            </a:r>
            <a:r>
              <a:rPr lang="it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2.5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solidFill>
                  <a:srgbClr val="3A3838"/>
                </a:solidFill>
                <a:latin typeface="Calibri"/>
                <a:cs typeface="Calibri"/>
                <a:sym typeface="Calibri"/>
              </a:rPr>
              <a:t>MEDIA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solidFill>
                  <a:srgbClr val="3A3838"/>
                </a:solidFill>
                <a:latin typeface="Calibri"/>
                <a:cs typeface="Calibri"/>
                <a:sym typeface="Calibri"/>
              </a:rPr>
              <a:t>89 esponenziale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solidFill>
                  <a:srgbClr val="3A3838"/>
                </a:solidFill>
                <a:latin typeface="Calibri"/>
                <a:cs typeface="Calibri"/>
                <a:sym typeface="Calibri"/>
              </a:rPr>
              <a:t>100 esponenziale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solidFill>
                  <a:srgbClr val="3A3838"/>
                </a:solidFill>
                <a:latin typeface="Calibri"/>
                <a:cs typeface="Calibri"/>
                <a:sym typeface="Calibri"/>
              </a:rPr>
              <a:t>200 esponenziale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solidFill>
                  <a:srgbClr val="3A3838"/>
                </a:solidFill>
                <a:latin typeface="Calibri"/>
                <a:cs typeface="Calibri"/>
                <a:sym typeface="Calibri"/>
              </a:rPr>
              <a:t>14 esponenziale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" dirty="0">
              <a:solidFill>
                <a:srgbClr val="3A3838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solidFill>
                  <a:srgbClr val="3A3838"/>
                </a:solidFill>
                <a:latin typeface="Calibri"/>
                <a:cs typeface="Calibri"/>
                <a:sym typeface="Calibri"/>
              </a:rPr>
              <a:t>su Time Frame inferiori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solidFill>
                  <a:srgbClr val="3A3838"/>
                </a:solidFill>
                <a:latin typeface="Calibri"/>
                <a:cs typeface="Calibri"/>
                <a:sym typeface="Calibri"/>
              </a:rPr>
              <a:t>QQ Opposing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" b="1" dirty="0">
              <a:solidFill>
                <a:srgbClr val="3A3838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solidFill>
                  <a:srgbClr val="3A3838"/>
                </a:solidFill>
                <a:latin typeface="Calibri"/>
                <a:cs typeface="Calibri"/>
                <a:sym typeface="Calibri"/>
              </a:rPr>
              <a:t>SEPARATORE DI PERIODO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" b="0" i="0" u="none" strike="noStrike" cap="none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0D1D16A-7651-6861-DAF8-9C72A35AC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140" y="839301"/>
            <a:ext cx="5162480" cy="38559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8F0D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20"/>
          <p:cNvGrpSpPr/>
          <p:nvPr/>
        </p:nvGrpSpPr>
        <p:grpSpPr>
          <a:xfrm>
            <a:off x="1560601" y="1466205"/>
            <a:ext cx="6022793" cy="399836"/>
            <a:chOff x="1828800" y="2092988"/>
            <a:chExt cx="8219999" cy="399836"/>
          </a:xfrm>
        </p:grpSpPr>
        <p:cxnSp>
          <p:nvCxnSpPr>
            <p:cNvPr id="115" name="Google Shape;115;p20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" name="Google Shape;116;p20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20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8" name="Google Shape;118;p20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/>
        </p:nvSpPr>
        <p:spPr>
          <a:xfrm>
            <a:off x="0" y="2243100"/>
            <a:ext cx="91350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lang="it" sz="4800" dirty="0">
                <a:solidFill>
                  <a:srgbClr val="FFFFFF"/>
                </a:solidFill>
                <a:latin typeface="Calibri"/>
                <a:ea typeface="Arial"/>
                <a:cs typeface="Calibri"/>
                <a:sym typeface="Calibri"/>
              </a:rPr>
              <a:t>SCHERMATA OPERATIVA</a:t>
            </a:r>
            <a:endParaRPr sz="4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9001" y="3104995"/>
            <a:ext cx="9135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000" b="1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21"/>
          <p:cNvGrpSpPr/>
          <p:nvPr/>
        </p:nvGrpSpPr>
        <p:grpSpPr>
          <a:xfrm>
            <a:off x="1739355" y="160846"/>
            <a:ext cx="6022793" cy="399836"/>
            <a:chOff x="1828800" y="2092988"/>
            <a:chExt cx="8219999" cy="399836"/>
          </a:xfrm>
        </p:grpSpPr>
        <p:cxnSp>
          <p:nvCxnSpPr>
            <p:cNvPr id="130" name="Google Shape;130;p21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1" name="Google Shape;131;p21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2" name="Google Shape;132;p21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3" name="Google Shape;133;p21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5" name="Immagine 4">
            <a:extLst>
              <a:ext uri="{FF2B5EF4-FFF2-40B4-BE49-F238E27FC236}">
                <a16:creationId xmlns:a16="http://schemas.microsoft.com/office/drawing/2014/main" id="{ECBD5432-637A-81E7-1A71-D4B1516084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44" y="562538"/>
            <a:ext cx="8792801" cy="40199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73F64E37-044B-CAFF-BA3A-37D5D1666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>
            <a:extLst>
              <a:ext uri="{FF2B5EF4-FFF2-40B4-BE49-F238E27FC236}">
                <a16:creationId xmlns:a16="http://schemas.microsoft.com/office/drawing/2014/main" id="{6F5B007D-BB82-12BB-36DB-6A2D0967F073}"/>
              </a:ext>
            </a:extLst>
          </p:cNvPr>
          <p:cNvSpPr txBox="1"/>
          <p:nvPr/>
        </p:nvSpPr>
        <p:spPr>
          <a:xfrm>
            <a:off x="520379" y="533150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SETUP GRAFICO</a:t>
            </a: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4">
            <a:extLst>
              <a:ext uri="{FF2B5EF4-FFF2-40B4-BE49-F238E27FC236}">
                <a16:creationId xmlns:a16="http://schemas.microsoft.com/office/drawing/2014/main" id="{93CC9B9B-D510-A600-8EA4-C0AE92D1290E}"/>
              </a:ext>
            </a:extLst>
          </p:cNvPr>
          <p:cNvSpPr txBox="1"/>
          <p:nvPr/>
        </p:nvSpPr>
        <p:spPr>
          <a:xfrm>
            <a:off x="765600" y="1546725"/>
            <a:ext cx="7767300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- Ogni strumento operativo su 3 Time Frame: M15, H1, H4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- Sul grafico a Time Frame Daily inserisco i canali di regressione PTE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- Inserisco nel grafico due valute da tenere monitorate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- E’ possibile impostare colori di sfondo differenti per le valute e sul grafico Daily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- Su Indici correlati tengo solo la struttura del mercato, senza Multipivot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4">
            <a:extLst>
              <a:ext uri="{FF2B5EF4-FFF2-40B4-BE49-F238E27FC236}">
                <a16:creationId xmlns:a16="http://schemas.microsoft.com/office/drawing/2014/main" id="{13C10F90-D551-4BC8-0FA5-E11CC3F05CA2}"/>
              </a:ext>
            </a:extLst>
          </p:cNvPr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3230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8F0D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22"/>
          <p:cNvGrpSpPr/>
          <p:nvPr/>
        </p:nvGrpSpPr>
        <p:grpSpPr>
          <a:xfrm>
            <a:off x="1560601" y="1466205"/>
            <a:ext cx="6022793" cy="399836"/>
            <a:chOff x="1828800" y="2092988"/>
            <a:chExt cx="8219999" cy="399836"/>
          </a:xfrm>
        </p:grpSpPr>
        <p:cxnSp>
          <p:nvCxnSpPr>
            <p:cNvPr id="140" name="Google Shape;140;p22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1" name="Google Shape;141;p22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2" name="Google Shape;142;p22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3" name="Google Shape;143;p22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144" name="Google Shape;14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0" y="2243100"/>
            <a:ext cx="9135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lang="it" sz="4800" b="0" i="0" u="none" strike="noStrike" cap="none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ROUT</a:t>
            </a:r>
            <a:r>
              <a:rPr lang="it" sz="4800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INE</a:t>
            </a:r>
            <a:endParaRPr sz="4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9001" y="3104995"/>
            <a:ext cx="9135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000" b="1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" name="Google Shape;154;p23"/>
          <p:cNvGrpSpPr/>
          <p:nvPr/>
        </p:nvGrpSpPr>
        <p:grpSpPr>
          <a:xfrm>
            <a:off x="1560603" y="331799"/>
            <a:ext cx="6022793" cy="399836"/>
            <a:chOff x="1828800" y="2092988"/>
            <a:chExt cx="8219999" cy="399836"/>
          </a:xfrm>
        </p:grpSpPr>
        <p:cxnSp>
          <p:nvCxnSpPr>
            <p:cNvPr id="155" name="Google Shape;155;p23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6" name="Google Shape;156;p23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7" name="Google Shape;157;p23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8" name="Google Shape;158;p23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59" name="Google Shape;159;p23"/>
          <p:cNvSpPr txBox="1"/>
          <p:nvPr/>
        </p:nvSpPr>
        <p:spPr>
          <a:xfrm>
            <a:off x="768305" y="968350"/>
            <a:ext cx="7767300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 b="1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DOMENICA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 b="0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Traccia supporti e resisten</a:t>
            </a:r>
            <a:r>
              <a:rPr lang="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ze con la tecnica di Larry Williams nei Time Frame: d1 – W1 – M su Indici dove andremo ad operare.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"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MONTHLY : Colore Azzurro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WEEKLY: Colore Arancione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DAILY: Colore Verde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E9473F0F-F25F-4125-4294-6F1C87375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>
            <a:extLst>
              <a:ext uri="{FF2B5EF4-FFF2-40B4-BE49-F238E27FC236}">
                <a16:creationId xmlns:a16="http://schemas.microsoft.com/office/drawing/2014/main" id="{36682274-A7DB-DBEF-EF78-A24BD9DE5D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7910" y="731572"/>
            <a:ext cx="8259000" cy="5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3400" dirty="0"/>
              <a:t>Rottura dei massimi degli Indici</a:t>
            </a:r>
            <a:endParaRPr sz="3400" dirty="0"/>
          </a:p>
        </p:txBody>
      </p:sp>
      <p:pic>
        <p:nvPicPr>
          <p:cNvPr id="179" name="Google Shape;179;p26">
            <a:extLst>
              <a:ext uri="{FF2B5EF4-FFF2-40B4-BE49-F238E27FC236}">
                <a16:creationId xmlns:a16="http://schemas.microsoft.com/office/drawing/2014/main" id="{38BF99C3-7DA9-0EB0-C23D-31B0AC2511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6">
            <a:extLst>
              <a:ext uri="{FF2B5EF4-FFF2-40B4-BE49-F238E27FC236}">
                <a16:creationId xmlns:a16="http://schemas.microsoft.com/office/drawing/2014/main" id="{A202BECF-DEB0-516C-090E-A32BF06B699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26">
            <a:extLst>
              <a:ext uri="{FF2B5EF4-FFF2-40B4-BE49-F238E27FC236}">
                <a16:creationId xmlns:a16="http://schemas.microsoft.com/office/drawing/2014/main" id="{A245DC20-CC57-12F4-4860-4DF4499F7A43}"/>
              </a:ext>
            </a:extLst>
          </p:cNvPr>
          <p:cNvGrpSpPr/>
          <p:nvPr/>
        </p:nvGrpSpPr>
        <p:grpSpPr>
          <a:xfrm>
            <a:off x="1558307" y="303702"/>
            <a:ext cx="6022793" cy="399836"/>
            <a:chOff x="1828800" y="2092988"/>
            <a:chExt cx="8219999" cy="399836"/>
          </a:xfrm>
        </p:grpSpPr>
        <p:cxnSp>
          <p:nvCxnSpPr>
            <p:cNvPr id="182" name="Google Shape;182;p26">
              <a:extLst>
                <a:ext uri="{FF2B5EF4-FFF2-40B4-BE49-F238E27FC236}">
                  <a16:creationId xmlns:a16="http://schemas.microsoft.com/office/drawing/2014/main" id="{F916AC84-4313-069C-62B8-0B36A50D1B35}"/>
                </a:ext>
              </a:extLst>
            </p:cNvPr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3" name="Google Shape;183;p26">
              <a:extLst>
                <a:ext uri="{FF2B5EF4-FFF2-40B4-BE49-F238E27FC236}">
                  <a16:creationId xmlns:a16="http://schemas.microsoft.com/office/drawing/2014/main" id="{E866A6A8-8579-F0DD-514C-70FBE63644C6}"/>
                </a:ext>
              </a:extLst>
            </p:cNvPr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4" name="Google Shape;184;p26">
              <a:extLst>
                <a:ext uri="{FF2B5EF4-FFF2-40B4-BE49-F238E27FC236}">
                  <a16:creationId xmlns:a16="http://schemas.microsoft.com/office/drawing/2014/main" id="{35FD98CB-322C-9D69-7278-7C2CF0D8C8A1}"/>
                </a:ext>
              </a:extLst>
            </p:cNvPr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5" name="Google Shape;185;p26">
              <a:extLst>
                <a:ext uri="{FF2B5EF4-FFF2-40B4-BE49-F238E27FC236}">
                  <a16:creationId xmlns:a16="http://schemas.microsoft.com/office/drawing/2014/main" id="{F6C6F397-EA78-4732-772A-C1290C57C4CC}"/>
                </a:ext>
              </a:extLst>
            </p:cNvPr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BE014F0-2876-9496-2983-6569698AE982}"/>
              </a:ext>
            </a:extLst>
          </p:cNvPr>
          <p:cNvSpPr txBox="1"/>
          <p:nvPr/>
        </p:nvSpPr>
        <p:spPr>
          <a:xfrm>
            <a:off x="2022983" y="1282806"/>
            <a:ext cx="510832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Alla rottura dei massimi sul </a:t>
            </a:r>
            <a:r>
              <a:rPr lang="it-IT" sz="1100" dirty="0" err="1"/>
              <a:t>Monthly</a:t>
            </a:r>
            <a:r>
              <a:rPr lang="it-IT" sz="1100" dirty="0"/>
              <a:t>, possono scattare sia gli ordini di chiusura che le aperture di posizioni istituzionali che scattano in automatico.</a:t>
            </a:r>
          </a:p>
          <a:p>
            <a:endParaRPr lang="it-IT" sz="1100" dirty="0"/>
          </a:p>
          <a:p>
            <a:r>
              <a:rPr lang="it-IT" sz="1100" dirty="0"/>
              <a:t>E’ normale quindi che dopo la candela della rottura dei massimi ci sia una candela di volatilità.</a:t>
            </a:r>
          </a:p>
          <a:p>
            <a:endParaRPr lang="it-IT" sz="1100" dirty="0"/>
          </a:p>
          <a:p>
            <a:r>
              <a:rPr lang="it-IT" sz="1100" dirty="0"/>
              <a:t>Scendiamo poi sul Weekly e possiamo valutare grazie alla strategia di </a:t>
            </a:r>
            <a:r>
              <a:rPr lang="it-IT" sz="1100" dirty="0" err="1"/>
              <a:t>Breakin</a:t>
            </a:r>
            <a:r>
              <a:rPr lang="it-IT" sz="1100" dirty="0"/>
              <a:t> Breakout PTE, dove la candela apre totalmente sopra o totalmente sotto per seguirne la direzione.</a:t>
            </a:r>
          </a:p>
          <a:p>
            <a:r>
              <a:rPr lang="it-IT" sz="1100" dirty="0"/>
              <a:t>Valuto così, la struttura del mercato.</a:t>
            </a:r>
          </a:p>
          <a:p>
            <a:endParaRPr lang="it-IT" sz="1100" dirty="0"/>
          </a:p>
          <a:p>
            <a:r>
              <a:rPr lang="it-IT" sz="1100" dirty="0"/>
              <a:t>Quando si lavora sui massimi o minimi di uno strumento, vado a tracciare sul Weekly i massimi e minimi della candela precedente.</a:t>
            </a:r>
          </a:p>
          <a:p>
            <a:endParaRPr lang="it-IT" sz="1100" dirty="0"/>
          </a:p>
          <a:p>
            <a:r>
              <a:rPr lang="it-IT" sz="1100" dirty="0"/>
              <a:t>Scendiamo sul Daily per verificare eventuali pattern di candele. </a:t>
            </a:r>
          </a:p>
        </p:txBody>
      </p:sp>
    </p:spTree>
    <p:extLst>
      <p:ext uri="{BB962C8B-B14F-4D97-AF65-F5344CB8AC3E}">
        <p14:creationId xmlns:p14="http://schemas.microsoft.com/office/powerpoint/2010/main" val="2515958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CF775369-F337-4101-95A4-495E005FA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>
            <a:extLst>
              <a:ext uri="{FF2B5EF4-FFF2-40B4-BE49-F238E27FC236}">
                <a16:creationId xmlns:a16="http://schemas.microsoft.com/office/drawing/2014/main" id="{4896A961-EE05-7060-2A71-EC594C038218}"/>
              </a:ext>
            </a:extLst>
          </p:cNvPr>
          <p:cNvSpPr txBox="1"/>
          <p:nvPr/>
        </p:nvSpPr>
        <p:spPr>
          <a:xfrm>
            <a:off x="766568" y="522802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-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e non ho livelli?</a:t>
            </a: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>
            <a:extLst>
              <a:ext uri="{FF2B5EF4-FFF2-40B4-BE49-F238E27FC236}">
                <a16:creationId xmlns:a16="http://schemas.microsoft.com/office/drawing/2014/main" id="{AEA19B4A-59D2-81D8-9652-E68691667A06}"/>
              </a:ext>
            </a:extLst>
          </p:cNvPr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CB7B2EF-8A13-5B98-E6E6-8AE065990B5B}"/>
              </a:ext>
            </a:extLst>
          </p:cNvPr>
          <p:cNvSpPr txBox="1"/>
          <p:nvPr/>
        </p:nvSpPr>
        <p:spPr>
          <a:xfrm>
            <a:off x="1093155" y="1283002"/>
            <a:ext cx="64008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 non ho livelli, scendo di Time frame, meno forte come H1, altrimenti vado a vedere dove il mercato si e’ fermato in passato. </a:t>
            </a:r>
            <a:br>
              <a:rPr lang="it-IT" dirty="0"/>
            </a:br>
            <a:br>
              <a:rPr lang="it-IT" dirty="0"/>
            </a:br>
            <a:r>
              <a:rPr lang="it-IT" dirty="0"/>
              <a:t>Metto in correlazione punti dove il mercato si e’ fermato più volte generando cosi livelli di massimi o minimi contrapposti.</a:t>
            </a:r>
          </a:p>
          <a:p>
            <a:endParaRPr lang="it-IT" dirty="0"/>
          </a:p>
          <a:p>
            <a:r>
              <a:rPr lang="it-IT" dirty="0"/>
              <a:t>Posso utilizzare i livelli di Fibonacci per capire dove il prezzo, può andare a ritracciare.</a:t>
            </a:r>
          </a:p>
          <a:p>
            <a:endParaRPr lang="it-IT" dirty="0"/>
          </a:p>
          <a:p>
            <a:r>
              <a:rPr lang="it-IT" dirty="0"/>
              <a:t>Questo mi permette di far coincidere più livelli ed avere maggiore conferme per andare a mettere su quei livelli a favore di trend gli ordini pendenti.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90219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213EADBE-33B0-5550-AF02-9A7C51FF8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>
            <a:extLst>
              <a:ext uri="{FF2B5EF4-FFF2-40B4-BE49-F238E27FC236}">
                <a16:creationId xmlns:a16="http://schemas.microsoft.com/office/drawing/2014/main" id="{DF297E05-BED0-AFE0-6218-0F663904C2D1}"/>
              </a:ext>
            </a:extLst>
          </p:cNvPr>
          <p:cNvSpPr txBox="1"/>
          <p:nvPr/>
        </p:nvSpPr>
        <p:spPr>
          <a:xfrm>
            <a:off x="766568" y="522802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-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e non ho livelli?</a:t>
            </a: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>
            <a:extLst>
              <a:ext uri="{FF2B5EF4-FFF2-40B4-BE49-F238E27FC236}">
                <a16:creationId xmlns:a16="http://schemas.microsoft.com/office/drawing/2014/main" id="{96C87CD7-45FD-2B12-179C-D76AF616B0F7}"/>
              </a:ext>
            </a:extLst>
          </p:cNvPr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34A2091-152E-7FB6-0AE7-FC9BBE65D7E5}"/>
              </a:ext>
            </a:extLst>
          </p:cNvPr>
          <p:cNvSpPr txBox="1"/>
          <p:nvPr/>
        </p:nvSpPr>
        <p:spPr>
          <a:xfrm>
            <a:off x="1093155" y="1283002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7533B14-8F2B-07D6-7C4C-7AE8A0BF8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26" y="1060855"/>
            <a:ext cx="7986833" cy="358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19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8B388FF4-C40B-76E1-30B0-D790B7B70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>
            <a:extLst>
              <a:ext uri="{FF2B5EF4-FFF2-40B4-BE49-F238E27FC236}">
                <a16:creationId xmlns:a16="http://schemas.microsoft.com/office/drawing/2014/main" id="{3E3905CC-843F-306E-22AF-559AE4807B31}"/>
              </a:ext>
            </a:extLst>
          </p:cNvPr>
          <p:cNvSpPr txBox="1"/>
          <p:nvPr/>
        </p:nvSpPr>
        <p:spPr>
          <a:xfrm>
            <a:off x="765600" y="1546725"/>
            <a:ext cx="776730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4">
            <a:extLst>
              <a:ext uri="{FF2B5EF4-FFF2-40B4-BE49-F238E27FC236}">
                <a16:creationId xmlns:a16="http://schemas.microsoft.com/office/drawing/2014/main" id="{70B5B23D-B575-8189-16C9-0541B385A80F}"/>
              </a:ext>
            </a:extLst>
          </p:cNvPr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B7C7E7B-AA84-BE1A-FF5B-33D45437E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675" y="115010"/>
            <a:ext cx="5033782" cy="482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5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C9B66323-115A-DF18-9231-0EF40AE06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>
            <a:extLst>
              <a:ext uri="{FF2B5EF4-FFF2-40B4-BE49-F238E27FC236}">
                <a16:creationId xmlns:a16="http://schemas.microsoft.com/office/drawing/2014/main" id="{E0ADDAB5-60CB-7343-4D80-40ECB5420236}"/>
              </a:ext>
            </a:extLst>
          </p:cNvPr>
          <p:cNvSpPr txBox="1"/>
          <p:nvPr/>
        </p:nvSpPr>
        <p:spPr>
          <a:xfrm>
            <a:off x="917822" y="454051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" sz="3400" dirty="0">
                <a:solidFill>
                  <a:schemeClr val="accent4">
                    <a:lumMod val="75000"/>
                  </a:schemeClr>
                </a:solidFill>
              </a:rPr>
              <a:t>Trend is your friend!</a:t>
            </a:r>
            <a:r>
              <a:rPr lang="it" sz="3400" dirty="0"/>
              <a:t> </a:t>
            </a: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5">
            <a:extLst>
              <a:ext uri="{FF2B5EF4-FFF2-40B4-BE49-F238E27FC236}">
                <a16:creationId xmlns:a16="http://schemas.microsoft.com/office/drawing/2014/main" id="{26A7F59B-D564-6CD9-4905-4D07164EB193}"/>
              </a:ext>
            </a:extLst>
          </p:cNvPr>
          <p:cNvSpPr txBox="1"/>
          <p:nvPr/>
        </p:nvSpPr>
        <p:spPr>
          <a:xfrm>
            <a:off x="786225" y="1539850"/>
            <a:ext cx="7767300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2200"/>
              <a:buFont typeface="Calibri"/>
              <a:buChar char="●"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Nelle operazioni di massimi assoluti, non vado a cercare livelli per andare a fare un’operazione che sia contro trend, ma cercherò livelli chiave per andare a favore del mio trend.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2200"/>
              <a:buFont typeface="Calibri"/>
              <a:buChar char="●"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Traccia supporti e resistenze dinamici per avere un ulteriore livello, dove il prezzo può testare per prendere forza e ripartire.</a:t>
            </a:r>
          </a:p>
          <a:p>
            <a:pPr marL="457200" indent="-368300">
              <a:buClr>
                <a:srgbClr val="F68F0D"/>
              </a:buClr>
              <a:buSzPts val="2200"/>
              <a:buFont typeface="Calibri"/>
              <a:buChar char="●"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Una volta fatto lo studio, vedo la correlazione tra gli indici di riferimento.</a:t>
            </a: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2200"/>
            </a:pPr>
            <a:endParaRPr lang="it-IT"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>
            <a:extLst>
              <a:ext uri="{FF2B5EF4-FFF2-40B4-BE49-F238E27FC236}">
                <a16:creationId xmlns:a16="http://schemas.microsoft.com/office/drawing/2014/main" id="{51D8C273-24A5-8A3E-43C4-0DAAF3F1EBBC}"/>
              </a:ext>
            </a:extLst>
          </p:cNvPr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9638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/>
        </p:nvSpPr>
        <p:spPr>
          <a:xfrm>
            <a:off x="766568" y="522802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Struttura dei mercati</a:t>
            </a: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786225" y="1539850"/>
            <a:ext cx="7767300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2200"/>
              <a:buFont typeface="Calibri"/>
              <a:buChar char="●"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La struttura cambia quando apre totalmente sotto ai massimi precedenti</a:t>
            </a:r>
            <a:endParaRPr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2200"/>
              <a:buFont typeface="Calibri"/>
              <a:buChar char="●"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Si configura un trading range, qui si creeranno aree di vendita che permetteranno poi di prendere la direzione del successivo movimento.</a:t>
            </a:r>
            <a:endParaRPr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>
            <a:spLocks noGrp="1"/>
          </p:cNvSpPr>
          <p:nvPr>
            <p:ph type="subTitle" idx="1"/>
          </p:nvPr>
        </p:nvSpPr>
        <p:spPr>
          <a:xfrm>
            <a:off x="442500" y="2048400"/>
            <a:ext cx="8259000" cy="5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3400" dirty="0"/>
              <a:t>Quale strumento lavorare?</a:t>
            </a:r>
            <a:endParaRPr sz="3400" dirty="0"/>
          </a:p>
        </p:txBody>
      </p:sp>
      <p:pic>
        <p:nvPicPr>
          <p:cNvPr id="179" name="Google Shape;17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26"/>
          <p:cNvGrpSpPr/>
          <p:nvPr/>
        </p:nvGrpSpPr>
        <p:grpSpPr>
          <a:xfrm>
            <a:off x="1560601" y="1466205"/>
            <a:ext cx="6022793" cy="399836"/>
            <a:chOff x="1828800" y="2092988"/>
            <a:chExt cx="8219999" cy="399836"/>
          </a:xfrm>
        </p:grpSpPr>
        <p:cxnSp>
          <p:nvCxnSpPr>
            <p:cNvPr id="182" name="Google Shape;182;p26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3" name="Google Shape;183;p26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4" name="Google Shape;184;p26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5" name="Google Shape;185;p26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/>
        </p:nvSpPr>
        <p:spPr>
          <a:xfrm>
            <a:off x="766568" y="522802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D30EUR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62895D0-FF6D-E778-16E3-24A38AAB39DF}"/>
              </a:ext>
            </a:extLst>
          </p:cNvPr>
          <p:cNvSpPr txBox="1"/>
          <p:nvPr/>
        </p:nvSpPr>
        <p:spPr>
          <a:xfrm>
            <a:off x="1347537" y="1283002"/>
            <a:ext cx="5981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RISENTE DEI LIVELLI TECNICI</a:t>
            </a:r>
          </a:p>
          <a:p>
            <a:endParaRPr lang="it-IT" dirty="0"/>
          </a:p>
        </p:txBody>
      </p:sp>
      <p:sp>
        <p:nvSpPr>
          <p:cNvPr id="3" name="Google Shape;190;p27">
            <a:extLst>
              <a:ext uri="{FF2B5EF4-FFF2-40B4-BE49-F238E27FC236}">
                <a16:creationId xmlns:a16="http://schemas.microsoft.com/office/drawing/2014/main" id="{EECA0431-1266-EA4C-AD30-04B9DE1113DA}"/>
              </a:ext>
            </a:extLst>
          </p:cNvPr>
          <p:cNvSpPr txBox="1"/>
          <p:nvPr/>
        </p:nvSpPr>
        <p:spPr>
          <a:xfrm>
            <a:off x="766568" y="1653822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U30USD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31B729F-FFBB-01E0-DD35-AF25EBD25358}"/>
              </a:ext>
            </a:extLst>
          </p:cNvPr>
          <p:cNvSpPr txBox="1"/>
          <p:nvPr/>
        </p:nvSpPr>
        <p:spPr>
          <a:xfrm>
            <a:off x="1299410" y="2263353"/>
            <a:ext cx="59814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PUO’ VIOLARE LEGGEREMENTE I LIVELLI TECNICI MA LI RISENTE E LI RITESTA</a:t>
            </a:r>
          </a:p>
          <a:p>
            <a:endParaRPr lang="it-IT" dirty="0"/>
          </a:p>
        </p:txBody>
      </p:sp>
      <p:sp>
        <p:nvSpPr>
          <p:cNvPr id="5" name="Google Shape;190;p27">
            <a:extLst>
              <a:ext uri="{FF2B5EF4-FFF2-40B4-BE49-F238E27FC236}">
                <a16:creationId xmlns:a16="http://schemas.microsoft.com/office/drawing/2014/main" id="{1CCDAC29-A425-E73C-C599-2D20AE51EA56}"/>
              </a:ext>
            </a:extLst>
          </p:cNvPr>
          <p:cNvSpPr txBox="1"/>
          <p:nvPr/>
        </p:nvSpPr>
        <p:spPr>
          <a:xfrm>
            <a:off x="766568" y="2851348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SPXUSD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AB1124E-AA96-275B-0B91-293B24FBB117}"/>
              </a:ext>
            </a:extLst>
          </p:cNvPr>
          <p:cNvSpPr txBox="1"/>
          <p:nvPr/>
        </p:nvSpPr>
        <p:spPr>
          <a:xfrm>
            <a:off x="1299410" y="3362002"/>
            <a:ext cx="5981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RISENTE DEI LIVELLI TECNICI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/>
        </p:nvSpPr>
        <p:spPr>
          <a:xfrm>
            <a:off x="786225" y="533150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Correlazioni</a:t>
            </a: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786225" y="1539850"/>
            <a:ext cx="7767300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i="1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L’</a:t>
            </a:r>
            <a:r>
              <a:rPr lang="it-IT" sz="2200" i="1" dirty="0" err="1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Spxusd</a:t>
            </a:r>
            <a:r>
              <a:rPr lang="it-IT" sz="2200" i="1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e 225jpy, vanno valutati entrambi nelle aperture mattutine per capire la condizione di mercato in quel momento.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2200" i="1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i="1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Questi indici sono correlati con il D30eur.</a:t>
            </a:r>
            <a:endParaRPr sz="2200" i="1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/>
        </p:nvSpPr>
        <p:spPr>
          <a:xfrm>
            <a:off x="766568" y="522802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Ordini pendenti</a:t>
            </a: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766568" y="1141089"/>
            <a:ext cx="77673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Una volta individuati i livelli, posso andare a mettere ordini pendenti.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Confronta i time frame per capire la posizione degli ordini pendenti.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Il take profit e’ in divenire, seguiamo l’operazione a time frame piu ’bassi per far si che, a favore di trend possa continuare il suo percorso.</a:t>
            </a:r>
            <a:endParaRPr sz="18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br>
              <a:rPr lang="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i="1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>
          <a:extLst>
            <a:ext uri="{FF2B5EF4-FFF2-40B4-BE49-F238E27FC236}">
              <a16:creationId xmlns:a16="http://schemas.microsoft.com/office/drawing/2014/main" id="{5C1DFE2C-1134-5293-9FD0-A55EB924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>
            <a:extLst>
              <a:ext uri="{FF2B5EF4-FFF2-40B4-BE49-F238E27FC236}">
                <a16:creationId xmlns:a16="http://schemas.microsoft.com/office/drawing/2014/main" id="{F6087B7C-C4DB-B932-6029-86177E9EB61F}"/>
              </a:ext>
            </a:extLst>
          </p:cNvPr>
          <p:cNvSpPr txBox="1"/>
          <p:nvPr/>
        </p:nvSpPr>
        <p:spPr>
          <a:xfrm>
            <a:off x="766568" y="522802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Gestione della posizione</a:t>
            </a: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0">
            <a:extLst>
              <a:ext uri="{FF2B5EF4-FFF2-40B4-BE49-F238E27FC236}">
                <a16:creationId xmlns:a16="http://schemas.microsoft.com/office/drawing/2014/main" id="{0EBEDBFE-9643-7292-A5C5-95AA5D8592FE}"/>
              </a:ext>
            </a:extLst>
          </p:cNvPr>
          <p:cNvSpPr txBox="1"/>
          <p:nvPr/>
        </p:nvSpPr>
        <p:spPr>
          <a:xfrm>
            <a:off x="766568" y="1141089"/>
            <a:ext cx="77673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Se la struttura resta e sostiene il prezzo, lascio correre l’operazione. </a:t>
            </a:r>
            <a:b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La struttura verrà invalidata quando il prezzo rompe i minimi precedenti.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Scendo su Time Frame inferiori per andare a vedere il cambio del supertrend.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Valuto su Time Frame più bassi, la rottura e conferma di livelli importanti.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Posso inserire il </a:t>
            </a:r>
            <a:r>
              <a:rPr lang="it-IT" sz="1800" dirty="0" err="1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trailing</a:t>
            </a:r>
            <a: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stop :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Sulle valute 150 punti corrispondono a 1 </a:t>
            </a:r>
            <a:r>
              <a:rPr lang="it-IT" sz="1800" dirty="0" err="1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pip</a:t>
            </a:r>
            <a: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e mezzo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Sugli indici 410 punti corrispondono a 4 punti indice.</a:t>
            </a:r>
            <a:endParaRPr sz="18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br>
              <a:rPr lang="it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i="1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0">
            <a:extLst>
              <a:ext uri="{FF2B5EF4-FFF2-40B4-BE49-F238E27FC236}">
                <a16:creationId xmlns:a16="http://schemas.microsoft.com/office/drawing/2014/main" id="{92719D0D-1A28-0D9C-4BBC-83CD1D5508F4}"/>
              </a:ext>
            </a:extLst>
          </p:cNvPr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0443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/>
        </p:nvSpPr>
        <p:spPr>
          <a:xfrm>
            <a:off x="766568" y="522802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Bande di Bollinger</a:t>
            </a: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766568" y="1134214"/>
            <a:ext cx="287825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Ci indicano la volatilità.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Sfrutto la volatilità delle bande di </a:t>
            </a:r>
            <a:r>
              <a:rPr lang="it-IT" dirty="0" err="1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Bollinger</a:t>
            </a:r>
            <a:r>
              <a:rPr lang="it-IT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su M15.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Posso posizionarmi con un ordine fuori dalle bande.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La mediana interna delle bande di </a:t>
            </a:r>
            <a:r>
              <a:rPr lang="it-IT" dirty="0" err="1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Bollinger</a:t>
            </a:r>
            <a:r>
              <a:rPr lang="it-IT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e’ un obiettivo di prezzo, una volta rientrati dall’eccesso di volatilità .</a:t>
            </a:r>
            <a:endParaRPr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i="1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1"/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2ACB1A0-227A-1B76-6B7B-AEA8590B7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993" y="1414301"/>
            <a:ext cx="4172532" cy="231489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>
            <a:spLocks noGrp="1"/>
          </p:cNvSpPr>
          <p:nvPr>
            <p:ph type="subTitle" idx="1"/>
          </p:nvPr>
        </p:nvSpPr>
        <p:spPr>
          <a:xfrm>
            <a:off x="442500" y="2048400"/>
            <a:ext cx="8259000" cy="52322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400" dirty="0"/>
              <a:t>Tecnica a seconda delle condizioni di mercato</a:t>
            </a:r>
            <a:endParaRPr sz="3400" dirty="0"/>
          </a:p>
        </p:txBody>
      </p:sp>
      <p:pic>
        <p:nvPicPr>
          <p:cNvPr id="226" name="Google Shape;22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32"/>
          <p:cNvGrpSpPr/>
          <p:nvPr/>
        </p:nvGrpSpPr>
        <p:grpSpPr>
          <a:xfrm>
            <a:off x="1560601" y="1466205"/>
            <a:ext cx="6022793" cy="399836"/>
            <a:chOff x="1828800" y="2092988"/>
            <a:chExt cx="8219999" cy="399836"/>
          </a:xfrm>
        </p:grpSpPr>
        <p:cxnSp>
          <p:nvCxnSpPr>
            <p:cNvPr id="229" name="Google Shape;229;p32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0" name="Google Shape;230;p32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1" name="Google Shape;231;p32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2" name="Google Shape;232;p32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/>
        </p:nvSpPr>
        <p:spPr>
          <a:xfrm>
            <a:off x="725317" y="522802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Per prendere il TREND</a:t>
            </a: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3"/>
          <p:cNvSpPr txBox="1"/>
          <p:nvPr/>
        </p:nvSpPr>
        <p:spPr>
          <a:xfrm>
            <a:off x="786225" y="1539850"/>
            <a:ext cx="7767300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Prendiamo in considerazione: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- Super Trend, quando cambiano tutti e tre, posso entrare a mercato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- Medie per prendere la ripartenza del trend</a:t>
            </a:r>
            <a:endParaRPr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3"/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553CB0B2-E96A-17F3-E9FE-9D92D302A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>
            <a:extLst>
              <a:ext uri="{FF2B5EF4-FFF2-40B4-BE49-F238E27FC236}">
                <a16:creationId xmlns:a16="http://schemas.microsoft.com/office/drawing/2014/main" id="{59B2E1CB-4011-5B06-C7A5-E02F17BA1DEF}"/>
              </a:ext>
            </a:extLst>
          </p:cNvPr>
          <p:cNvSpPr txBox="1"/>
          <p:nvPr/>
        </p:nvSpPr>
        <p:spPr>
          <a:xfrm>
            <a:off x="725317" y="522802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Per prendere il RITRACCIAMENTO</a:t>
            </a: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3">
            <a:extLst>
              <a:ext uri="{FF2B5EF4-FFF2-40B4-BE49-F238E27FC236}">
                <a16:creationId xmlns:a16="http://schemas.microsoft.com/office/drawing/2014/main" id="{928F45B1-BA16-76E9-9508-DF87218700C5}"/>
              </a:ext>
            </a:extLst>
          </p:cNvPr>
          <p:cNvSpPr txBox="1"/>
          <p:nvPr/>
        </p:nvSpPr>
        <p:spPr>
          <a:xfrm>
            <a:off x="786225" y="1539850"/>
            <a:ext cx="7767300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Prendiamo in considerazione valori che possono essere: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- Fibonacci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- Bande di </a:t>
            </a:r>
            <a:r>
              <a:rPr lang="it-IT" sz="2200" dirty="0" err="1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Bollinger</a:t>
            </a:r>
            <a:endParaRPr lang="it-IT"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- Livelli percentuali del Multipivot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3">
            <a:extLst>
              <a:ext uri="{FF2B5EF4-FFF2-40B4-BE49-F238E27FC236}">
                <a16:creationId xmlns:a16="http://schemas.microsoft.com/office/drawing/2014/main" id="{6822F5B1-2D07-65AF-D7ED-A3FC92BA1579}"/>
              </a:ext>
            </a:extLst>
          </p:cNvPr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6159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758BA625-51ED-B8B9-F3E8-556DF236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>
            <a:extLst>
              <a:ext uri="{FF2B5EF4-FFF2-40B4-BE49-F238E27FC236}">
                <a16:creationId xmlns:a16="http://schemas.microsoft.com/office/drawing/2014/main" id="{79BC2FD6-AA20-08F9-D299-956B594EA914}"/>
              </a:ext>
            </a:extLst>
          </p:cNvPr>
          <p:cNvSpPr txBox="1"/>
          <p:nvPr/>
        </p:nvSpPr>
        <p:spPr>
          <a:xfrm>
            <a:off x="725317" y="522802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" sz="3400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Post apertura ore 10:00</a:t>
            </a:r>
            <a:endParaRPr sz="3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3">
            <a:extLst>
              <a:ext uri="{FF2B5EF4-FFF2-40B4-BE49-F238E27FC236}">
                <a16:creationId xmlns:a16="http://schemas.microsoft.com/office/drawing/2014/main" id="{B8FEBBDF-F64D-679C-CFC6-AEC570E3D6B9}"/>
              </a:ext>
            </a:extLst>
          </p:cNvPr>
          <p:cNvSpPr txBox="1"/>
          <p:nvPr/>
        </p:nvSpPr>
        <p:spPr>
          <a:xfrm>
            <a:off x="786225" y="1539850"/>
            <a:ext cx="7767300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Se alle 10:00, l’ultimo livello di Super Trend ha mantenuto la conformazione e la candela che apre, apre all’interno, il livello e’ forte e sostiene il trend.</a:t>
            </a:r>
            <a:endParaRPr sz="2200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3">
            <a:extLst>
              <a:ext uri="{FF2B5EF4-FFF2-40B4-BE49-F238E27FC236}">
                <a16:creationId xmlns:a16="http://schemas.microsoft.com/office/drawing/2014/main" id="{8E500CBB-D5C1-C1F4-1EFE-E37D0091660C}"/>
              </a:ext>
            </a:extLst>
          </p:cNvPr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8520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6C184D38-0383-CD45-B058-5B077D8F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41AE6B03-2388-1BF9-FBF1-5E1A43D58F7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2500" y="2048400"/>
            <a:ext cx="8259000" cy="52322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400" dirty="0"/>
          </a:p>
        </p:txBody>
      </p:sp>
      <p:pic>
        <p:nvPicPr>
          <p:cNvPr id="226" name="Google Shape;226;p32">
            <a:extLst>
              <a:ext uri="{FF2B5EF4-FFF2-40B4-BE49-F238E27FC236}">
                <a16:creationId xmlns:a16="http://schemas.microsoft.com/office/drawing/2014/main" id="{5E7B0157-0901-881D-59F0-DD31A851A2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2">
            <a:extLst>
              <a:ext uri="{FF2B5EF4-FFF2-40B4-BE49-F238E27FC236}">
                <a16:creationId xmlns:a16="http://schemas.microsoft.com/office/drawing/2014/main" id="{73E02C2F-E530-47E9-7C3A-F503B24C235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32">
            <a:extLst>
              <a:ext uri="{FF2B5EF4-FFF2-40B4-BE49-F238E27FC236}">
                <a16:creationId xmlns:a16="http://schemas.microsoft.com/office/drawing/2014/main" id="{AC0E6942-6C88-0CA7-1111-D32CD6E6AE41}"/>
              </a:ext>
            </a:extLst>
          </p:cNvPr>
          <p:cNvGrpSpPr/>
          <p:nvPr/>
        </p:nvGrpSpPr>
        <p:grpSpPr>
          <a:xfrm>
            <a:off x="1560601" y="1466205"/>
            <a:ext cx="6022793" cy="399836"/>
            <a:chOff x="1828800" y="2092988"/>
            <a:chExt cx="8219999" cy="399836"/>
          </a:xfrm>
        </p:grpSpPr>
        <p:cxnSp>
          <p:nvCxnSpPr>
            <p:cNvPr id="229" name="Google Shape;229;p32">
              <a:extLst>
                <a:ext uri="{FF2B5EF4-FFF2-40B4-BE49-F238E27FC236}">
                  <a16:creationId xmlns:a16="http://schemas.microsoft.com/office/drawing/2014/main" id="{70793D8D-74C7-18E7-E96C-94EDBDA90BC0}"/>
                </a:ext>
              </a:extLst>
            </p:cNvPr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0" name="Google Shape;230;p32">
              <a:extLst>
                <a:ext uri="{FF2B5EF4-FFF2-40B4-BE49-F238E27FC236}">
                  <a16:creationId xmlns:a16="http://schemas.microsoft.com/office/drawing/2014/main" id="{3796E330-FF92-7E3B-352E-A4C52FE1773E}"/>
                </a:ext>
              </a:extLst>
            </p:cNvPr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1" name="Google Shape;231;p32">
              <a:extLst>
                <a:ext uri="{FF2B5EF4-FFF2-40B4-BE49-F238E27FC236}">
                  <a16:creationId xmlns:a16="http://schemas.microsoft.com/office/drawing/2014/main" id="{364E5DE3-0355-BD08-8823-38187920EB63}"/>
                </a:ext>
              </a:extLst>
            </p:cNvPr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2" name="Google Shape;232;p32">
              <a:extLst>
                <a:ext uri="{FF2B5EF4-FFF2-40B4-BE49-F238E27FC236}">
                  <a16:creationId xmlns:a16="http://schemas.microsoft.com/office/drawing/2014/main" id="{55BBEDE5-3A9A-424F-76AB-5E9150EB0D27}"/>
                </a:ext>
              </a:extLst>
            </p:cNvPr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74826843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910</Words>
  <Application>Microsoft Office PowerPoint</Application>
  <PresentationFormat>Presentazione su schermo (16:9)</PresentationFormat>
  <Paragraphs>119</Paragraphs>
  <Slides>26</Slides>
  <Notes>26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26</vt:i4>
      </vt:variant>
    </vt:vector>
  </HeadingPairs>
  <TitlesOfParts>
    <vt:vector size="29" baseType="lpstr">
      <vt:lpstr>Arial</vt:lpstr>
      <vt:lpstr>Calibri</vt:lpstr>
      <vt:lpstr>Simple Light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Cristina Tarullo</dc:creator>
  <cp:lastModifiedBy>Cristina Tarullo</cp:lastModifiedBy>
  <cp:revision>23</cp:revision>
  <dcterms:modified xsi:type="dcterms:W3CDTF">2024-02-27T12:26:57Z</dcterms:modified>
</cp:coreProperties>
</file>