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4"/>
  </p:notesMasterIdLst>
  <p:sldIdLst>
    <p:sldId id="256" r:id="rId2"/>
    <p:sldId id="322" r:id="rId3"/>
    <p:sldId id="258" r:id="rId4"/>
    <p:sldId id="320" r:id="rId5"/>
    <p:sldId id="326" r:id="rId6"/>
    <p:sldId id="323" r:id="rId7"/>
    <p:sldId id="319" r:id="rId8"/>
    <p:sldId id="259" r:id="rId9"/>
    <p:sldId id="318" r:id="rId10"/>
    <p:sldId id="317" r:id="rId11"/>
    <p:sldId id="260" r:id="rId12"/>
    <p:sldId id="321" r:id="rId1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76" roundtripDataSignature="AMtx7mgygJRgRfzCP1wXG1ZtrKypO8vVK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6AD8E03-4F9D-401C-9EB1-3900ADFB450D}">
  <a:tblStyle styleId="{F6AD8E03-4F9D-401C-9EB1-3900ADFB450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9" d="100"/>
          <a:sy n="139" d="100"/>
        </p:scale>
        <p:origin x="804" y="12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80" Type="http://schemas.openxmlformats.org/officeDocument/2006/relationships/tableStyles" Target="tableStyles.xml"/><Relationship Id="rId3" Type="http://schemas.openxmlformats.org/officeDocument/2006/relationships/slide" Target="slides/slide2.xml"/><Relationship Id="rId76"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79"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77"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2" name="Google Shape;6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7" name="Google Shape;8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1920130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7" name="Google Shape;8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7" name="Google Shape;8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4237374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7" name="Google Shape;8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047864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7" name="Google Shape;8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8947798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7" name="Google Shape;8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3734386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0" name="Google Shape;100;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1" name="Google Shape;111;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9657260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1" name="Google Shape;111;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5734687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1" name="Google Shape;111;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1" name="Google Shape;111;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7267726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
        <p:cNvGrpSpPr/>
        <p:nvPr/>
      </p:nvGrpSpPr>
      <p:grpSpPr>
        <a:xfrm>
          <a:off x="0" y="0"/>
          <a:ext cx="0" cy="0"/>
          <a:chOff x="0" y="0"/>
          <a:chExt cx="0" cy="0"/>
        </a:xfrm>
      </p:grpSpPr>
      <p:sp>
        <p:nvSpPr>
          <p:cNvPr id="10" name="Google Shape;10;p3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1"/>
        <p:cNvGrpSpPr/>
        <p:nvPr/>
      </p:nvGrpSpPr>
      <p:grpSpPr>
        <a:xfrm>
          <a:off x="0" y="0"/>
          <a:ext cx="0" cy="0"/>
          <a:chOff x="0" y="0"/>
          <a:chExt cx="0" cy="0"/>
        </a:xfrm>
      </p:grpSpPr>
      <p:sp>
        <p:nvSpPr>
          <p:cNvPr id="12" name="Google Shape;12;p34"/>
          <p:cNvSpPr txBox="1">
            <a:spLocks noGrp="1"/>
          </p:cNvSpPr>
          <p:nvPr>
            <p:ph type="subTitle" idx="1"/>
          </p:nvPr>
        </p:nvSpPr>
        <p:spPr>
          <a:xfrm>
            <a:off x="1008450" y="2197665"/>
            <a:ext cx="7127100" cy="7482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Font typeface="Calibri"/>
              <a:buNone/>
              <a:defRPr sz="5300">
                <a:solidFill>
                  <a:srgbClr val="F68F0D"/>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13" name="Google Shape;13;p34"/>
          <p:cNvPicPr preferRelativeResize="0"/>
          <p:nvPr/>
        </p:nvPicPr>
        <p:blipFill rotWithShape="1">
          <a:blip r:embed="rId2">
            <a:alphaModFix/>
          </a:blip>
          <a:srcRect/>
          <a:stretch/>
        </p:blipFill>
        <p:spPr>
          <a:xfrm>
            <a:off x="8535608" y="4582453"/>
            <a:ext cx="358600" cy="356022"/>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Title Only" type="obj">
  <p:cSld name="OBJECT">
    <p:bg>
      <p:bgPr>
        <a:solidFill>
          <a:schemeClr val="lt1"/>
        </a:solidFill>
        <a:effectLst/>
      </p:bgPr>
    </p:bg>
    <p:spTree>
      <p:nvGrpSpPr>
        <p:cNvPr id="1" name="Shape 14"/>
        <p:cNvGrpSpPr/>
        <p:nvPr/>
      </p:nvGrpSpPr>
      <p:grpSpPr>
        <a:xfrm>
          <a:off x="0" y="0"/>
          <a:ext cx="0" cy="0"/>
          <a:chOff x="0" y="0"/>
          <a:chExt cx="0" cy="0"/>
        </a:xfrm>
      </p:grpSpPr>
      <p:sp>
        <p:nvSpPr>
          <p:cNvPr id="15" name="Google Shape;15;p35"/>
          <p:cNvSpPr/>
          <p:nvPr/>
        </p:nvSpPr>
        <p:spPr>
          <a:xfrm>
            <a:off x="471775" y="0"/>
            <a:ext cx="119100" cy="943500"/>
          </a:xfrm>
          <a:prstGeom prst="rect">
            <a:avLst/>
          </a:prstGeom>
          <a:solidFill>
            <a:srgbClr val="F68F0D"/>
          </a:solidFill>
          <a:ln>
            <a:noFill/>
          </a:ln>
        </p:spPr>
        <p:txBody>
          <a:bodyPr spcFirstLastPara="1" wrap="square" lIns="44175" tIns="44175" rIns="44175" bIns="44175"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000000"/>
              </a:solidFill>
              <a:latin typeface="Arial"/>
              <a:ea typeface="Arial"/>
              <a:cs typeface="Arial"/>
              <a:sym typeface="Arial"/>
            </a:endParaRPr>
          </a:p>
        </p:txBody>
      </p:sp>
      <p:sp>
        <p:nvSpPr>
          <p:cNvPr id="16" name="Google Shape;16;p35"/>
          <p:cNvSpPr txBox="1">
            <a:spLocks noGrp="1"/>
          </p:cNvSpPr>
          <p:nvPr>
            <p:ph type="subTitle" idx="1"/>
          </p:nvPr>
        </p:nvSpPr>
        <p:spPr>
          <a:xfrm>
            <a:off x="725425" y="566473"/>
            <a:ext cx="6741300" cy="987000"/>
          </a:xfrm>
          <a:prstGeom prst="rect">
            <a:avLst/>
          </a:prstGeom>
          <a:noFill/>
          <a:ln>
            <a:noFill/>
          </a:ln>
        </p:spPr>
        <p:txBody>
          <a:bodyPr spcFirstLastPara="1" wrap="square" lIns="0" tIns="0" rIns="0" bIns="0" anchor="t" anchorCtr="0">
            <a:spAutoFit/>
          </a:bodyPr>
          <a:lstStyle>
            <a:lvl1pPr marR="0" lvl="0" algn="l">
              <a:lnSpc>
                <a:spcPct val="90000"/>
              </a:lnSpc>
              <a:spcBef>
                <a:spcPts val="0"/>
              </a:spcBef>
              <a:spcAft>
                <a:spcPts val="0"/>
              </a:spcAft>
              <a:buClr>
                <a:srgbClr val="F68F0D"/>
              </a:buClr>
              <a:buSzPts val="3400"/>
              <a:buFont typeface="Calibri"/>
              <a:buNone/>
              <a:defRPr sz="3400">
                <a:solidFill>
                  <a:srgbClr val="F68F0D"/>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35"/>
          <p:cNvSpPr txBox="1"/>
          <p:nvPr/>
        </p:nvSpPr>
        <p:spPr>
          <a:xfrm>
            <a:off x="398875" y="4735613"/>
            <a:ext cx="5006700" cy="323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US" sz="900" b="1" i="0" u="none" strike="noStrike" cap="none">
                <a:solidFill>
                  <a:srgbClr val="F68F0D"/>
                </a:solidFill>
                <a:latin typeface="Calibri"/>
                <a:ea typeface="Calibri"/>
                <a:cs typeface="Calibri"/>
                <a:sym typeface="Calibri"/>
              </a:rPr>
              <a:t>COMPRARE CASA É SBAGLIATO</a:t>
            </a:r>
            <a:endParaRPr sz="900" b="1" i="0" u="none" strike="noStrike" cap="none">
              <a:solidFill>
                <a:srgbClr val="F68F0D"/>
              </a:solidFill>
              <a:latin typeface="Calibri"/>
              <a:ea typeface="Calibri"/>
              <a:cs typeface="Calibri"/>
              <a:sym typeface="Calibri"/>
            </a:endParaRPr>
          </a:p>
        </p:txBody>
      </p:sp>
      <p:pic>
        <p:nvPicPr>
          <p:cNvPr id="18" name="Google Shape;18;p35"/>
          <p:cNvPicPr preferRelativeResize="0"/>
          <p:nvPr/>
        </p:nvPicPr>
        <p:blipFill rotWithShape="1">
          <a:blip r:embed="rId2">
            <a:alphaModFix/>
          </a:blip>
          <a:srcRect/>
          <a:stretch/>
        </p:blipFill>
        <p:spPr>
          <a:xfrm>
            <a:off x="8535608" y="4582453"/>
            <a:ext cx="358600" cy="356022"/>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
        <p:cNvGrpSpPr/>
        <p:nvPr/>
      </p:nvGrpSpPr>
      <p:grpSpPr>
        <a:xfrm>
          <a:off x="0" y="0"/>
          <a:ext cx="0" cy="0"/>
          <a:chOff x="0" y="0"/>
          <a:chExt cx="0" cy="0"/>
        </a:xfrm>
      </p:grpSpPr>
      <p:sp>
        <p:nvSpPr>
          <p:cNvPr id="20" name="Google Shape;20;p36"/>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21" name="Google Shape;21;p36"/>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22" name="Google Shape;22;p3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37"/>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5" name="Google Shape;25;p3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6"/>
        <p:cNvGrpSpPr/>
        <p:nvPr/>
      </p:nvGrpSpPr>
      <p:grpSpPr>
        <a:xfrm>
          <a:off x="0" y="0"/>
          <a:ext cx="0" cy="0"/>
          <a:chOff x="0" y="0"/>
          <a:chExt cx="0" cy="0"/>
        </a:xfrm>
      </p:grpSpPr>
      <p:sp>
        <p:nvSpPr>
          <p:cNvPr id="27" name="Google Shape;27;p3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8" name="Google Shape;28;p3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29" name="Google Shape;29;p3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0"/>
        <p:cNvGrpSpPr/>
        <p:nvPr/>
      </p:nvGrpSpPr>
      <p:grpSpPr>
        <a:xfrm>
          <a:off x="0" y="0"/>
          <a:ext cx="0" cy="0"/>
          <a:chOff x="0" y="0"/>
          <a:chExt cx="0" cy="0"/>
        </a:xfrm>
      </p:grpSpPr>
      <p:sp>
        <p:nvSpPr>
          <p:cNvPr id="31" name="Google Shape;31;p3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2" name="Google Shape;32;p39"/>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3" name="Google Shape;33;p39"/>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4" name="Google Shape;34;p3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5"/>
        <p:cNvGrpSpPr/>
        <p:nvPr/>
      </p:nvGrpSpPr>
      <p:grpSpPr>
        <a:xfrm>
          <a:off x="0" y="0"/>
          <a:ext cx="0" cy="0"/>
          <a:chOff x="0" y="0"/>
          <a:chExt cx="0" cy="0"/>
        </a:xfrm>
      </p:grpSpPr>
      <p:sp>
        <p:nvSpPr>
          <p:cNvPr id="36" name="Google Shape;36;p4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7" name="Google Shape;37;p4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8"/>
        <p:cNvGrpSpPr/>
        <p:nvPr/>
      </p:nvGrpSpPr>
      <p:grpSpPr>
        <a:xfrm>
          <a:off x="0" y="0"/>
          <a:ext cx="0" cy="0"/>
          <a:chOff x="0" y="0"/>
          <a:chExt cx="0" cy="0"/>
        </a:xfrm>
      </p:grpSpPr>
      <p:sp>
        <p:nvSpPr>
          <p:cNvPr id="39" name="Google Shape;39;p41"/>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0" name="Google Shape;40;p41"/>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1" name="Google Shape;41;p4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2"/>
        <p:cNvGrpSpPr/>
        <p:nvPr/>
      </p:nvGrpSpPr>
      <p:grpSpPr>
        <a:xfrm>
          <a:off x="0" y="0"/>
          <a:ext cx="0" cy="0"/>
          <a:chOff x="0" y="0"/>
          <a:chExt cx="0" cy="0"/>
        </a:xfrm>
      </p:grpSpPr>
      <p:sp>
        <p:nvSpPr>
          <p:cNvPr id="43" name="Google Shape;43;p42"/>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4" name="Google Shape;44;p4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sp>
        <p:nvSpPr>
          <p:cNvPr id="46" name="Google Shape;46;p43"/>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 name="Google Shape;47;p43"/>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48" name="Google Shape;48;p43"/>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9" name="Google Shape;49;p43"/>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50" name="Google Shape;50;p4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1"/>
        <p:cNvGrpSpPr/>
        <p:nvPr/>
      </p:nvGrpSpPr>
      <p:grpSpPr>
        <a:xfrm>
          <a:off x="0" y="0"/>
          <a:ext cx="0" cy="0"/>
          <a:chOff x="0" y="0"/>
          <a:chExt cx="0" cy="0"/>
        </a:xfrm>
      </p:grpSpPr>
      <p:sp>
        <p:nvSpPr>
          <p:cNvPr id="52" name="Google Shape;52;p44"/>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53" name="Google Shape;53;p4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4"/>
        <p:cNvGrpSpPr/>
        <p:nvPr/>
      </p:nvGrpSpPr>
      <p:grpSpPr>
        <a:xfrm>
          <a:off x="0" y="0"/>
          <a:ext cx="0" cy="0"/>
          <a:chOff x="0" y="0"/>
          <a:chExt cx="0" cy="0"/>
        </a:xfrm>
      </p:grpSpPr>
      <p:sp>
        <p:nvSpPr>
          <p:cNvPr id="55" name="Google Shape;55;p45"/>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6" name="Google Shape;56;p45"/>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57" name="Google Shape;57;p4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Vuota 1">
  <p:cSld name="TITLE_AND_BODY_1">
    <p:spTree>
      <p:nvGrpSpPr>
        <p:cNvPr id="1" name="Shape 58"/>
        <p:cNvGrpSpPr/>
        <p:nvPr/>
      </p:nvGrpSpPr>
      <p:grpSpPr>
        <a:xfrm>
          <a:off x="0" y="0"/>
          <a:ext cx="0" cy="0"/>
          <a:chOff x="0" y="0"/>
          <a:chExt cx="0" cy="0"/>
        </a:xfrm>
      </p:grpSpPr>
      <p:sp>
        <p:nvSpPr>
          <p:cNvPr id="59" name="Google Shape;59;p46"/>
          <p:cNvSpPr txBox="1">
            <a:spLocks noGrp="1"/>
          </p:cNvSpPr>
          <p:nvPr>
            <p:ph type="sldNum" idx="12"/>
          </p:nvPr>
        </p:nvSpPr>
        <p:spPr>
          <a:xfrm>
            <a:off x="8286203" y="4800311"/>
            <a:ext cx="229200" cy="207900"/>
          </a:xfrm>
          <a:prstGeom prst="rect">
            <a:avLst/>
          </a:prstGeom>
          <a:noFill/>
          <a:ln>
            <a:noFill/>
          </a:ln>
        </p:spPr>
        <p:txBody>
          <a:bodyPr spcFirstLastPara="1" wrap="square" lIns="34275" tIns="34275" rIns="34275" bIns="34275" anchor="ctr" anchorCtr="0">
            <a:sp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a:t>
            </a:fld>
            <a:endParaRPr sz="1000">
              <a:solidFill>
                <a:schemeClr val="dk2"/>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3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3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3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68F0D"/>
        </a:solidFill>
        <a:effectLst/>
      </p:bgPr>
    </p:bg>
    <p:spTree>
      <p:nvGrpSpPr>
        <p:cNvPr id="1" name="Shape 63"/>
        <p:cNvGrpSpPr/>
        <p:nvPr/>
      </p:nvGrpSpPr>
      <p:grpSpPr>
        <a:xfrm>
          <a:off x="0" y="0"/>
          <a:ext cx="0" cy="0"/>
          <a:chOff x="0" y="0"/>
          <a:chExt cx="0" cy="0"/>
        </a:xfrm>
      </p:grpSpPr>
      <p:pic>
        <p:nvPicPr>
          <p:cNvPr id="64" name="Google Shape;64;p1"/>
          <p:cNvPicPr preferRelativeResize="0"/>
          <p:nvPr/>
        </p:nvPicPr>
        <p:blipFill rotWithShape="1">
          <a:blip r:embed="rId3">
            <a:alphaModFix/>
          </a:blip>
          <a:srcRect/>
          <a:stretch/>
        </p:blipFill>
        <p:spPr>
          <a:xfrm>
            <a:off x="3093650" y="418950"/>
            <a:ext cx="2956675" cy="746800"/>
          </a:xfrm>
          <a:prstGeom prst="rect">
            <a:avLst/>
          </a:prstGeom>
          <a:noFill/>
          <a:ln>
            <a:noFill/>
          </a:ln>
        </p:spPr>
      </p:pic>
      <p:grpSp>
        <p:nvGrpSpPr>
          <p:cNvPr id="65" name="Google Shape;65;p1"/>
          <p:cNvGrpSpPr/>
          <p:nvPr/>
        </p:nvGrpSpPr>
        <p:grpSpPr>
          <a:xfrm>
            <a:off x="1560601" y="1466205"/>
            <a:ext cx="6022793" cy="399836"/>
            <a:chOff x="1828800" y="2092988"/>
            <a:chExt cx="8219999" cy="399836"/>
          </a:xfrm>
        </p:grpSpPr>
        <p:cxnSp>
          <p:nvCxnSpPr>
            <p:cNvPr id="66" name="Google Shape;66;p1"/>
            <p:cNvCxnSpPr/>
            <p:nvPr/>
          </p:nvCxnSpPr>
          <p:spPr>
            <a:xfrm>
              <a:off x="1828800" y="2095324"/>
              <a:ext cx="3657600" cy="0"/>
            </a:xfrm>
            <a:prstGeom prst="straightConnector1">
              <a:avLst/>
            </a:prstGeom>
            <a:noFill/>
            <a:ln w="19050" cap="flat" cmpd="sng">
              <a:solidFill>
                <a:srgbClr val="FFFFFF"/>
              </a:solidFill>
              <a:prstDash val="solid"/>
              <a:miter lim="800000"/>
              <a:headEnd type="none" w="sm" len="sm"/>
              <a:tailEnd type="none" w="sm" len="sm"/>
            </a:ln>
          </p:spPr>
        </p:cxnSp>
        <p:cxnSp>
          <p:nvCxnSpPr>
            <p:cNvPr id="67" name="Google Shape;67;p1"/>
            <p:cNvCxnSpPr/>
            <p:nvPr/>
          </p:nvCxnSpPr>
          <p:spPr>
            <a:xfrm>
              <a:off x="6391199" y="2099481"/>
              <a:ext cx="3657600" cy="0"/>
            </a:xfrm>
            <a:prstGeom prst="straightConnector1">
              <a:avLst/>
            </a:prstGeom>
            <a:noFill/>
            <a:ln w="19050" cap="flat" cmpd="sng">
              <a:solidFill>
                <a:srgbClr val="FFFFFF"/>
              </a:solidFill>
              <a:prstDash val="solid"/>
              <a:miter lim="800000"/>
              <a:headEnd type="none" w="sm" len="sm"/>
              <a:tailEnd type="none" w="sm" len="sm"/>
            </a:ln>
          </p:spPr>
        </p:cxnSp>
        <p:cxnSp>
          <p:nvCxnSpPr>
            <p:cNvPr id="68" name="Google Shape;68;p1"/>
            <p:cNvCxnSpPr/>
            <p:nvPr/>
          </p:nvCxnSpPr>
          <p:spPr>
            <a:xfrm>
              <a:off x="5480957" y="2095324"/>
              <a:ext cx="468000" cy="397500"/>
            </a:xfrm>
            <a:prstGeom prst="straightConnector1">
              <a:avLst/>
            </a:prstGeom>
            <a:noFill/>
            <a:ln w="19050" cap="flat" cmpd="sng">
              <a:solidFill>
                <a:srgbClr val="FFFFFF"/>
              </a:solidFill>
              <a:prstDash val="solid"/>
              <a:miter lim="800000"/>
              <a:headEnd type="none" w="sm" len="sm"/>
              <a:tailEnd type="none" w="sm" len="sm"/>
            </a:ln>
          </p:spPr>
        </p:cxnSp>
        <p:cxnSp>
          <p:nvCxnSpPr>
            <p:cNvPr id="69" name="Google Shape;69;p1"/>
            <p:cNvCxnSpPr/>
            <p:nvPr/>
          </p:nvCxnSpPr>
          <p:spPr>
            <a:xfrm flipH="1">
              <a:off x="5935669" y="2092988"/>
              <a:ext cx="468000" cy="397500"/>
            </a:xfrm>
            <a:prstGeom prst="straightConnector1">
              <a:avLst/>
            </a:prstGeom>
            <a:noFill/>
            <a:ln w="19050" cap="flat" cmpd="sng">
              <a:solidFill>
                <a:srgbClr val="FFFFFF"/>
              </a:solidFill>
              <a:prstDash val="solid"/>
              <a:miter lim="800000"/>
              <a:headEnd type="none" w="sm" len="sm"/>
              <a:tailEnd type="none" w="sm" len="sm"/>
            </a:ln>
          </p:spPr>
        </p:cxnSp>
      </p:grpSp>
      <p:sp>
        <p:nvSpPr>
          <p:cNvPr id="70" name="Google Shape;70;p1"/>
          <p:cNvSpPr txBox="1"/>
          <p:nvPr/>
        </p:nvSpPr>
        <p:spPr>
          <a:xfrm>
            <a:off x="-61877" y="2020163"/>
            <a:ext cx="9135000" cy="143112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US" sz="5500" dirty="0">
                <a:solidFill>
                  <a:schemeClr val="lt1"/>
                </a:solidFill>
                <a:latin typeface="Calibri"/>
                <a:cs typeface="Calibri"/>
                <a:sym typeface="Calibri"/>
              </a:rPr>
              <a:t>Piano di Trading</a:t>
            </a:r>
            <a:endParaRPr lang="en-US" dirty="0"/>
          </a:p>
          <a:p>
            <a:pPr marL="0" marR="0" lvl="0" indent="0" algn="ctr" rtl="0">
              <a:lnSpc>
                <a:spcPct val="100000"/>
              </a:lnSpc>
              <a:spcBef>
                <a:spcPts val="0"/>
              </a:spcBef>
              <a:spcAft>
                <a:spcPts val="0"/>
              </a:spcAft>
              <a:buClr>
                <a:schemeClr val="dk1"/>
              </a:buClr>
              <a:buSzPts val="1100"/>
              <a:buFont typeface="Arial"/>
              <a:buNone/>
            </a:pPr>
            <a:r>
              <a:rPr lang="en-US" sz="3200" b="0" i="1" u="none" strike="noStrike" cap="none" dirty="0">
                <a:solidFill>
                  <a:schemeClr val="lt1"/>
                </a:solidFill>
                <a:latin typeface="Calibri"/>
                <a:ea typeface="Calibri"/>
                <a:cs typeface="Calibri"/>
                <a:sym typeface="Calibri"/>
              </a:rPr>
              <a:t>Apertura Americana</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3"/>
          <p:cNvSpPr txBox="1">
            <a:spLocks noGrp="1"/>
          </p:cNvSpPr>
          <p:nvPr>
            <p:ph type="subTitle" idx="1"/>
          </p:nvPr>
        </p:nvSpPr>
        <p:spPr>
          <a:xfrm>
            <a:off x="2794225" y="892787"/>
            <a:ext cx="8259000" cy="52322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it-IT" sz="3400" dirty="0"/>
              <a:t>Routine Quotidiana</a:t>
            </a:r>
            <a:endParaRPr sz="3400" dirty="0"/>
          </a:p>
        </p:txBody>
      </p:sp>
      <p:pic>
        <p:nvPicPr>
          <p:cNvPr id="90" name="Google Shape;90;p3"/>
          <p:cNvPicPr preferRelativeResize="0"/>
          <p:nvPr/>
        </p:nvPicPr>
        <p:blipFill rotWithShape="1">
          <a:blip r:embed="rId3">
            <a:alphaModFix/>
          </a:blip>
          <a:srcRect/>
          <a:stretch/>
        </p:blipFill>
        <p:spPr>
          <a:xfrm>
            <a:off x="8535605" y="4584308"/>
            <a:ext cx="358587" cy="354169"/>
          </a:xfrm>
          <a:prstGeom prst="rect">
            <a:avLst/>
          </a:prstGeom>
          <a:noFill/>
          <a:ln>
            <a:noFill/>
          </a:ln>
        </p:spPr>
      </p:pic>
      <p:pic>
        <p:nvPicPr>
          <p:cNvPr id="91" name="Google Shape;91;p3"/>
          <p:cNvPicPr preferRelativeResize="0"/>
          <p:nvPr/>
        </p:nvPicPr>
        <p:blipFill rotWithShape="1">
          <a:blip r:embed="rId4">
            <a:alphaModFix/>
          </a:blip>
          <a:srcRect/>
          <a:stretch/>
        </p:blipFill>
        <p:spPr>
          <a:xfrm>
            <a:off x="8535608" y="4582453"/>
            <a:ext cx="358600" cy="356022"/>
          </a:xfrm>
          <a:prstGeom prst="rect">
            <a:avLst/>
          </a:prstGeom>
          <a:noFill/>
          <a:ln>
            <a:noFill/>
          </a:ln>
        </p:spPr>
      </p:pic>
      <p:grpSp>
        <p:nvGrpSpPr>
          <p:cNvPr id="92" name="Google Shape;92;p3"/>
          <p:cNvGrpSpPr/>
          <p:nvPr/>
        </p:nvGrpSpPr>
        <p:grpSpPr>
          <a:xfrm>
            <a:off x="1574001" y="475346"/>
            <a:ext cx="6022793" cy="399836"/>
            <a:chOff x="1828800" y="2092988"/>
            <a:chExt cx="8219999" cy="399836"/>
          </a:xfrm>
        </p:grpSpPr>
        <p:cxnSp>
          <p:nvCxnSpPr>
            <p:cNvPr id="93" name="Google Shape;93;p3"/>
            <p:cNvCxnSpPr/>
            <p:nvPr/>
          </p:nvCxnSpPr>
          <p:spPr>
            <a:xfrm>
              <a:off x="1828800" y="2095324"/>
              <a:ext cx="3657600" cy="0"/>
            </a:xfrm>
            <a:prstGeom prst="straightConnector1">
              <a:avLst/>
            </a:prstGeom>
            <a:noFill/>
            <a:ln w="19050" cap="flat" cmpd="sng">
              <a:solidFill>
                <a:srgbClr val="F68F0D"/>
              </a:solidFill>
              <a:prstDash val="solid"/>
              <a:miter lim="800000"/>
              <a:headEnd type="none" w="sm" len="sm"/>
              <a:tailEnd type="none" w="sm" len="sm"/>
            </a:ln>
          </p:spPr>
        </p:cxnSp>
        <p:cxnSp>
          <p:nvCxnSpPr>
            <p:cNvPr id="94" name="Google Shape;94;p3"/>
            <p:cNvCxnSpPr/>
            <p:nvPr/>
          </p:nvCxnSpPr>
          <p:spPr>
            <a:xfrm>
              <a:off x="6391199" y="2099481"/>
              <a:ext cx="3657600" cy="0"/>
            </a:xfrm>
            <a:prstGeom prst="straightConnector1">
              <a:avLst/>
            </a:prstGeom>
            <a:noFill/>
            <a:ln w="19050" cap="flat" cmpd="sng">
              <a:solidFill>
                <a:srgbClr val="F68F0D"/>
              </a:solidFill>
              <a:prstDash val="solid"/>
              <a:miter lim="800000"/>
              <a:headEnd type="none" w="sm" len="sm"/>
              <a:tailEnd type="none" w="sm" len="sm"/>
            </a:ln>
          </p:spPr>
        </p:cxnSp>
        <p:cxnSp>
          <p:nvCxnSpPr>
            <p:cNvPr id="95" name="Google Shape;95;p3"/>
            <p:cNvCxnSpPr/>
            <p:nvPr/>
          </p:nvCxnSpPr>
          <p:spPr>
            <a:xfrm>
              <a:off x="5480957" y="2095324"/>
              <a:ext cx="468000" cy="397500"/>
            </a:xfrm>
            <a:prstGeom prst="straightConnector1">
              <a:avLst/>
            </a:prstGeom>
            <a:noFill/>
            <a:ln w="19050" cap="flat" cmpd="sng">
              <a:solidFill>
                <a:srgbClr val="F68F0D"/>
              </a:solidFill>
              <a:prstDash val="solid"/>
              <a:miter lim="800000"/>
              <a:headEnd type="none" w="sm" len="sm"/>
              <a:tailEnd type="none" w="sm" len="sm"/>
            </a:ln>
          </p:spPr>
        </p:cxnSp>
        <p:cxnSp>
          <p:nvCxnSpPr>
            <p:cNvPr id="96" name="Google Shape;96;p3"/>
            <p:cNvCxnSpPr/>
            <p:nvPr/>
          </p:nvCxnSpPr>
          <p:spPr>
            <a:xfrm flipH="1">
              <a:off x="5935669" y="2092988"/>
              <a:ext cx="468000" cy="397500"/>
            </a:xfrm>
            <a:prstGeom prst="straightConnector1">
              <a:avLst/>
            </a:prstGeom>
            <a:noFill/>
            <a:ln w="19050" cap="flat" cmpd="sng">
              <a:solidFill>
                <a:srgbClr val="F68F0D"/>
              </a:solidFill>
              <a:prstDash val="solid"/>
              <a:miter lim="800000"/>
              <a:headEnd type="none" w="sm" len="sm"/>
              <a:tailEnd type="none" w="sm" len="sm"/>
            </a:ln>
          </p:spPr>
        </p:cxnSp>
      </p:grpSp>
      <p:sp>
        <p:nvSpPr>
          <p:cNvPr id="97" name="Google Shape;97;p3"/>
          <p:cNvSpPr txBox="1"/>
          <p:nvPr/>
        </p:nvSpPr>
        <p:spPr>
          <a:xfrm>
            <a:off x="263931" y="1603338"/>
            <a:ext cx="8616138" cy="440116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it-IT" sz="1400" b="0" i="0" u="none" strike="noStrike" cap="none" dirty="0">
                <a:solidFill>
                  <a:srgbClr val="000000"/>
                </a:solidFill>
                <a:latin typeface="Arial"/>
                <a:ea typeface="Arial"/>
                <a:cs typeface="Arial"/>
                <a:sym typeface="Arial"/>
              </a:rPr>
              <a:t>Controlla prima di entrare a mercato i dati macroeconomici:</a:t>
            </a:r>
          </a:p>
          <a:p>
            <a:pPr marL="0" marR="0" lvl="0" indent="0" algn="ctr" rtl="0">
              <a:lnSpc>
                <a:spcPct val="100000"/>
              </a:lnSpc>
              <a:spcBef>
                <a:spcPts val="0"/>
              </a:spcBef>
              <a:spcAft>
                <a:spcPts val="0"/>
              </a:spcAft>
              <a:buNone/>
            </a:pPr>
            <a:endParaRPr lang="it-IT" dirty="0"/>
          </a:p>
          <a:p>
            <a:pPr marL="0" marR="0" lvl="0" indent="0" algn="ctr" rtl="0">
              <a:lnSpc>
                <a:spcPct val="100000"/>
              </a:lnSpc>
              <a:spcBef>
                <a:spcPts val="0"/>
              </a:spcBef>
              <a:spcAft>
                <a:spcPts val="0"/>
              </a:spcAft>
              <a:buNone/>
            </a:pPr>
            <a:r>
              <a:rPr lang="it-IT" sz="1400" b="0" i="0" u="none" strike="noStrike" cap="none" dirty="0">
                <a:solidFill>
                  <a:srgbClr val="000000"/>
                </a:solidFill>
                <a:latin typeface="Arial"/>
                <a:ea typeface="Arial"/>
                <a:cs typeface="Arial"/>
                <a:sym typeface="Arial"/>
              </a:rPr>
              <a:t>ForexFactory.com</a:t>
            </a:r>
          </a:p>
          <a:p>
            <a:pPr marL="0" marR="0" lvl="0" indent="0" algn="ctr" rtl="0">
              <a:lnSpc>
                <a:spcPct val="100000"/>
              </a:lnSpc>
              <a:spcBef>
                <a:spcPts val="0"/>
              </a:spcBef>
              <a:spcAft>
                <a:spcPts val="0"/>
              </a:spcAft>
              <a:buNone/>
            </a:pPr>
            <a:r>
              <a:rPr lang="it-IT" dirty="0"/>
              <a:t>Investing.com</a:t>
            </a:r>
          </a:p>
          <a:p>
            <a:pPr marL="0" marR="0" lvl="0" indent="0" algn="ctr" rtl="0">
              <a:lnSpc>
                <a:spcPct val="100000"/>
              </a:lnSpc>
              <a:spcBef>
                <a:spcPts val="0"/>
              </a:spcBef>
              <a:spcAft>
                <a:spcPts val="0"/>
              </a:spcAft>
              <a:buNone/>
            </a:pPr>
            <a:endParaRPr lang="it-IT"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r>
              <a:rPr lang="it-IT" dirty="0"/>
              <a:t>Questo per avere chiaro quando operare sul mercato.</a:t>
            </a:r>
          </a:p>
          <a:p>
            <a:pPr marL="0" marR="0" lvl="0" indent="0" algn="ctr" rtl="0">
              <a:lnSpc>
                <a:spcPct val="100000"/>
              </a:lnSpc>
              <a:spcBef>
                <a:spcPts val="0"/>
              </a:spcBef>
              <a:spcAft>
                <a:spcPts val="0"/>
              </a:spcAft>
              <a:buNone/>
            </a:pPr>
            <a:r>
              <a:rPr lang="it-IT" dirty="0"/>
              <a:t>Le notizie a 3 tori, identificate con il colore rosso, sono quelle notizie che impattano maggiormente.</a:t>
            </a:r>
          </a:p>
          <a:p>
            <a:pPr marL="0" marR="0" lvl="0" indent="0" algn="ctr" rtl="0">
              <a:lnSpc>
                <a:spcPct val="100000"/>
              </a:lnSpc>
              <a:spcBef>
                <a:spcPts val="0"/>
              </a:spcBef>
              <a:spcAft>
                <a:spcPts val="0"/>
              </a:spcAft>
              <a:buNone/>
            </a:pPr>
            <a:endParaRPr lang="it-IT" dirty="0"/>
          </a:p>
          <a:p>
            <a:pPr marL="0" marR="0" lvl="0" indent="0" algn="ctr" rtl="0">
              <a:lnSpc>
                <a:spcPct val="100000"/>
              </a:lnSpc>
              <a:spcBef>
                <a:spcPts val="0"/>
              </a:spcBef>
              <a:spcAft>
                <a:spcPts val="0"/>
              </a:spcAft>
              <a:buNone/>
            </a:pPr>
            <a:r>
              <a:rPr lang="it-IT" dirty="0"/>
              <a:t>Se abbiamo operazioni in macchina o pendenti, prima di ogni rilascio di un dato a 3 tori, vado a togliere tutto. </a:t>
            </a:r>
          </a:p>
          <a:p>
            <a:pPr marL="0" marR="0" lvl="0" indent="0" algn="ctr" rtl="0">
              <a:lnSpc>
                <a:spcPct val="100000"/>
              </a:lnSpc>
              <a:spcBef>
                <a:spcPts val="0"/>
              </a:spcBef>
              <a:spcAft>
                <a:spcPts val="0"/>
              </a:spcAft>
              <a:buNone/>
            </a:pPr>
            <a:endParaRPr lang="it-IT" dirty="0"/>
          </a:p>
          <a:p>
            <a:pPr marL="0" marR="0" lvl="0" indent="0" algn="ctr" rtl="0">
              <a:lnSpc>
                <a:spcPct val="100000"/>
              </a:lnSpc>
              <a:spcBef>
                <a:spcPts val="0"/>
              </a:spcBef>
              <a:spcAft>
                <a:spcPts val="0"/>
              </a:spcAft>
              <a:buNone/>
            </a:pPr>
            <a:r>
              <a:rPr lang="it-IT" i="1" dirty="0"/>
              <a:t>Apertura mercati Europei: 09:00 ( Ora Italiana)</a:t>
            </a:r>
          </a:p>
          <a:p>
            <a:pPr marL="0" marR="0" lvl="0" indent="0" algn="ctr" rtl="0">
              <a:lnSpc>
                <a:spcPct val="100000"/>
              </a:lnSpc>
              <a:spcBef>
                <a:spcPts val="0"/>
              </a:spcBef>
              <a:spcAft>
                <a:spcPts val="0"/>
              </a:spcAft>
              <a:buNone/>
            </a:pPr>
            <a:r>
              <a:rPr lang="it-IT" i="1" dirty="0"/>
              <a:t>Apertura mercati Americani : 15:30 ( Ora Italiana)</a:t>
            </a:r>
          </a:p>
          <a:p>
            <a:pPr marL="0" marR="0" lvl="0" indent="0" algn="ctr" rtl="0">
              <a:lnSpc>
                <a:spcPct val="100000"/>
              </a:lnSpc>
              <a:spcBef>
                <a:spcPts val="0"/>
              </a:spcBef>
              <a:spcAft>
                <a:spcPts val="0"/>
              </a:spcAft>
              <a:buNone/>
            </a:pPr>
            <a:r>
              <a:rPr lang="it-IT" i="1" dirty="0"/>
              <a:t>Sfruttiamo la volatilità nei primi 15 minuti</a:t>
            </a:r>
          </a:p>
          <a:p>
            <a:pPr marL="0" marR="0" lvl="0" indent="0" algn="ctr" rtl="0">
              <a:lnSpc>
                <a:spcPct val="100000"/>
              </a:lnSpc>
              <a:spcBef>
                <a:spcPts val="0"/>
              </a:spcBef>
              <a:spcAft>
                <a:spcPts val="0"/>
              </a:spcAft>
              <a:buNone/>
            </a:pPr>
            <a:endParaRPr lang="it-IT"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8930680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3"/>
          <p:cNvSpPr txBox="1">
            <a:spLocks noGrp="1"/>
          </p:cNvSpPr>
          <p:nvPr>
            <p:ph type="subTitle" idx="1"/>
          </p:nvPr>
        </p:nvSpPr>
        <p:spPr>
          <a:xfrm>
            <a:off x="1728571" y="872543"/>
            <a:ext cx="8259000" cy="52322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sz="3400" dirty="0"/>
              <a:t>Come </a:t>
            </a:r>
            <a:r>
              <a:rPr lang="en-US" sz="3400" dirty="0" err="1"/>
              <a:t>impostare</a:t>
            </a:r>
            <a:r>
              <a:rPr lang="en-US" sz="3400" dirty="0"/>
              <a:t> la </a:t>
            </a:r>
            <a:r>
              <a:rPr lang="en-US" sz="3400" dirty="0" err="1"/>
              <a:t>piattaforma</a:t>
            </a:r>
            <a:endParaRPr sz="3400" dirty="0"/>
          </a:p>
        </p:txBody>
      </p:sp>
      <p:pic>
        <p:nvPicPr>
          <p:cNvPr id="90" name="Google Shape;90;p3"/>
          <p:cNvPicPr preferRelativeResize="0"/>
          <p:nvPr/>
        </p:nvPicPr>
        <p:blipFill rotWithShape="1">
          <a:blip r:embed="rId3">
            <a:alphaModFix/>
          </a:blip>
          <a:srcRect/>
          <a:stretch/>
        </p:blipFill>
        <p:spPr>
          <a:xfrm>
            <a:off x="8535605" y="4584308"/>
            <a:ext cx="358587" cy="354169"/>
          </a:xfrm>
          <a:prstGeom prst="rect">
            <a:avLst/>
          </a:prstGeom>
          <a:noFill/>
          <a:ln>
            <a:noFill/>
          </a:ln>
        </p:spPr>
      </p:pic>
      <p:pic>
        <p:nvPicPr>
          <p:cNvPr id="91" name="Google Shape;91;p3"/>
          <p:cNvPicPr preferRelativeResize="0"/>
          <p:nvPr/>
        </p:nvPicPr>
        <p:blipFill rotWithShape="1">
          <a:blip r:embed="rId4">
            <a:alphaModFix/>
          </a:blip>
          <a:srcRect/>
          <a:stretch/>
        </p:blipFill>
        <p:spPr>
          <a:xfrm>
            <a:off x="8535608" y="4582453"/>
            <a:ext cx="358600" cy="356022"/>
          </a:xfrm>
          <a:prstGeom prst="rect">
            <a:avLst/>
          </a:prstGeom>
          <a:noFill/>
          <a:ln>
            <a:noFill/>
          </a:ln>
        </p:spPr>
      </p:pic>
      <p:grpSp>
        <p:nvGrpSpPr>
          <p:cNvPr id="92" name="Google Shape;92;p3"/>
          <p:cNvGrpSpPr/>
          <p:nvPr/>
        </p:nvGrpSpPr>
        <p:grpSpPr>
          <a:xfrm>
            <a:off x="1574001" y="475346"/>
            <a:ext cx="6022793" cy="399836"/>
            <a:chOff x="1828800" y="2092988"/>
            <a:chExt cx="8219999" cy="399836"/>
          </a:xfrm>
        </p:grpSpPr>
        <p:cxnSp>
          <p:nvCxnSpPr>
            <p:cNvPr id="93" name="Google Shape;93;p3"/>
            <p:cNvCxnSpPr/>
            <p:nvPr/>
          </p:nvCxnSpPr>
          <p:spPr>
            <a:xfrm>
              <a:off x="1828800" y="2095324"/>
              <a:ext cx="3657600" cy="0"/>
            </a:xfrm>
            <a:prstGeom prst="straightConnector1">
              <a:avLst/>
            </a:prstGeom>
            <a:noFill/>
            <a:ln w="19050" cap="flat" cmpd="sng">
              <a:solidFill>
                <a:srgbClr val="F68F0D"/>
              </a:solidFill>
              <a:prstDash val="solid"/>
              <a:miter lim="800000"/>
              <a:headEnd type="none" w="sm" len="sm"/>
              <a:tailEnd type="none" w="sm" len="sm"/>
            </a:ln>
          </p:spPr>
        </p:cxnSp>
        <p:cxnSp>
          <p:nvCxnSpPr>
            <p:cNvPr id="94" name="Google Shape;94;p3"/>
            <p:cNvCxnSpPr/>
            <p:nvPr/>
          </p:nvCxnSpPr>
          <p:spPr>
            <a:xfrm>
              <a:off x="6391199" y="2099481"/>
              <a:ext cx="3657600" cy="0"/>
            </a:xfrm>
            <a:prstGeom prst="straightConnector1">
              <a:avLst/>
            </a:prstGeom>
            <a:noFill/>
            <a:ln w="19050" cap="flat" cmpd="sng">
              <a:solidFill>
                <a:srgbClr val="F68F0D"/>
              </a:solidFill>
              <a:prstDash val="solid"/>
              <a:miter lim="800000"/>
              <a:headEnd type="none" w="sm" len="sm"/>
              <a:tailEnd type="none" w="sm" len="sm"/>
            </a:ln>
          </p:spPr>
        </p:cxnSp>
        <p:cxnSp>
          <p:nvCxnSpPr>
            <p:cNvPr id="95" name="Google Shape;95;p3"/>
            <p:cNvCxnSpPr/>
            <p:nvPr/>
          </p:nvCxnSpPr>
          <p:spPr>
            <a:xfrm>
              <a:off x="5480957" y="2095324"/>
              <a:ext cx="468000" cy="397500"/>
            </a:xfrm>
            <a:prstGeom prst="straightConnector1">
              <a:avLst/>
            </a:prstGeom>
            <a:noFill/>
            <a:ln w="19050" cap="flat" cmpd="sng">
              <a:solidFill>
                <a:srgbClr val="F68F0D"/>
              </a:solidFill>
              <a:prstDash val="solid"/>
              <a:miter lim="800000"/>
              <a:headEnd type="none" w="sm" len="sm"/>
              <a:tailEnd type="none" w="sm" len="sm"/>
            </a:ln>
          </p:spPr>
        </p:cxnSp>
        <p:cxnSp>
          <p:nvCxnSpPr>
            <p:cNvPr id="96" name="Google Shape;96;p3"/>
            <p:cNvCxnSpPr/>
            <p:nvPr/>
          </p:nvCxnSpPr>
          <p:spPr>
            <a:xfrm flipH="1">
              <a:off x="5935669" y="2092988"/>
              <a:ext cx="468000" cy="397500"/>
            </a:xfrm>
            <a:prstGeom prst="straightConnector1">
              <a:avLst/>
            </a:prstGeom>
            <a:noFill/>
            <a:ln w="19050" cap="flat" cmpd="sng">
              <a:solidFill>
                <a:srgbClr val="F68F0D"/>
              </a:solidFill>
              <a:prstDash val="solid"/>
              <a:miter lim="800000"/>
              <a:headEnd type="none" w="sm" len="sm"/>
              <a:tailEnd type="none" w="sm" len="sm"/>
            </a:ln>
          </p:spPr>
        </p:cxnSp>
      </p:grpSp>
      <p:sp>
        <p:nvSpPr>
          <p:cNvPr id="97" name="Google Shape;97;p3"/>
          <p:cNvSpPr txBox="1"/>
          <p:nvPr/>
        </p:nvSpPr>
        <p:spPr>
          <a:xfrm>
            <a:off x="263931" y="1603338"/>
            <a:ext cx="8616138" cy="375483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it-IT" sz="1400" b="0" i="0" u="none" strike="noStrike" cap="none" dirty="0">
                <a:solidFill>
                  <a:srgbClr val="000000"/>
                </a:solidFill>
                <a:latin typeface="Arial"/>
                <a:ea typeface="Arial"/>
                <a:cs typeface="Arial"/>
                <a:sym typeface="Arial"/>
              </a:rPr>
              <a:t>Indici di riferimento del mercato americano:</a:t>
            </a:r>
          </a:p>
          <a:p>
            <a:pPr marL="0" marR="0" lvl="0" indent="0" algn="l" rtl="0">
              <a:lnSpc>
                <a:spcPct val="100000"/>
              </a:lnSpc>
              <a:spcBef>
                <a:spcPts val="0"/>
              </a:spcBef>
              <a:spcAft>
                <a:spcPts val="0"/>
              </a:spcAft>
              <a:buNone/>
            </a:pPr>
            <a:endParaRPr lang="it-IT" dirty="0"/>
          </a:p>
          <a:p>
            <a:pPr marL="0" marR="0" lvl="0" indent="0" algn="ctr" rtl="0">
              <a:lnSpc>
                <a:spcPct val="100000"/>
              </a:lnSpc>
              <a:spcBef>
                <a:spcPts val="0"/>
              </a:spcBef>
              <a:spcAft>
                <a:spcPts val="0"/>
              </a:spcAft>
              <a:buNone/>
            </a:pPr>
            <a:r>
              <a:rPr lang="it-IT" sz="1400" b="0" i="0" u="none" strike="noStrike" cap="none" dirty="0">
                <a:solidFill>
                  <a:srgbClr val="000000"/>
                </a:solidFill>
                <a:latin typeface="Arial"/>
                <a:ea typeface="Arial"/>
                <a:cs typeface="Arial"/>
                <a:sym typeface="Arial"/>
              </a:rPr>
              <a:t>US30USD – Dow Jones</a:t>
            </a:r>
          </a:p>
          <a:p>
            <a:pPr marL="0" marR="0" lvl="0" indent="0" algn="ctr" rtl="0">
              <a:lnSpc>
                <a:spcPct val="100000"/>
              </a:lnSpc>
              <a:spcBef>
                <a:spcPts val="0"/>
              </a:spcBef>
              <a:spcAft>
                <a:spcPts val="0"/>
              </a:spcAft>
              <a:buNone/>
            </a:pPr>
            <a:endParaRPr lang="it-IT"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r>
              <a:rPr lang="it-IT" dirty="0"/>
              <a:t>NASUSD- Nasdaq ( indice più volatile in assoluto)</a:t>
            </a:r>
          </a:p>
          <a:p>
            <a:pPr marL="0" marR="0" lvl="0" indent="0" algn="ctr" rtl="0">
              <a:lnSpc>
                <a:spcPct val="100000"/>
              </a:lnSpc>
              <a:spcBef>
                <a:spcPts val="0"/>
              </a:spcBef>
              <a:spcAft>
                <a:spcPts val="0"/>
              </a:spcAft>
              <a:buNone/>
            </a:pPr>
            <a:endParaRPr lang="it-IT"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r>
              <a:rPr lang="it-IT" dirty="0"/>
              <a:t>SPXUSD- Indice che influenza i movimenti degli indici americani</a:t>
            </a:r>
          </a:p>
          <a:p>
            <a:pPr marL="0" marR="0" lvl="0" indent="0" algn="ctr" rtl="0">
              <a:lnSpc>
                <a:spcPct val="100000"/>
              </a:lnSpc>
              <a:spcBef>
                <a:spcPts val="0"/>
              </a:spcBef>
              <a:spcAft>
                <a:spcPts val="0"/>
              </a:spcAft>
              <a:buNone/>
            </a:pPr>
            <a:endParaRPr lang="it-IT"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r>
              <a:rPr lang="it-IT" sz="1400" b="0" i="0" u="none" strike="noStrike" cap="none" dirty="0">
                <a:solidFill>
                  <a:srgbClr val="000000"/>
                </a:solidFill>
                <a:latin typeface="Arial"/>
                <a:ea typeface="Arial"/>
                <a:cs typeface="Arial"/>
                <a:sym typeface="Arial"/>
              </a:rPr>
              <a:t>D30EUR- Dax (Tradiamo in base alla correlazione degli indici americani che trainano i movimenti)</a:t>
            </a:r>
          </a:p>
          <a:p>
            <a:pPr marL="0" marR="0" lvl="0" indent="0" algn="ctr" rtl="0">
              <a:lnSpc>
                <a:spcPct val="100000"/>
              </a:lnSpc>
              <a:spcBef>
                <a:spcPts val="0"/>
              </a:spcBef>
              <a:spcAft>
                <a:spcPts val="0"/>
              </a:spcAft>
              <a:buNone/>
            </a:pPr>
            <a:endParaRPr lang="it-IT"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r>
              <a:rPr lang="it-IT" dirty="0"/>
              <a:t>VALUTE</a:t>
            </a:r>
          </a:p>
          <a:p>
            <a:pPr marL="0" marR="0" lvl="0" indent="0" algn="ctr" rtl="0">
              <a:lnSpc>
                <a:spcPct val="100000"/>
              </a:lnSpc>
              <a:spcBef>
                <a:spcPts val="0"/>
              </a:spcBef>
              <a:spcAft>
                <a:spcPts val="0"/>
              </a:spcAft>
              <a:buNone/>
            </a:pPr>
            <a:endParaRPr lang="it-IT"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r>
              <a:rPr lang="it-IT" dirty="0"/>
              <a:t>Gli indici sono molto più volatili rispetto alle valute e non hanno commissioni.</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3"/>
          <p:cNvSpPr txBox="1">
            <a:spLocks noGrp="1"/>
          </p:cNvSpPr>
          <p:nvPr>
            <p:ph type="subTitle" idx="1"/>
          </p:nvPr>
        </p:nvSpPr>
        <p:spPr>
          <a:xfrm>
            <a:off x="1138205" y="669369"/>
            <a:ext cx="8259000" cy="52322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sz="3400" dirty="0" err="1"/>
              <a:t>Indicatori</a:t>
            </a:r>
            <a:r>
              <a:rPr lang="en-US" sz="3400" dirty="0"/>
              <a:t> </a:t>
            </a:r>
            <a:r>
              <a:rPr lang="en-US" sz="3400" dirty="0" err="1"/>
              <a:t>all’interno</a:t>
            </a:r>
            <a:r>
              <a:rPr lang="en-US" sz="3400" dirty="0"/>
              <a:t> </a:t>
            </a:r>
            <a:r>
              <a:rPr lang="en-US" sz="3400" dirty="0" err="1"/>
              <a:t>della</a:t>
            </a:r>
            <a:r>
              <a:rPr lang="en-US" sz="3400" dirty="0"/>
              <a:t> </a:t>
            </a:r>
            <a:r>
              <a:rPr lang="en-US" sz="3400" dirty="0" err="1"/>
              <a:t>piattaforma</a:t>
            </a:r>
            <a:endParaRPr sz="3400" dirty="0"/>
          </a:p>
        </p:txBody>
      </p:sp>
      <p:pic>
        <p:nvPicPr>
          <p:cNvPr id="90" name="Google Shape;90;p3"/>
          <p:cNvPicPr preferRelativeResize="0"/>
          <p:nvPr/>
        </p:nvPicPr>
        <p:blipFill rotWithShape="1">
          <a:blip r:embed="rId3">
            <a:alphaModFix/>
          </a:blip>
          <a:srcRect/>
          <a:stretch/>
        </p:blipFill>
        <p:spPr>
          <a:xfrm>
            <a:off x="8535605" y="4584308"/>
            <a:ext cx="358587" cy="354169"/>
          </a:xfrm>
          <a:prstGeom prst="rect">
            <a:avLst/>
          </a:prstGeom>
          <a:noFill/>
          <a:ln>
            <a:noFill/>
          </a:ln>
        </p:spPr>
      </p:pic>
      <p:pic>
        <p:nvPicPr>
          <p:cNvPr id="91" name="Google Shape;91;p3"/>
          <p:cNvPicPr preferRelativeResize="0"/>
          <p:nvPr/>
        </p:nvPicPr>
        <p:blipFill rotWithShape="1">
          <a:blip r:embed="rId4">
            <a:alphaModFix/>
          </a:blip>
          <a:srcRect/>
          <a:stretch/>
        </p:blipFill>
        <p:spPr>
          <a:xfrm>
            <a:off x="8535608" y="4582453"/>
            <a:ext cx="358600" cy="356022"/>
          </a:xfrm>
          <a:prstGeom prst="rect">
            <a:avLst/>
          </a:prstGeom>
          <a:noFill/>
          <a:ln>
            <a:noFill/>
          </a:ln>
        </p:spPr>
      </p:pic>
      <p:grpSp>
        <p:nvGrpSpPr>
          <p:cNvPr id="92" name="Google Shape;92;p3"/>
          <p:cNvGrpSpPr/>
          <p:nvPr/>
        </p:nvGrpSpPr>
        <p:grpSpPr>
          <a:xfrm>
            <a:off x="1560603" y="248441"/>
            <a:ext cx="6022793" cy="399836"/>
            <a:chOff x="1828800" y="2092988"/>
            <a:chExt cx="8219999" cy="399836"/>
          </a:xfrm>
        </p:grpSpPr>
        <p:cxnSp>
          <p:nvCxnSpPr>
            <p:cNvPr id="93" name="Google Shape;93;p3"/>
            <p:cNvCxnSpPr/>
            <p:nvPr/>
          </p:nvCxnSpPr>
          <p:spPr>
            <a:xfrm>
              <a:off x="1828800" y="2095324"/>
              <a:ext cx="3657600" cy="0"/>
            </a:xfrm>
            <a:prstGeom prst="straightConnector1">
              <a:avLst/>
            </a:prstGeom>
            <a:noFill/>
            <a:ln w="19050" cap="flat" cmpd="sng">
              <a:solidFill>
                <a:srgbClr val="F68F0D"/>
              </a:solidFill>
              <a:prstDash val="solid"/>
              <a:miter lim="800000"/>
              <a:headEnd type="none" w="sm" len="sm"/>
              <a:tailEnd type="none" w="sm" len="sm"/>
            </a:ln>
          </p:spPr>
        </p:cxnSp>
        <p:cxnSp>
          <p:nvCxnSpPr>
            <p:cNvPr id="94" name="Google Shape;94;p3"/>
            <p:cNvCxnSpPr/>
            <p:nvPr/>
          </p:nvCxnSpPr>
          <p:spPr>
            <a:xfrm>
              <a:off x="6391199" y="2099481"/>
              <a:ext cx="3657600" cy="0"/>
            </a:xfrm>
            <a:prstGeom prst="straightConnector1">
              <a:avLst/>
            </a:prstGeom>
            <a:noFill/>
            <a:ln w="19050" cap="flat" cmpd="sng">
              <a:solidFill>
                <a:srgbClr val="F68F0D"/>
              </a:solidFill>
              <a:prstDash val="solid"/>
              <a:miter lim="800000"/>
              <a:headEnd type="none" w="sm" len="sm"/>
              <a:tailEnd type="none" w="sm" len="sm"/>
            </a:ln>
          </p:spPr>
        </p:cxnSp>
        <p:cxnSp>
          <p:nvCxnSpPr>
            <p:cNvPr id="95" name="Google Shape;95;p3"/>
            <p:cNvCxnSpPr/>
            <p:nvPr/>
          </p:nvCxnSpPr>
          <p:spPr>
            <a:xfrm>
              <a:off x="5480957" y="2095324"/>
              <a:ext cx="468000" cy="397500"/>
            </a:xfrm>
            <a:prstGeom prst="straightConnector1">
              <a:avLst/>
            </a:prstGeom>
            <a:noFill/>
            <a:ln w="19050" cap="flat" cmpd="sng">
              <a:solidFill>
                <a:srgbClr val="F68F0D"/>
              </a:solidFill>
              <a:prstDash val="solid"/>
              <a:miter lim="800000"/>
              <a:headEnd type="none" w="sm" len="sm"/>
              <a:tailEnd type="none" w="sm" len="sm"/>
            </a:ln>
          </p:spPr>
        </p:cxnSp>
        <p:cxnSp>
          <p:nvCxnSpPr>
            <p:cNvPr id="96" name="Google Shape;96;p3"/>
            <p:cNvCxnSpPr/>
            <p:nvPr/>
          </p:nvCxnSpPr>
          <p:spPr>
            <a:xfrm flipH="1">
              <a:off x="5935669" y="2092988"/>
              <a:ext cx="468000" cy="397500"/>
            </a:xfrm>
            <a:prstGeom prst="straightConnector1">
              <a:avLst/>
            </a:prstGeom>
            <a:noFill/>
            <a:ln w="19050" cap="flat" cmpd="sng">
              <a:solidFill>
                <a:srgbClr val="F68F0D"/>
              </a:solidFill>
              <a:prstDash val="solid"/>
              <a:miter lim="800000"/>
              <a:headEnd type="none" w="sm" len="sm"/>
              <a:tailEnd type="none" w="sm" len="sm"/>
            </a:ln>
          </p:spPr>
        </p:cxnSp>
      </p:grpSp>
      <p:sp>
        <p:nvSpPr>
          <p:cNvPr id="97" name="Google Shape;97;p3"/>
          <p:cNvSpPr txBox="1"/>
          <p:nvPr/>
        </p:nvSpPr>
        <p:spPr>
          <a:xfrm>
            <a:off x="278054" y="1213681"/>
            <a:ext cx="8616138" cy="455505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it-IT" sz="1000" b="0" i="0" u="none" strike="noStrike" cap="none" dirty="0">
                <a:solidFill>
                  <a:srgbClr val="000000"/>
                </a:solidFill>
                <a:latin typeface="Arial"/>
                <a:ea typeface="Arial"/>
                <a:cs typeface="Arial"/>
                <a:sym typeface="Arial"/>
              </a:rPr>
              <a:t>- </a:t>
            </a:r>
            <a:r>
              <a:rPr lang="it-IT" sz="1000" b="1" i="0" u="none" strike="noStrike" cap="none" dirty="0">
                <a:solidFill>
                  <a:srgbClr val="000000"/>
                </a:solidFill>
                <a:latin typeface="Arial"/>
                <a:ea typeface="Arial"/>
                <a:cs typeface="Arial"/>
                <a:sym typeface="Arial"/>
              </a:rPr>
              <a:t>Candele giapponesi</a:t>
            </a:r>
            <a:r>
              <a:rPr lang="it-IT" sz="1000" b="0" i="0" u="none" strike="noStrike" cap="none" dirty="0">
                <a:solidFill>
                  <a:srgbClr val="000000"/>
                </a:solidFill>
                <a:latin typeface="Arial"/>
                <a:ea typeface="Arial"/>
                <a:cs typeface="Arial"/>
                <a:sym typeface="Arial"/>
              </a:rPr>
              <a:t>:</a:t>
            </a:r>
          </a:p>
          <a:p>
            <a:pPr marL="0" marR="0" lvl="0" indent="0" algn="ctr" rtl="0">
              <a:lnSpc>
                <a:spcPct val="100000"/>
              </a:lnSpc>
              <a:spcBef>
                <a:spcPts val="0"/>
              </a:spcBef>
              <a:spcAft>
                <a:spcPts val="0"/>
              </a:spcAft>
              <a:buNone/>
            </a:pPr>
            <a:endParaRPr lang="it-IT" sz="10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r>
              <a:rPr lang="it-IT" sz="1000" dirty="0"/>
              <a:t>Bullish – colore Verde</a:t>
            </a:r>
          </a:p>
          <a:p>
            <a:pPr marL="0" marR="0" lvl="0" indent="0" algn="ctr" rtl="0">
              <a:lnSpc>
                <a:spcPct val="100000"/>
              </a:lnSpc>
              <a:spcBef>
                <a:spcPts val="0"/>
              </a:spcBef>
              <a:spcAft>
                <a:spcPts val="0"/>
              </a:spcAft>
              <a:buNone/>
            </a:pPr>
            <a:r>
              <a:rPr lang="it-IT" sz="1000" b="0" i="0" u="none" strike="noStrike" cap="none" dirty="0" err="1">
                <a:solidFill>
                  <a:srgbClr val="000000"/>
                </a:solidFill>
                <a:latin typeface="Arial"/>
                <a:ea typeface="Arial"/>
                <a:cs typeface="Arial"/>
                <a:sym typeface="Arial"/>
              </a:rPr>
              <a:t>Bearish</a:t>
            </a:r>
            <a:r>
              <a:rPr lang="it-IT" sz="1000" b="0" i="0" u="none" strike="noStrike" cap="none" dirty="0">
                <a:solidFill>
                  <a:srgbClr val="000000"/>
                </a:solidFill>
                <a:latin typeface="Arial"/>
                <a:ea typeface="Arial"/>
                <a:cs typeface="Arial"/>
                <a:sym typeface="Arial"/>
              </a:rPr>
              <a:t> – colore Rosso</a:t>
            </a:r>
          </a:p>
          <a:p>
            <a:pPr marL="0" marR="0" lvl="0" indent="0" algn="ctr" rtl="0">
              <a:lnSpc>
                <a:spcPct val="100000"/>
              </a:lnSpc>
              <a:spcBef>
                <a:spcPts val="0"/>
              </a:spcBef>
              <a:spcAft>
                <a:spcPts val="0"/>
              </a:spcAft>
              <a:buNone/>
            </a:pPr>
            <a:endParaRPr lang="it-IT" sz="1000" dirty="0"/>
          </a:p>
          <a:p>
            <a:pPr marL="0" marR="0" lvl="0" indent="0" algn="ctr" rtl="0">
              <a:lnSpc>
                <a:spcPct val="100000"/>
              </a:lnSpc>
              <a:spcBef>
                <a:spcPts val="0"/>
              </a:spcBef>
              <a:spcAft>
                <a:spcPts val="0"/>
              </a:spcAft>
              <a:buNone/>
            </a:pPr>
            <a:r>
              <a:rPr lang="it-IT" sz="1000" dirty="0"/>
              <a:t>- </a:t>
            </a:r>
            <a:r>
              <a:rPr lang="it-IT" sz="1000" b="1" dirty="0" err="1"/>
              <a:t>Qqin</a:t>
            </a:r>
            <a:r>
              <a:rPr lang="it-IT" sz="1000" b="1" dirty="0"/>
              <a:t> Multipivot</a:t>
            </a:r>
            <a:br>
              <a:rPr lang="it-IT" sz="1000" dirty="0"/>
            </a:br>
            <a:r>
              <a:rPr lang="it-IT" sz="1000" dirty="0"/>
              <a:t>Classic-b</a:t>
            </a:r>
          </a:p>
          <a:p>
            <a:pPr marL="0" marR="0" lvl="0" indent="0" algn="ctr" rtl="0">
              <a:lnSpc>
                <a:spcPct val="100000"/>
              </a:lnSpc>
              <a:spcBef>
                <a:spcPts val="0"/>
              </a:spcBef>
              <a:spcAft>
                <a:spcPts val="0"/>
              </a:spcAft>
              <a:buNone/>
            </a:pPr>
            <a:r>
              <a:rPr lang="it-IT" sz="1000" dirty="0"/>
              <a:t>Fibonacci </a:t>
            </a:r>
          </a:p>
          <a:p>
            <a:pPr marL="0" marR="0" lvl="0" indent="0" algn="ctr" rtl="0">
              <a:lnSpc>
                <a:spcPct val="100000"/>
              </a:lnSpc>
              <a:spcBef>
                <a:spcPts val="0"/>
              </a:spcBef>
              <a:spcAft>
                <a:spcPts val="0"/>
              </a:spcAft>
              <a:buNone/>
            </a:pPr>
            <a:r>
              <a:rPr lang="it-IT" sz="1000" b="0" i="0" u="none" strike="noStrike" cap="none" dirty="0">
                <a:solidFill>
                  <a:srgbClr val="000000"/>
                </a:solidFill>
                <a:latin typeface="Arial"/>
                <a:ea typeface="Arial"/>
                <a:cs typeface="Arial"/>
                <a:sym typeface="Arial"/>
              </a:rPr>
              <a:t>%Custom</a:t>
            </a:r>
          </a:p>
          <a:p>
            <a:pPr marL="0" marR="0" lvl="0" indent="0" algn="ctr" rtl="0">
              <a:lnSpc>
                <a:spcPct val="100000"/>
              </a:lnSpc>
              <a:spcBef>
                <a:spcPts val="0"/>
              </a:spcBef>
              <a:spcAft>
                <a:spcPts val="0"/>
              </a:spcAft>
              <a:buNone/>
            </a:pPr>
            <a:endParaRPr lang="it-IT" sz="1000" dirty="0"/>
          </a:p>
          <a:p>
            <a:pPr marL="0" marR="0" lvl="0" indent="0" algn="ctr" rtl="0">
              <a:lnSpc>
                <a:spcPct val="100000"/>
              </a:lnSpc>
              <a:spcBef>
                <a:spcPts val="0"/>
              </a:spcBef>
              <a:spcAft>
                <a:spcPts val="0"/>
              </a:spcAft>
              <a:buNone/>
            </a:pPr>
            <a:r>
              <a:rPr lang="it-IT" sz="1000" b="0" i="0" u="none" strike="noStrike" cap="none" dirty="0">
                <a:solidFill>
                  <a:srgbClr val="000000"/>
                </a:solidFill>
                <a:latin typeface="Arial"/>
                <a:ea typeface="Arial"/>
                <a:cs typeface="Arial"/>
                <a:sym typeface="Arial"/>
              </a:rPr>
              <a:t>- </a:t>
            </a:r>
            <a:r>
              <a:rPr lang="it-IT" sz="1000" b="1" i="0" u="none" strike="noStrike" cap="none" dirty="0">
                <a:solidFill>
                  <a:srgbClr val="000000"/>
                </a:solidFill>
                <a:latin typeface="Arial"/>
                <a:ea typeface="Arial"/>
                <a:cs typeface="Arial"/>
                <a:sym typeface="Arial"/>
              </a:rPr>
              <a:t>Super Trend </a:t>
            </a:r>
          </a:p>
          <a:p>
            <a:pPr marL="0" marR="0" lvl="0" indent="0" algn="ctr" rtl="0">
              <a:lnSpc>
                <a:spcPct val="100000"/>
              </a:lnSpc>
              <a:spcBef>
                <a:spcPts val="0"/>
              </a:spcBef>
              <a:spcAft>
                <a:spcPts val="0"/>
              </a:spcAft>
              <a:buNone/>
            </a:pPr>
            <a:r>
              <a:rPr lang="it-IT" sz="1000" dirty="0" err="1"/>
              <a:t>Mulltiplier</a:t>
            </a:r>
            <a:r>
              <a:rPr lang="it-IT" sz="1000" dirty="0"/>
              <a:t>: </a:t>
            </a:r>
          </a:p>
          <a:p>
            <a:pPr marL="0" marR="0" lvl="0" indent="0" algn="ctr" rtl="0">
              <a:lnSpc>
                <a:spcPct val="100000"/>
              </a:lnSpc>
              <a:spcBef>
                <a:spcPts val="0"/>
              </a:spcBef>
              <a:spcAft>
                <a:spcPts val="0"/>
              </a:spcAft>
              <a:buNone/>
            </a:pPr>
            <a:r>
              <a:rPr lang="it-IT" sz="1000" b="0" i="0" u="none" strike="noStrike" cap="none" dirty="0">
                <a:solidFill>
                  <a:srgbClr val="000000"/>
                </a:solidFill>
                <a:latin typeface="Arial"/>
                <a:ea typeface="Arial"/>
                <a:cs typeface="Arial"/>
                <a:sym typeface="Arial"/>
              </a:rPr>
              <a:t>3.5</a:t>
            </a:r>
          </a:p>
          <a:p>
            <a:pPr marL="0" marR="0" lvl="0" indent="0" algn="ctr" rtl="0">
              <a:lnSpc>
                <a:spcPct val="100000"/>
              </a:lnSpc>
              <a:spcBef>
                <a:spcPts val="0"/>
              </a:spcBef>
              <a:spcAft>
                <a:spcPts val="0"/>
              </a:spcAft>
              <a:buNone/>
            </a:pPr>
            <a:r>
              <a:rPr lang="it-IT" sz="1000" dirty="0"/>
              <a:t>3.0</a:t>
            </a:r>
          </a:p>
          <a:p>
            <a:pPr marL="0" marR="0" lvl="0" indent="0" algn="ctr" rtl="0">
              <a:lnSpc>
                <a:spcPct val="100000"/>
              </a:lnSpc>
              <a:spcBef>
                <a:spcPts val="0"/>
              </a:spcBef>
              <a:spcAft>
                <a:spcPts val="0"/>
              </a:spcAft>
              <a:buNone/>
            </a:pPr>
            <a:r>
              <a:rPr lang="it-IT" sz="1000" dirty="0"/>
              <a:t>2.5</a:t>
            </a:r>
          </a:p>
          <a:p>
            <a:pPr marL="0" marR="0" lvl="0" indent="0" algn="ctr" rtl="0">
              <a:lnSpc>
                <a:spcPct val="100000"/>
              </a:lnSpc>
              <a:spcBef>
                <a:spcPts val="0"/>
              </a:spcBef>
              <a:spcAft>
                <a:spcPts val="0"/>
              </a:spcAft>
              <a:buNone/>
            </a:pPr>
            <a:endParaRPr lang="it-IT" sz="1000" dirty="0"/>
          </a:p>
          <a:p>
            <a:pPr marL="171450" marR="0" lvl="0" indent="-171450" algn="ctr" rtl="0">
              <a:lnSpc>
                <a:spcPct val="100000"/>
              </a:lnSpc>
              <a:spcBef>
                <a:spcPts val="0"/>
              </a:spcBef>
              <a:spcAft>
                <a:spcPts val="0"/>
              </a:spcAft>
              <a:buFontTx/>
              <a:buChar char="-"/>
            </a:pPr>
            <a:r>
              <a:rPr lang="it-IT" sz="1000" b="1" i="0" u="none" strike="noStrike" cap="none" dirty="0">
                <a:solidFill>
                  <a:srgbClr val="000000"/>
                </a:solidFill>
                <a:latin typeface="Arial"/>
                <a:ea typeface="Arial"/>
                <a:cs typeface="Arial"/>
                <a:sym typeface="Arial"/>
              </a:rPr>
              <a:t>Media 200 </a:t>
            </a:r>
            <a:r>
              <a:rPr lang="it-IT" sz="1000" b="0" i="0" u="none" strike="noStrike" cap="none" dirty="0">
                <a:solidFill>
                  <a:srgbClr val="000000"/>
                </a:solidFill>
                <a:latin typeface="Arial"/>
                <a:ea typeface="Arial"/>
                <a:cs typeface="Arial"/>
                <a:sym typeface="Arial"/>
              </a:rPr>
              <a:t>perio</a:t>
            </a:r>
            <a:r>
              <a:rPr lang="it-IT" sz="1000" dirty="0"/>
              <a:t>di Esponenziale, applicata al close</a:t>
            </a:r>
          </a:p>
          <a:p>
            <a:pPr marL="171450" marR="0" lvl="0" indent="-171450" algn="ctr" rtl="0">
              <a:lnSpc>
                <a:spcPct val="100000"/>
              </a:lnSpc>
              <a:spcBef>
                <a:spcPts val="0"/>
              </a:spcBef>
              <a:spcAft>
                <a:spcPts val="0"/>
              </a:spcAft>
              <a:buFontTx/>
              <a:buChar char="-"/>
            </a:pPr>
            <a:endParaRPr lang="it-IT" sz="1000" dirty="0"/>
          </a:p>
          <a:p>
            <a:pPr marL="171450" indent="-171450" algn="ctr">
              <a:buFontTx/>
              <a:buChar char="-"/>
            </a:pPr>
            <a:r>
              <a:rPr lang="it-IT" sz="1000" b="1" i="0" u="none" strike="noStrike" cap="none" dirty="0">
                <a:solidFill>
                  <a:srgbClr val="000000"/>
                </a:solidFill>
                <a:latin typeface="Arial"/>
                <a:ea typeface="Arial"/>
                <a:cs typeface="Arial"/>
                <a:sym typeface="Arial"/>
              </a:rPr>
              <a:t>Media 100 </a:t>
            </a:r>
            <a:r>
              <a:rPr lang="it-IT" sz="1000" b="0" i="0" u="none" strike="noStrike" cap="none" dirty="0">
                <a:solidFill>
                  <a:srgbClr val="000000"/>
                </a:solidFill>
                <a:latin typeface="Arial"/>
                <a:ea typeface="Arial"/>
                <a:cs typeface="Arial"/>
                <a:sym typeface="Arial"/>
              </a:rPr>
              <a:t>perio</a:t>
            </a:r>
            <a:r>
              <a:rPr lang="it-IT" sz="1000" dirty="0"/>
              <a:t>di Esponenziale, applicata al close</a:t>
            </a:r>
          </a:p>
          <a:p>
            <a:pPr marL="171450" indent="-171450" algn="ctr">
              <a:buFontTx/>
              <a:buChar char="-"/>
            </a:pPr>
            <a:endParaRPr lang="it-IT" sz="1000" dirty="0"/>
          </a:p>
          <a:p>
            <a:pPr marL="171450" indent="-171450" algn="ctr">
              <a:buFontTx/>
              <a:buChar char="-"/>
            </a:pPr>
            <a:r>
              <a:rPr lang="it-IT" sz="1000" b="1" i="0" u="none" strike="noStrike" cap="none" dirty="0">
                <a:solidFill>
                  <a:srgbClr val="000000"/>
                </a:solidFill>
                <a:latin typeface="Arial"/>
                <a:ea typeface="Arial"/>
                <a:cs typeface="Arial"/>
                <a:sym typeface="Arial"/>
              </a:rPr>
              <a:t>Media 89 </a:t>
            </a:r>
            <a:r>
              <a:rPr lang="it-IT" sz="1000" b="0" i="0" u="none" strike="noStrike" cap="none" dirty="0">
                <a:solidFill>
                  <a:srgbClr val="000000"/>
                </a:solidFill>
                <a:latin typeface="Arial"/>
                <a:ea typeface="Arial"/>
                <a:cs typeface="Arial"/>
                <a:sym typeface="Arial"/>
              </a:rPr>
              <a:t>perio</a:t>
            </a:r>
            <a:r>
              <a:rPr lang="it-IT" sz="1000" dirty="0"/>
              <a:t>di Esponenziale, applicata al close</a:t>
            </a:r>
          </a:p>
          <a:p>
            <a:pPr marL="171450" indent="-171450" algn="ctr">
              <a:buFontTx/>
              <a:buChar char="-"/>
            </a:pPr>
            <a:endParaRPr lang="it-IT" sz="1000" dirty="0"/>
          </a:p>
          <a:p>
            <a:pPr marL="171450" indent="-171450" algn="ctr">
              <a:buFontTx/>
              <a:buChar char="-"/>
            </a:pPr>
            <a:r>
              <a:rPr lang="it-IT" sz="1000" b="1" i="0" u="none" strike="noStrike" cap="none" dirty="0">
                <a:solidFill>
                  <a:srgbClr val="000000"/>
                </a:solidFill>
                <a:latin typeface="Arial"/>
                <a:ea typeface="Arial"/>
                <a:cs typeface="Arial"/>
                <a:sym typeface="Arial"/>
              </a:rPr>
              <a:t>Media 14 </a:t>
            </a:r>
            <a:r>
              <a:rPr lang="it-IT" sz="1000" b="0" i="0" u="none" strike="noStrike" cap="none" dirty="0">
                <a:solidFill>
                  <a:srgbClr val="000000"/>
                </a:solidFill>
                <a:latin typeface="Arial"/>
                <a:ea typeface="Arial"/>
                <a:cs typeface="Arial"/>
                <a:sym typeface="Arial"/>
              </a:rPr>
              <a:t>perio</a:t>
            </a:r>
            <a:r>
              <a:rPr lang="it-IT" sz="1000" dirty="0"/>
              <a:t>di Esponenziale, applicata al close</a:t>
            </a:r>
          </a:p>
          <a:p>
            <a:pPr marL="171450" marR="0" lvl="0" indent="-171450" algn="ctr" rtl="0">
              <a:lnSpc>
                <a:spcPct val="100000"/>
              </a:lnSpc>
              <a:spcBef>
                <a:spcPts val="0"/>
              </a:spcBef>
              <a:spcAft>
                <a:spcPts val="0"/>
              </a:spcAft>
              <a:buFontTx/>
              <a:buChar char="-"/>
            </a:pPr>
            <a:endParaRPr lang="it-IT" sz="10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10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0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0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0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0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6480928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3"/>
          <p:cNvSpPr txBox="1">
            <a:spLocks noGrp="1"/>
          </p:cNvSpPr>
          <p:nvPr>
            <p:ph type="subTitle" idx="1"/>
          </p:nvPr>
        </p:nvSpPr>
        <p:spPr>
          <a:xfrm>
            <a:off x="3565146" y="667033"/>
            <a:ext cx="8259000" cy="52322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it-IT" sz="3400" dirty="0"/>
              <a:t>Super Trend </a:t>
            </a:r>
            <a:endParaRPr sz="3400" dirty="0"/>
          </a:p>
        </p:txBody>
      </p:sp>
      <p:pic>
        <p:nvPicPr>
          <p:cNvPr id="90" name="Google Shape;90;p3"/>
          <p:cNvPicPr preferRelativeResize="0"/>
          <p:nvPr/>
        </p:nvPicPr>
        <p:blipFill rotWithShape="1">
          <a:blip r:embed="rId3">
            <a:alphaModFix/>
          </a:blip>
          <a:srcRect/>
          <a:stretch/>
        </p:blipFill>
        <p:spPr>
          <a:xfrm>
            <a:off x="8535605" y="4584308"/>
            <a:ext cx="358587" cy="354169"/>
          </a:xfrm>
          <a:prstGeom prst="rect">
            <a:avLst/>
          </a:prstGeom>
          <a:noFill/>
          <a:ln>
            <a:noFill/>
          </a:ln>
        </p:spPr>
      </p:pic>
      <p:pic>
        <p:nvPicPr>
          <p:cNvPr id="91" name="Google Shape;91;p3"/>
          <p:cNvPicPr preferRelativeResize="0"/>
          <p:nvPr/>
        </p:nvPicPr>
        <p:blipFill rotWithShape="1">
          <a:blip r:embed="rId4">
            <a:alphaModFix/>
          </a:blip>
          <a:srcRect/>
          <a:stretch/>
        </p:blipFill>
        <p:spPr>
          <a:xfrm>
            <a:off x="8535608" y="4582453"/>
            <a:ext cx="358600" cy="356022"/>
          </a:xfrm>
          <a:prstGeom prst="rect">
            <a:avLst/>
          </a:prstGeom>
          <a:noFill/>
          <a:ln>
            <a:noFill/>
          </a:ln>
        </p:spPr>
      </p:pic>
      <p:grpSp>
        <p:nvGrpSpPr>
          <p:cNvPr id="92" name="Google Shape;92;p3"/>
          <p:cNvGrpSpPr/>
          <p:nvPr/>
        </p:nvGrpSpPr>
        <p:grpSpPr>
          <a:xfrm>
            <a:off x="1560603" y="248441"/>
            <a:ext cx="6022793" cy="399836"/>
            <a:chOff x="1828800" y="2092988"/>
            <a:chExt cx="8219999" cy="399836"/>
          </a:xfrm>
        </p:grpSpPr>
        <p:cxnSp>
          <p:nvCxnSpPr>
            <p:cNvPr id="93" name="Google Shape;93;p3"/>
            <p:cNvCxnSpPr/>
            <p:nvPr/>
          </p:nvCxnSpPr>
          <p:spPr>
            <a:xfrm>
              <a:off x="1828800" y="2095324"/>
              <a:ext cx="3657600" cy="0"/>
            </a:xfrm>
            <a:prstGeom prst="straightConnector1">
              <a:avLst/>
            </a:prstGeom>
            <a:noFill/>
            <a:ln w="19050" cap="flat" cmpd="sng">
              <a:solidFill>
                <a:srgbClr val="F68F0D"/>
              </a:solidFill>
              <a:prstDash val="solid"/>
              <a:miter lim="800000"/>
              <a:headEnd type="none" w="sm" len="sm"/>
              <a:tailEnd type="none" w="sm" len="sm"/>
            </a:ln>
          </p:spPr>
        </p:cxnSp>
        <p:cxnSp>
          <p:nvCxnSpPr>
            <p:cNvPr id="94" name="Google Shape;94;p3"/>
            <p:cNvCxnSpPr/>
            <p:nvPr/>
          </p:nvCxnSpPr>
          <p:spPr>
            <a:xfrm>
              <a:off x="6391199" y="2099481"/>
              <a:ext cx="3657600" cy="0"/>
            </a:xfrm>
            <a:prstGeom prst="straightConnector1">
              <a:avLst/>
            </a:prstGeom>
            <a:noFill/>
            <a:ln w="19050" cap="flat" cmpd="sng">
              <a:solidFill>
                <a:srgbClr val="F68F0D"/>
              </a:solidFill>
              <a:prstDash val="solid"/>
              <a:miter lim="800000"/>
              <a:headEnd type="none" w="sm" len="sm"/>
              <a:tailEnd type="none" w="sm" len="sm"/>
            </a:ln>
          </p:spPr>
        </p:cxnSp>
        <p:cxnSp>
          <p:nvCxnSpPr>
            <p:cNvPr id="95" name="Google Shape;95;p3"/>
            <p:cNvCxnSpPr/>
            <p:nvPr/>
          </p:nvCxnSpPr>
          <p:spPr>
            <a:xfrm>
              <a:off x="5480957" y="2095324"/>
              <a:ext cx="468000" cy="397500"/>
            </a:xfrm>
            <a:prstGeom prst="straightConnector1">
              <a:avLst/>
            </a:prstGeom>
            <a:noFill/>
            <a:ln w="19050" cap="flat" cmpd="sng">
              <a:solidFill>
                <a:srgbClr val="F68F0D"/>
              </a:solidFill>
              <a:prstDash val="solid"/>
              <a:miter lim="800000"/>
              <a:headEnd type="none" w="sm" len="sm"/>
              <a:tailEnd type="none" w="sm" len="sm"/>
            </a:ln>
          </p:spPr>
        </p:cxnSp>
        <p:cxnSp>
          <p:nvCxnSpPr>
            <p:cNvPr id="96" name="Google Shape;96;p3"/>
            <p:cNvCxnSpPr/>
            <p:nvPr/>
          </p:nvCxnSpPr>
          <p:spPr>
            <a:xfrm flipH="1">
              <a:off x="5935669" y="2092988"/>
              <a:ext cx="468000" cy="397500"/>
            </a:xfrm>
            <a:prstGeom prst="straightConnector1">
              <a:avLst/>
            </a:prstGeom>
            <a:noFill/>
            <a:ln w="19050" cap="flat" cmpd="sng">
              <a:solidFill>
                <a:srgbClr val="F68F0D"/>
              </a:solidFill>
              <a:prstDash val="solid"/>
              <a:miter lim="800000"/>
              <a:headEnd type="none" w="sm" len="sm"/>
              <a:tailEnd type="none" w="sm" len="sm"/>
            </a:ln>
          </p:spPr>
        </p:cxnSp>
      </p:grpSp>
      <p:sp>
        <p:nvSpPr>
          <p:cNvPr id="97" name="Google Shape;97;p3"/>
          <p:cNvSpPr txBox="1"/>
          <p:nvPr/>
        </p:nvSpPr>
        <p:spPr>
          <a:xfrm>
            <a:off x="278054" y="1213681"/>
            <a:ext cx="8616138" cy="240061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it-IT" sz="1000" b="0" i="0" u="none" strike="noStrike" cap="none" dirty="0">
                <a:solidFill>
                  <a:srgbClr val="000000"/>
                </a:solidFill>
                <a:latin typeface="Arial"/>
                <a:ea typeface="Arial"/>
                <a:cs typeface="Arial"/>
                <a:sym typeface="Arial"/>
              </a:rPr>
              <a:t>Per installarlo nella Mt4</a:t>
            </a:r>
          </a:p>
          <a:p>
            <a:pPr marL="0" marR="0" lvl="0" indent="0" algn="ctr" rtl="0">
              <a:lnSpc>
                <a:spcPct val="100000"/>
              </a:lnSpc>
              <a:spcBef>
                <a:spcPts val="0"/>
              </a:spcBef>
              <a:spcAft>
                <a:spcPts val="0"/>
              </a:spcAft>
              <a:buNone/>
            </a:pPr>
            <a:endParaRPr lang="it-IT" sz="1000" dirty="0"/>
          </a:p>
          <a:p>
            <a:pPr marL="0" marR="0" lvl="0" indent="0" algn="ctr" rtl="0">
              <a:lnSpc>
                <a:spcPct val="100000"/>
              </a:lnSpc>
              <a:spcBef>
                <a:spcPts val="0"/>
              </a:spcBef>
              <a:spcAft>
                <a:spcPts val="0"/>
              </a:spcAft>
              <a:buNone/>
            </a:pPr>
            <a:r>
              <a:rPr lang="it-IT" sz="1000" b="0" i="0" u="none" strike="noStrike" cap="none" dirty="0">
                <a:solidFill>
                  <a:srgbClr val="000000"/>
                </a:solidFill>
                <a:latin typeface="Arial"/>
                <a:ea typeface="Arial"/>
                <a:cs typeface="Arial"/>
                <a:sym typeface="Arial"/>
              </a:rPr>
              <a:t>FILE </a:t>
            </a:r>
          </a:p>
          <a:p>
            <a:pPr marL="0" marR="0" lvl="0" indent="0" algn="ctr" rtl="0">
              <a:lnSpc>
                <a:spcPct val="100000"/>
              </a:lnSpc>
              <a:spcBef>
                <a:spcPts val="0"/>
              </a:spcBef>
              <a:spcAft>
                <a:spcPts val="0"/>
              </a:spcAft>
              <a:buNone/>
            </a:pPr>
            <a:r>
              <a:rPr lang="it-IT" sz="1000" dirty="0"/>
              <a:t>APRI SCHEDA DATA</a:t>
            </a:r>
          </a:p>
          <a:p>
            <a:pPr marL="0" marR="0" lvl="0" indent="0" algn="ctr" rtl="0">
              <a:lnSpc>
                <a:spcPct val="100000"/>
              </a:lnSpc>
              <a:spcBef>
                <a:spcPts val="0"/>
              </a:spcBef>
              <a:spcAft>
                <a:spcPts val="0"/>
              </a:spcAft>
              <a:buNone/>
            </a:pPr>
            <a:r>
              <a:rPr lang="it-IT" sz="1000" b="0" i="0" u="none" strike="noStrike" cap="none" dirty="0">
                <a:solidFill>
                  <a:srgbClr val="000000"/>
                </a:solidFill>
                <a:latin typeface="Arial"/>
                <a:ea typeface="Arial"/>
                <a:cs typeface="Arial"/>
                <a:sym typeface="Arial"/>
              </a:rPr>
              <a:t>MQL4</a:t>
            </a:r>
          </a:p>
          <a:p>
            <a:pPr marL="0" marR="0" lvl="0" indent="0" algn="ctr" rtl="0">
              <a:lnSpc>
                <a:spcPct val="100000"/>
              </a:lnSpc>
              <a:spcBef>
                <a:spcPts val="0"/>
              </a:spcBef>
              <a:spcAft>
                <a:spcPts val="0"/>
              </a:spcAft>
              <a:buNone/>
            </a:pPr>
            <a:r>
              <a:rPr lang="it-IT" sz="1000" dirty="0"/>
              <a:t>INDICATORS</a:t>
            </a:r>
          </a:p>
          <a:p>
            <a:pPr marL="0" marR="0" lvl="0" indent="0" algn="ctr" rtl="0">
              <a:lnSpc>
                <a:spcPct val="100000"/>
              </a:lnSpc>
              <a:spcBef>
                <a:spcPts val="0"/>
              </a:spcBef>
              <a:spcAft>
                <a:spcPts val="0"/>
              </a:spcAft>
              <a:buNone/>
            </a:pPr>
            <a:endParaRPr lang="it-IT" sz="10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r>
              <a:rPr lang="it-IT" sz="1000" dirty="0"/>
              <a:t>AGGIORNATE IL NAVIGATORE</a:t>
            </a:r>
          </a:p>
          <a:p>
            <a:pPr marL="0" marR="0" lvl="0" indent="0" algn="ctr" rtl="0">
              <a:lnSpc>
                <a:spcPct val="100000"/>
              </a:lnSpc>
              <a:spcBef>
                <a:spcPts val="0"/>
              </a:spcBef>
              <a:spcAft>
                <a:spcPts val="0"/>
              </a:spcAft>
              <a:buNone/>
            </a:pPr>
            <a:endParaRPr lang="it-IT" sz="10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r>
              <a:rPr lang="it-IT" sz="1000" dirty="0"/>
              <a:t>PORTO ALL’INTERNO DEL MIO GRAFICO IL MIO INDICATORE PER 3 VOLTE E VADO A CAMBIARE SOLO IL VALORE DEL MULTIPLIER.</a:t>
            </a:r>
            <a:endParaRPr lang="it-IT" sz="10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10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0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0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0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000" b="0" i="0" u="none" strike="noStrike" cap="none" dirty="0">
              <a:solidFill>
                <a:srgbClr val="000000"/>
              </a:solidFill>
              <a:latin typeface="Arial"/>
              <a:ea typeface="Arial"/>
              <a:cs typeface="Arial"/>
              <a:sym typeface="Arial"/>
            </a:endParaRPr>
          </a:p>
        </p:txBody>
      </p:sp>
      <p:pic>
        <p:nvPicPr>
          <p:cNvPr id="3" name="Immagine 2">
            <a:extLst>
              <a:ext uri="{FF2B5EF4-FFF2-40B4-BE49-F238E27FC236}">
                <a16:creationId xmlns:a16="http://schemas.microsoft.com/office/drawing/2014/main" id="{4761E1E5-2590-65AC-BBD8-183C78009DED}"/>
              </a:ext>
            </a:extLst>
          </p:cNvPr>
          <p:cNvPicPr>
            <a:picLocks noChangeAspect="1"/>
          </p:cNvPicPr>
          <p:nvPr/>
        </p:nvPicPr>
        <p:blipFill>
          <a:blip r:embed="rId5"/>
          <a:stretch>
            <a:fillRect/>
          </a:stretch>
        </p:blipFill>
        <p:spPr>
          <a:xfrm>
            <a:off x="216598" y="2975317"/>
            <a:ext cx="2683966" cy="1476720"/>
          </a:xfrm>
          <a:prstGeom prst="rect">
            <a:avLst/>
          </a:prstGeom>
        </p:spPr>
      </p:pic>
      <p:pic>
        <p:nvPicPr>
          <p:cNvPr id="5" name="Immagine 4">
            <a:extLst>
              <a:ext uri="{FF2B5EF4-FFF2-40B4-BE49-F238E27FC236}">
                <a16:creationId xmlns:a16="http://schemas.microsoft.com/office/drawing/2014/main" id="{9D75D386-EEC7-BBF2-D07F-CBC4F2D83699}"/>
              </a:ext>
            </a:extLst>
          </p:cNvPr>
          <p:cNvPicPr>
            <a:picLocks noChangeAspect="1"/>
          </p:cNvPicPr>
          <p:nvPr/>
        </p:nvPicPr>
        <p:blipFill>
          <a:blip r:embed="rId6"/>
          <a:stretch>
            <a:fillRect/>
          </a:stretch>
        </p:blipFill>
        <p:spPr>
          <a:xfrm>
            <a:off x="2962020" y="2975317"/>
            <a:ext cx="2683966" cy="1484368"/>
          </a:xfrm>
          <a:prstGeom prst="rect">
            <a:avLst/>
          </a:prstGeom>
        </p:spPr>
      </p:pic>
      <p:pic>
        <p:nvPicPr>
          <p:cNvPr id="7" name="Immagine 6">
            <a:extLst>
              <a:ext uri="{FF2B5EF4-FFF2-40B4-BE49-F238E27FC236}">
                <a16:creationId xmlns:a16="http://schemas.microsoft.com/office/drawing/2014/main" id="{1311DF33-7530-8C2F-E3B0-1C60E4B05374}"/>
              </a:ext>
            </a:extLst>
          </p:cNvPr>
          <p:cNvPicPr>
            <a:picLocks noChangeAspect="1"/>
          </p:cNvPicPr>
          <p:nvPr/>
        </p:nvPicPr>
        <p:blipFill>
          <a:blip r:embed="rId7"/>
          <a:stretch>
            <a:fillRect/>
          </a:stretch>
        </p:blipFill>
        <p:spPr>
          <a:xfrm>
            <a:off x="5707442" y="2971492"/>
            <a:ext cx="2677546" cy="1484369"/>
          </a:xfrm>
          <a:prstGeom prst="rect">
            <a:avLst/>
          </a:prstGeom>
        </p:spPr>
      </p:pic>
    </p:spTree>
    <p:extLst>
      <p:ext uri="{BB962C8B-B14F-4D97-AF65-F5344CB8AC3E}">
        <p14:creationId xmlns:p14="http://schemas.microsoft.com/office/powerpoint/2010/main" val="1670091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3"/>
          <p:cNvSpPr txBox="1">
            <a:spLocks noGrp="1"/>
          </p:cNvSpPr>
          <p:nvPr>
            <p:ph type="subTitle" idx="1"/>
          </p:nvPr>
        </p:nvSpPr>
        <p:spPr>
          <a:xfrm>
            <a:off x="3709525" y="899662"/>
            <a:ext cx="8259000" cy="52322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sz="3400" dirty="0"/>
              <a:t>Time Frame </a:t>
            </a:r>
            <a:endParaRPr sz="3400" dirty="0"/>
          </a:p>
        </p:txBody>
      </p:sp>
      <p:pic>
        <p:nvPicPr>
          <p:cNvPr id="90" name="Google Shape;90;p3"/>
          <p:cNvPicPr preferRelativeResize="0"/>
          <p:nvPr/>
        </p:nvPicPr>
        <p:blipFill rotWithShape="1">
          <a:blip r:embed="rId3">
            <a:alphaModFix/>
          </a:blip>
          <a:srcRect/>
          <a:stretch/>
        </p:blipFill>
        <p:spPr>
          <a:xfrm>
            <a:off x="8535605" y="4584308"/>
            <a:ext cx="358587" cy="354169"/>
          </a:xfrm>
          <a:prstGeom prst="rect">
            <a:avLst/>
          </a:prstGeom>
          <a:noFill/>
          <a:ln>
            <a:noFill/>
          </a:ln>
        </p:spPr>
      </p:pic>
      <p:pic>
        <p:nvPicPr>
          <p:cNvPr id="91" name="Google Shape;91;p3"/>
          <p:cNvPicPr preferRelativeResize="0"/>
          <p:nvPr/>
        </p:nvPicPr>
        <p:blipFill rotWithShape="1">
          <a:blip r:embed="rId4">
            <a:alphaModFix/>
          </a:blip>
          <a:srcRect/>
          <a:stretch/>
        </p:blipFill>
        <p:spPr>
          <a:xfrm>
            <a:off x="8535608" y="4582453"/>
            <a:ext cx="358600" cy="356022"/>
          </a:xfrm>
          <a:prstGeom prst="rect">
            <a:avLst/>
          </a:prstGeom>
          <a:noFill/>
          <a:ln>
            <a:noFill/>
          </a:ln>
        </p:spPr>
      </p:pic>
      <p:grpSp>
        <p:nvGrpSpPr>
          <p:cNvPr id="92" name="Google Shape;92;p3"/>
          <p:cNvGrpSpPr/>
          <p:nvPr/>
        </p:nvGrpSpPr>
        <p:grpSpPr>
          <a:xfrm>
            <a:off x="1574001" y="475346"/>
            <a:ext cx="6022793" cy="399836"/>
            <a:chOff x="1828800" y="2092988"/>
            <a:chExt cx="8219999" cy="399836"/>
          </a:xfrm>
        </p:grpSpPr>
        <p:cxnSp>
          <p:nvCxnSpPr>
            <p:cNvPr id="93" name="Google Shape;93;p3"/>
            <p:cNvCxnSpPr/>
            <p:nvPr/>
          </p:nvCxnSpPr>
          <p:spPr>
            <a:xfrm>
              <a:off x="1828800" y="2095324"/>
              <a:ext cx="3657600" cy="0"/>
            </a:xfrm>
            <a:prstGeom prst="straightConnector1">
              <a:avLst/>
            </a:prstGeom>
            <a:noFill/>
            <a:ln w="19050" cap="flat" cmpd="sng">
              <a:solidFill>
                <a:srgbClr val="F68F0D"/>
              </a:solidFill>
              <a:prstDash val="solid"/>
              <a:miter lim="800000"/>
              <a:headEnd type="none" w="sm" len="sm"/>
              <a:tailEnd type="none" w="sm" len="sm"/>
            </a:ln>
          </p:spPr>
        </p:cxnSp>
        <p:cxnSp>
          <p:nvCxnSpPr>
            <p:cNvPr id="94" name="Google Shape;94;p3"/>
            <p:cNvCxnSpPr/>
            <p:nvPr/>
          </p:nvCxnSpPr>
          <p:spPr>
            <a:xfrm>
              <a:off x="6391199" y="2099481"/>
              <a:ext cx="3657600" cy="0"/>
            </a:xfrm>
            <a:prstGeom prst="straightConnector1">
              <a:avLst/>
            </a:prstGeom>
            <a:noFill/>
            <a:ln w="19050" cap="flat" cmpd="sng">
              <a:solidFill>
                <a:srgbClr val="F68F0D"/>
              </a:solidFill>
              <a:prstDash val="solid"/>
              <a:miter lim="800000"/>
              <a:headEnd type="none" w="sm" len="sm"/>
              <a:tailEnd type="none" w="sm" len="sm"/>
            </a:ln>
          </p:spPr>
        </p:cxnSp>
        <p:cxnSp>
          <p:nvCxnSpPr>
            <p:cNvPr id="95" name="Google Shape;95;p3"/>
            <p:cNvCxnSpPr/>
            <p:nvPr/>
          </p:nvCxnSpPr>
          <p:spPr>
            <a:xfrm>
              <a:off x="5480957" y="2095324"/>
              <a:ext cx="468000" cy="397500"/>
            </a:xfrm>
            <a:prstGeom prst="straightConnector1">
              <a:avLst/>
            </a:prstGeom>
            <a:noFill/>
            <a:ln w="19050" cap="flat" cmpd="sng">
              <a:solidFill>
                <a:srgbClr val="F68F0D"/>
              </a:solidFill>
              <a:prstDash val="solid"/>
              <a:miter lim="800000"/>
              <a:headEnd type="none" w="sm" len="sm"/>
              <a:tailEnd type="none" w="sm" len="sm"/>
            </a:ln>
          </p:spPr>
        </p:cxnSp>
        <p:cxnSp>
          <p:nvCxnSpPr>
            <p:cNvPr id="96" name="Google Shape;96;p3"/>
            <p:cNvCxnSpPr/>
            <p:nvPr/>
          </p:nvCxnSpPr>
          <p:spPr>
            <a:xfrm flipH="1">
              <a:off x="5935669" y="2092988"/>
              <a:ext cx="468000" cy="397500"/>
            </a:xfrm>
            <a:prstGeom prst="straightConnector1">
              <a:avLst/>
            </a:prstGeom>
            <a:noFill/>
            <a:ln w="19050" cap="flat" cmpd="sng">
              <a:solidFill>
                <a:srgbClr val="F68F0D"/>
              </a:solidFill>
              <a:prstDash val="solid"/>
              <a:miter lim="800000"/>
              <a:headEnd type="none" w="sm" len="sm"/>
              <a:tailEnd type="none" w="sm" len="sm"/>
            </a:ln>
          </p:spPr>
        </p:cxnSp>
      </p:grpSp>
      <p:sp>
        <p:nvSpPr>
          <p:cNvPr id="97" name="Google Shape;97;p3"/>
          <p:cNvSpPr txBox="1"/>
          <p:nvPr/>
        </p:nvSpPr>
        <p:spPr>
          <a:xfrm>
            <a:off x="284771" y="1785688"/>
            <a:ext cx="8616138" cy="3323946"/>
          </a:xfrm>
          <a:prstGeom prst="rect">
            <a:avLst/>
          </a:prstGeom>
          <a:noFill/>
          <a:ln>
            <a:noFill/>
          </a:ln>
        </p:spPr>
        <p:txBody>
          <a:bodyPr spcFirstLastPara="1" wrap="square" lIns="91425" tIns="45700" rIns="91425" bIns="45700" anchor="t" anchorCtr="0">
            <a:spAutoFit/>
          </a:bodyPr>
          <a:lstStyle/>
          <a:p>
            <a:pPr marL="285750" marR="0" lvl="0" indent="-285750" algn="ctr" rtl="0">
              <a:lnSpc>
                <a:spcPct val="100000"/>
              </a:lnSpc>
              <a:spcBef>
                <a:spcPts val="0"/>
              </a:spcBef>
              <a:spcAft>
                <a:spcPts val="0"/>
              </a:spcAft>
              <a:buFontTx/>
              <a:buChar char="-"/>
            </a:pPr>
            <a:r>
              <a:rPr lang="it-IT" sz="1400" b="0" i="0" u="none" strike="noStrike" cap="none" dirty="0">
                <a:solidFill>
                  <a:srgbClr val="000000"/>
                </a:solidFill>
                <a:latin typeface="Arial"/>
                <a:ea typeface="Arial"/>
                <a:cs typeface="Arial"/>
                <a:sym typeface="Arial"/>
              </a:rPr>
              <a:t>Daily : vediamo la tendenza del mercato giornaliero</a:t>
            </a:r>
          </a:p>
          <a:p>
            <a:pPr marL="285750" marR="0" lvl="0" indent="-285750" algn="ctr" rtl="0">
              <a:lnSpc>
                <a:spcPct val="100000"/>
              </a:lnSpc>
              <a:spcBef>
                <a:spcPts val="0"/>
              </a:spcBef>
              <a:spcAft>
                <a:spcPts val="0"/>
              </a:spcAft>
              <a:buFontTx/>
              <a:buChar char="-"/>
            </a:pPr>
            <a:endParaRPr lang="it-IT" sz="1400" b="0" i="0" u="none" strike="noStrike" cap="none" dirty="0">
              <a:solidFill>
                <a:srgbClr val="000000"/>
              </a:solidFill>
              <a:latin typeface="Arial"/>
              <a:ea typeface="Arial"/>
              <a:cs typeface="Arial"/>
              <a:sym typeface="Arial"/>
            </a:endParaRPr>
          </a:p>
          <a:p>
            <a:pPr marL="285750" marR="0" lvl="0" indent="-285750" algn="ctr" rtl="0">
              <a:lnSpc>
                <a:spcPct val="100000"/>
              </a:lnSpc>
              <a:spcBef>
                <a:spcPts val="0"/>
              </a:spcBef>
              <a:spcAft>
                <a:spcPts val="0"/>
              </a:spcAft>
              <a:buFontTx/>
              <a:buChar char="-"/>
            </a:pPr>
            <a:r>
              <a:rPr lang="it-IT" dirty="0"/>
              <a:t>H4 : vediamo uno spaccato della situazione delle ultime 4 ore</a:t>
            </a:r>
          </a:p>
          <a:p>
            <a:pPr marR="0" lvl="0" algn="ctr" rtl="0">
              <a:lnSpc>
                <a:spcPct val="100000"/>
              </a:lnSpc>
              <a:spcBef>
                <a:spcPts val="0"/>
              </a:spcBef>
              <a:spcAft>
                <a:spcPts val="0"/>
              </a:spcAft>
            </a:pPr>
            <a:endParaRPr lang="it-IT" dirty="0"/>
          </a:p>
          <a:p>
            <a:pPr marL="285750" marR="0" lvl="0" indent="-285750" algn="ctr" rtl="0">
              <a:lnSpc>
                <a:spcPct val="100000"/>
              </a:lnSpc>
              <a:spcBef>
                <a:spcPts val="0"/>
              </a:spcBef>
              <a:spcAft>
                <a:spcPts val="0"/>
              </a:spcAft>
              <a:buFontTx/>
              <a:buChar char="-"/>
            </a:pPr>
            <a:r>
              <a:rPr lang="it-IT" sz="1400" b="0" i="0" u="none" strike="noStrike" cap="none" dirty="0">
                <a:solidFill>
                  <a:srgbClr val="000000"/>
                </a:solidFill>
                <a:latin typeface="Arial"/>
                <a:ea typeface="Arial"/>
                <a:cs typeface="Arial"/>
                <a:sym typeface="Arial"/>
              </a:rPr>
              <a:t>H1 : time frame operativo </a:t>
            </a:r>
          </a:p>
          <a:p>
            <a:pPr marR="0" lvl="0" algn="ctr" rtl="0">
              <a:lnSpc>
                <a:spcPct val="100000"/>
              </a:lnSpc>
              <a:spcBef>
                <a:spcPts val="0"/>
              </a:spcBef>
              <a:spcAft>
                <a:spcPts val="0"/>
              </a:spcAft>
            </a:pPr>
            <a:endParaRPr lang="it-IT" sz="1400" b="0" i="0" u="none" strike="noStrike" cap="none" dirty="0">
              <a:solidFill>
                <a:srgbClr val="000000"/>
              </a:solidFill>
              <a:latin typeface="Arial"/>
              <a:ea typeface="Arial"/>
              <a:cs typeface="Arial"/>
              <a:sym typeface="Arial"/>
            </a:endParaRPr>
          </a:p>
          <a:p>
            <a:pPr marL="285750" marR="0" lvl="0" indent="-285750" algn="ctr" rtl="0">
              <a:lnSpc>
                <a:spcPct val="100000"/>
              </a:lnSpc>
              <a:spcBef>
                <a:spcPts val="0"/>
              </a:spcBef>
              <a:spcAft>
                <a:spcPts val="0"/>
              </a:spcAft>
              <a:buFontTx/>
              <a:buChar char="-"/>
            </a:pPr>
            <a:r>
              <a:rPr lang="it-IT" dirty="0"/>
              <a:t>M15 : gestione dell’operazione</a:t>
            </a:r>
          </a:p>
          <a:p>
            <a:pPr marL="285750" marR="0" lvl="0" indent="-285750" algn="ctr" rtl="0">
              <a:lnSpc>
                <a:spcPct val="100000"/>
              </a:lnSpc>
              <a:spcBef>
                <a:spcPts val="0"/>
              </a:spcBef>
              <a:spcAft>
                <a:spcPts val="0"/>
              </a:spcAft>
              <a:buFontTx/>
              <a:buChar char="-"/>
            </a:pPr>
            <a:endParaRPr lang="it-IT" dirty="0"/>
          </a:p>
          <a:p>
            <a:pPr marR="0" lvl="0" algn="ctr" rtl="0">
              <a:lnSpc>
                <a:spcPct val="100000"/>
              </a:lnSpc>
              <a:spcBef>
                <a:spcPts val="0"/>
              </a:spcBef>
              <a:spcAft>
                <a:spcPts val="0"/>
              </a:spcAft>
            </a:pPr>
            <a:r>
              <a:rPr lang="it-IT" dirty="0"/>
              <a:t>Più i time frame sono alti, più i livelli sono stabili.</a:t>
            </a:r>
          </a:p>
          <a:p>
            <a:pPr marR="0" lvl="0" algn="ctr" rtl="0">
              <a:lnSpc>
                <a:spcPct val="100000"/>
              </a:lnSpc>
              <a:spcBef>
                <a:spcPts val="0"/>
              </a:spcBef>
              <a:spcAft>
                <a:spcPts val="0"/>
              </a:spcAft>
            </a:pPr>
            <a:endParaRPr lang="it-IT"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128432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3"/>
          <p:cNvSpPr txBox="1">
            <a:spLocks noGrp="1"/>
          </p:cNvSpPr>
          <p:nvPr>
            <p:ph type="subTitle" idx="1"/>
          </p:nvPr>
        </p:nvSpPr>
        <p:spPr>
          <a:xfrm>
            <a:off x="2544550" y="642235"/>
            <a:ext cx="8259000" cy="52322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sz="3400" dirty="0" err="1"/>
              <a:t>Schermata</a:t>
            </a:r>
            <a:r>
              <a:rPr lang="en-US" sz="3400" dirty="0"/>
              <a:t> </a:t>
            </a:r>
            <a:r>
              <a:rPr lang="en-US" sz="3400" dirty="0" err="1"/>
              <a:t>Operativa</a:t>
            </a:r>
            <a:endParaRPr sz="3400" dirty="0"/>
          </a:p>
        </p:txBody>
      </p:sp>
      <p:pic>
        <p:nvPicPr>
          <p:cNvPr id="90" name="Google Shape;90;p3"/>
          <p:cNvPicPr preferRelativeResize="0"/>
          <p:nvPr/>
        </p:nvPicPr>
        <p:blipFill rotWithShape="1">
          <a:blip r:embed="rId3">
            <a:alphaModFix/>
          </a:blip>
          <a:srcRect/>
          <a:stretch/>
        </p:blipFill>
        <p:spPr>
          <a:xfrm>
            <a:off x="8535605" y="4584308"/>
            <a:ext cx="358587" cy="354169"/>
          </a:xfrm>
          <a:prstGeom prst="rect">
            <a:avLst/>
          </a:prstGeom>
          <a:noFill/>
          <a:ln>
            <a:noFill/>
          </a:ln>
        </p:spPr>
      </p:pic>
      <p:pic>
        <p:nvPicPr>
          <p:cNvPr id="91" name="Google Shape;91;p3"/>
          <p:cNvPicPr preferRelativeResize="0"/>
          <p:nvPr/>
        </p:nvPicPr>
        <p:blipFill rotWithShape="1">
          <a:blip r:embed="rId4">
            <a:alphaModFix/>
          </a:blip>
          <a:srcRect/>
          <a:stretch/>
        </p:blipFill>
        <p:spPr>
          <a:xfrm>
            <a:off x="8535608" y="4582453"/>
            <a:ext cx="358600" cy="356022"/>
          </a:xfrm>
          <a:prstGeom prst="rect">
            <a:avLst/>
          </a:prstGeom>
          <a:noFill/>
          <a:ln>
            <a:noFill/>
          </a:ln>
        </p:spPr>
      </p:pic>
      <p:grpSp>
        <p:nvGrpSpPr>
          <p:cNvPr id="92" name="Google Shape;92;p3"/>
          <p:cNvGrpSpPr/>
          <p:nvPr/>
        </p:nvGrpSpPr>
        <p:grpSpPr>
          <a:xfrm>
            <a:off x="1581443" y="270214"/>
            <a:ext cx="6022793" cy="399836"/>
            <a:chOff x="1828800" y="2092988"/>
            <a:chExt cx="8219999" cy="399836"/>
          </a:xfrm>
        </p:grpSpPr>
        <p:cxnSp>
          <p:nvCxnSpPr>
            <p:cNvPr id="93" name="Google Shape;93;p3"/>
            <p:cNvCxnSpPr/>
            <p:nvPr/>
          </p:nvCxnSpPr>
          <p:spPr>
            <a:xfrm>
              <a:off x="1828800" y="2095324"/>
              <a:ext cx="3657600" cy="0"/>
            </a:xfrm>
            <a:prstGeom prst="straightConnector1">
              <a:avLst/>
            </a:prstGeom>
            <a:noFill/>
            <a:ln w="19050" cap="flat" cmpd="sng">
              <a:solidFill>
                <a:srgbClr val="F68F0D"/>
              </a:solidFill>
              <a:prstDash val="solid"/>
              <a:miter lim="800000"/>
              <a:headEnd type="none" w="sm" len="sm"/>
              <a:tailEnd type="none" w="sm" len="sm"/>
            </a:ln>
          </p:spPr>
        </p:cxnSp>
        <p:cxnSp>
          <p:nvCxnSpPr>
            <p:cNvPr id="94" name="Google Shape;94;p3"/>
            <p:cNvCxnSpPr/>
            <p:nvPr/>
          </p:nvCxnSpPr>
          <p:spPr>
            <a:xfrm>
              <a:off x="6391199" y="2099481"/>
              <a:ext cx="3657600" cy="0"/>
            </a:xfrm>
            <a:prstGeom prst="straightConnector1">
              <a:avLst/>
            </a:prstGeom>
            <a:noFill/>
            <a:ln w="19050" cap="flat" cmpd="sng">
              <a:solidFill>
                <a:srgbClr val="F68F0D"/>
              </a:solidFill>
              <a:prstDash val="solid"/>
              <a:miter lim="800000"/>
              <a:headEnd type="none" w="sm" len="sm"/>
              <a:tailEnd type="none" w="sm" len="sm"/>
            </a:ln>
          </p:spPr>
        </p:cxnSp>
        <p:cxnSp>
          <p:nvCxnSpPr>
            <p:cNvPr id="95" name="Google Shape;95;p3"/>
            <p:cNvCxnSpPr/>
            <p:nvPr/>
          </p:nvCxnSpPr>
          <p:spPr>
            <a:xfrm>
              <a:off x="5480957" y="2095324"/>
              <a:ext cx="468000" cy="397500"/>
            </a:xfrm>
            <a:prstGeom prst="straightConnector1">
              <a:avLst/>
            </a:prstGeom>
            <a:noFill/>
            <a:ln w="19050" cap="flat" cmpd="sng">
              <a:solidFill>
                <a:srgbClr val="F68F0D"/>
              </a:solidFill>
              <a:prstDash val="solid"/>
              <a:miter lim="800000"/>
              <a:headEnd type="none" w="sm" len="sm"/>
              <a:tailEnd type="none" w="sm" len="sm"/>
            </a:ln>
          </p:spPr>
        </p:cxnSp>
        <p:cxnSp>
          <p:nvCxnSpPr>
            <p:cNvPr id="96" name="Google Shape;96;p3"/>
            <p:cNvCxnSpPr/>
            <p:nvPr/>
          </p:nvCxnSpPr>
          <p:spPr>
            <a:xfrm flipH="1">
              <a:off x="5935669" y="2092988"/>
              <a:ext cx="468000" cy="397500"/>
            </a:xfrm>
            <a:prstGeom prst="straightConnector1">
              <a:avLst/>
            </a:prstGeom>
            <a:noFill/>
            <a:ln w="19050" cap="flat" cmpd="sng">
              <a:solidFill>
                <a:srgbClr val="F68F0D"/>
              </a:solidFill>
              <a:prstDash val="solid"/>
              <a:miter lim="800000"/>
              <a:headEnd type="none" w="sm" len="sm"/>
              <a:tailEnd type="none" w="sm" len="sm"/>
            </a:ln>
          </p:spPr>
        </p:cxnSp>
      </p:grpSp>
      <p:sp>
        <p:nvSpPr>
          <p:cNvPr id="97" name="Google Shape;97;p3"/>
          <p:cNvSpPr txBox="1"/>
          <p:nvPr/>
        </p:nvSpPr>
        <p:spPr>
          <a:xfrm>
            <a:off x="263931" y="1603338"/>
            <a:ext cx="8616138" cy="95406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pic>
        <p:nvPicPr>
          <p:cNvPr id="4" name="Immagine 3">
            <a:extLst>
              <a:ext uri="{FF2B5EF4-FFF2-40B4-BE49-F238E27FC236}">
                <a16:creationId xmlns:a16="http://schemas.microsoft.com/office/drawing/2014/main" id="{642A5572-19C9-BAEE-96E7-EB278291DBCB}"/>
              </a:ext>
            </a:extLst>
          </p:cNvPr>
          <p:cNvPicPr>
            <a:picLocks noChangeAspect="1"/>
          </p:cNvPicPr>
          <p:nvPr/>
        </p:nvPicPr>
        <p:blipFill>
          <a:blip r:embed="rId5"/>
          <a:stretch>
            <a:fillRect/>
          </a:stretch>
        </p:blipFill>
        <p:spPr>
          <a:xfrm>
            <a:off x="600040" y="1165455"/>
            <a:ext cx="7935549" cy="3709046"/>
          </a:xfrm>
          <a:prstGeom prst="rect">
            <a:avLst/>
          </a:prstGeom>
        </p:spPr>
      </p:pic>
    </p:spTree>
    <p:extLst>
      <p:ext uri="{BB962C8B-B14F-4D97-AF65-F5344CB8AC3E}">
        <p14:creationId xmlns:p14="http://schemas.microsoft.com/office/powerpoint/2010/main" val="12773868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8F0D"/>
        </a:solidFill>
        <a:effectLst/>
      </p:bgPr>
    </p:bg>
    <p:spTree>
      <p:nvGrpSpPr>
        <p:cNvPr id="1" name="Shape 101"/>
        <p:cNvGrpSpPr/>
        <p:nvPr/>
      </p:nvGrpSpPr>
      <p:grpSpPr>
        <a:xfrm>
          <a:off x="0" y="0"/>
          <a:ext cx="0" cy="0"/>
          <a:chOff x="0" y="0"/>
          <a:chExt cx="0" cy="0"/>
        </a:xfrm>
      </p:grpSpPr>
      <p:grpSp>
        <p:nvGrpSpPr>
          <p:cNvPr id="102" name="Google Shape;102;p4"/>
          <p:cNvGrpSpPr/>
          <p:nvPr/>
        </p:nvGrpSpPr>
        <p:grpSpPr>
          <a:xfrm>
            <a:off x="1560601" y="1466205"/>
            <a:ext cx="6022793" cy="399836"/>
            <a:chOff x="1828800" y="2092988"/>
            <a:chExt cx="8219999" cy="399836"/>
          </a:xfrm>
        </p:grpSpPr>
        <p:cxnSp>
          <p:nvCxnSpPr>
            <p:cNvPr id="103" name="Google Shape;103;p4"/>
            <p:cNvCxnSpPr/>
            <p:nvPr/>
          </p:nvCxnSpPr>
          <p:spPr>
            <a:xfrm>
              <a:off x="1828800" y="2095324"/>
              <a:ext cx="3657600" cy="0"/>
            </a:xfrm>
            <a:prstGeom prst="straightConnector1">
              <a:avLst/>
            </a:prstGeom>
            <a:noFill/>
            <a:ln w="19050" cap="flat" cmpd="sng">
              <a:solidFill>
                <a:srgbClr val="FFFFFF"/>
              </a:solidFill>
              <a:prstDash val="solid"/>
              <a:miter lim="800000"/>
              <a:headEnd type="none" w="sm" len="sm"/>
              <a:tailEnd type="none" w="sm" len="sm"/>
            </a:ln>
          </p:spPr>
        </p:cxnSp>
        <p:cxnSp>
          <p:nvCxnSpPr>
            <p:cNvPr id="104" name="Google Shape;104;p4"/>
            <p:cNvCxnSpPr/>
            <p:nvPr/>
          </p:nvCxnSpPr>
          <p:spPr>
            <a:xfrm>
              <a:off x="6391199" y="2099481"/>
              <a:ext cx="3657600" cy="0"/>
            </a:xfrm>
            <a:prstGeom prst="straightConnector1">
              <a:avLst/>
            </a:prstGeom>
            <a:noFill/>
            <a:ln w="19050" cap="flat" cmpd="sng">
              <a:solidFill>
                <a:srgbClr val="FFFFFF"/>
              </a:solidFill>
              <a:prstDash val="solid"/>
              <a:miter lim="800000"/>
              <a:headEnd type="none" w="sm" len="sm"/>
              <a:tailEnd type="none" w="sm" len="sm"/>
            </a:ln>
          </p:spPr>
        </p:cxnSp>
        <p:cxnSp>
          <p:nvCxnSpPr>
            <p:cNvPr id="105" name="Google Shape;105;p4"/>
            <p:cNvCxnSpPr/>
            <p:nvPr/>
          </p:nvCxnSpPr>
          <p:spPr>
            <a:xfrm>
              <a:off x="5480957" y="2095324"/>
              <a:ext cx="468000" cy="397500"/>
            </a:xfrm>
            <a:prstGeom prst="straightConnector1">
              <a:avLst/>
            </a:prstGeom>
            <a:noFill/>
            <a:ln w="19050" cap="flat" cmpd="sng">
              <a:solidFill>
                <a:srgbClr val="FFFFFF"/>
              </a:solidFill>
              <a:prstDash val="solid"/>
              <a:miter lim="800000"/>
              <a:headEnd type="none" w="sm" len="sm"/>
              <a:tailEnd type="none" w="sm" len="sm"/>
            </a:ln>
          </p:spPr>
        </p:cxnSp>
        <p:cxnSp>
          <p:nvCxnSpPr>
            <p:cNvPr id="106" name="Google Shape;106;p4"/>
            <p:cNvCxnSpPr/>
            <p:nvPr/>
          </p:nvCxnSpPr>
          <p:spPr>
            <a:xfrm flipH="1">
              <a:off x="5935669" y="2092988"/>
              <a:ext cx="468000" cy="397500"/>
            </a:xfrm>
            <a:prstGeom prst="straightConnector1">
              <a:avLst/>
            </a:prstGeom>
            <a:noFill/>
            <a:ln w="19050" cap="flat" cmpd="sng">
              <a:solidFill>
                <a:srgbClr val="FFFFFF"/>
              </a:solidFill>
              <a:prstDash val="solid"/>
              <a:miter lim="800000"/>
              <a:headEnd type="none" w="sm" len="sm"/>
              <a:tailEnd type="none" w="sm" len="sm"/>
            </a:ln>
          </p:spPr>
        </p:cxnSp>
      </p:grpSp>
      <p:pic>
        <p:nvPicPr>
          <p:cNvPr id="107" name="Google Shape;107;p4"/>
          <p:cNvPicPr preferRelativeResize="0"/>
          <p:nvPr/>
        </p:nvPicPr>
        <p:blipFill rotWithShape="1">
          <a:blip r:embed="rId3">
            <a:alphaModFix/>
          </a:blip>
          <a:srcRect/>
          <a:stretch/>
        </p:blipFill>
        <p:spPr>
          <a:xfrm>
            <a:off x="8535605" y="4584308"/>
            <a:ext cx="358587" cy="354169"/>
          </a:xfrm>
          <a:prstGeom prst="rect">
            <a:avLst/>
          </a:prstGeom>
          <a:noFill/>
          <a:ln>
            <a:noFill/>
          </a:ln>
        </p:spPr>
      </p:pic>
      <p:sp>
        <p:nvSpPr>
          <p:cNvPr id="108" name="Google Shape;108;p4"/>
          <p:cNvSpPr txBox="1"/>
          <p:nvPr/>
        </p:nvSpPr>
        <p:spPr>
          <a:xfrm>
            <a:off x="-159512" y="2163966"/>
            <a:ext cx="9135000" cy="81556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500"/>
              <a:buFont typeface="Arial"/>
              <a:buNone/>
            </a:pPr>
            <a:r>
              <a:rPr lang="en-US" sz="4700" b="0" i="0" u="none" strike="noStrike" cap="none" dirty="0">
                <a:solidFill>
                  <a:srgbClr val="FFFFFF"/>
                </a:solidFill>
                <a:latin typeface="Calibri"/>
                <a:ea typeface="Calibri"/>
                <a:cs typeface="Calibri"/>
                <a:sym typeface="Calibri"/>
              </a:rPr>
              <a:t>CORRELAZIONE INDICI</a:t>
            </a:r>
            <a:endParaRPr sz="4700" b="0" i="0" u="none" strike="noStrike" cap="none" dirty="0">
              <a:solidFill>
                <a:srgbClr val="FFFFFF"/>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5"/>
          <p:cNvSpPr txBox="1"/>
          <p:nvPr/>
        </p:nvSpPr>
        <p:spPr>
          <a:xfrm>
            <a:off x="677191" y="533150"/>
            <a:ext cx="6352200" cy="7602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F68F0D"/>
              </a:buClr>
              <a:buSzPts val="4800"/>
              <a:buFont typeface="Calibri"/>
              <a:buNone/>
            </a:pPr>
            <a:endParaRPr sz="3400" b="0" i="0" u="none" strike="noStrike" cap="none">
              <a:solidFill>
                <a:srgbClr val="FFFFFF"/>
              </a:solidFill>
              <a:latin typeface="Calibri"/>
              <a:ea typeface="Calibri"/>
              <a:cs typeface="Calibri"/>
              <a:sym typeface="Calibri"/>
            </a:endParaRPr>
          </a:p>
        </p:txBody>
      </p:sp>
      <p:sp>
        <p:nvSpPr>
          <p:cNvPr id="114" name="Google Shape;114;p5"/>
          <p:cNvSpPr txBox="1"/>
          <p:nvPr/>
        </p:nvSpPr>
        <p:spPr>
          <a:xfrm>
            <a:off x="677191" y="533150"/>
            <a:ext cx="7767300" cy="215439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endParaRPr dirty="0"/>
          </a:p>
          <a:p>
            <a:pPr marL="0" marR="0" lvl="0" indent="0" algn="ctr" rtl="0">
              <a:lnSpc>
                <a:spcPct val="100000"/>
              </a:lnSpc>
              <a:spcBef>
                <a:spcPts val="0"/>
              </a:spcBef>
              <a:spcAft>
                <a:spcPts val="0"/>
              </a:spcAft>
              <a:buNone/>
            </a:pPr>
            <a:endParaRPr sz="4000" b="0" i="0" u="none" strike="noStrike" cap="none" dirty="0">
              <a:solidFill>
                <a:srgbClr val="000000"/>
              </a:solidFill>
              <a:latin typeface="Calibri"/>
              <a:ea typeface="Calibri"/>
              <a:cs typeface="Calibri"/>
              <a:sym typeface="Calibri"/>
            </a:endParaRPr>
          </a:p>
          <a:p>
            <a:pPr marL="0" marR="0" lvl="0" indent="0" algn="ctr" rtl="0">
              <a:lnSpc>
                <a:spcPct val="100000"/>
              </a:lnSpc>
              <a:spcBef>
                <a:spcPts val="0"/>
              </a:spcBef>
              <a:spcAft>
                <a:spcPts val="0"/>
              </a:spcAft>
              <a:buNone/>
            </a:pPr>
            <a:endParaRPr sz="40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0"/>
              </a:spcBef>
              <a:spcAft>
                <a:spcPts val="0"/>
              </a:spcAft>
              <a:buNone/>
            </a:pPr>
            <a:endParaRPr sz="4000" b="0" i="0" u="none" strike="noStrike" cap="none" dirty="0">
              <a:solidFill>
                <a:srgbClr val="3A3838"/>
              </a:solidFill>
              <a:latin typeface="Calibri"/>
              <a:ea typeface="Calibri"/>
              <a:cs typeface="Calibri"/>
              <a:sym typeface="Calibri"/>
            </a:endParaRPr>
          </a:p>
        </p:txBody>
      </p:sp>
      <p:sp>
        <p:nvSpPr>
          <p:cNvPr id="115" name="Google Shape;115;p5"/>
          <p:cNvSpPr/>
          <p:nvPr/>
        </p:nvSpPr>
        <p:spPr>
          <a:xfrm>
            <a:off x="382875" y="4629150"/>
            <a:ext cx="1729800" cy="4152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 name="CasellaDiTesto 3">
            <a:extLst>
              <a:ext uri="{FF2B5EF4-FFF2-40B4-BE49-F238E27FC236}">
                <a16:creationId xmlns:a16="http://schemas.microsoft.com/office/drawing/2014/main" id="{25A12C48-F135-11F7-480A-17E5964C03D9}"/>
              </a:ext>
            </a:extLst>
          </p:cNvPr>
          <p:cNvSpPr txBox="1"/>
          <p:nvPr/>
        </p:nvSpPr>
        <p:spPr>
          <a:xfrm>
            <a:off x="6644854" y="1450665"/>
            <a:ext cx="1935380" cy="1815882"/>
          </a:xfrm>
          <a:prstGeom prst="rect">
            <a:avLst/>
          </a:prstGeom>
          <a:noFill/>
        </p:spPr>
        <p:txBody>
          <a:bodyPr wrap="square" rtlCol="0">
            <a:spAutoFit/>
          </a:bodyPr>
          <a:lstStyle/>
          <a:p>
            <a:r>
              <a:rPr lang="it-IT" dirty="0"/>
              <a:t>Tengo a riferimento la correlazione degli indici dove l’</a:t>
            </a:r>
            <a:r>
              <a:rPr lang="it-IT" dirty="0" err="1"/>
              <a:t>spxusd</a:t>
            </a:r>
            <a:r>
              <a:rPr lang="it-IT" dirty="0"/>
              <a:t> e’ l’indice di riferimento americano che traina gli altri indici.</a:t>
            </a:r>
          </a:p>
          <a:p>
            <a:endParaRPr lang="it-IT" dirty="0"/>
          </a:p>
          <a:p>
            <a:endParaRPr lang="it-IT" dirty="0"/>
          </a:p>
        </p:txBody>
      </p:sp>
      <p:pic>
        <p:nvPicPr>
          <p:cNvPr id="5" name="Immagine 4">
            <a:extLst>
              <a:ext uri="{FF2B5EF4-FFF2-40B4-BE49-F238E27FC236}">
                <a16:creationId xmlns:a16="http://schemas.microsoft.com/office/drawing/2014/main" id="{55B78B0C-7DA0-6C01-995A-4ADC83677242}"/>
              </a:ext>
            </a:extLst>
          </p:cNvPr>
          <p:cNvPicPr>
            <a:picLocks noChangeAspect="1"/>
          </p:cNvPicPr>
          <p:nvPr/>
        </p:nvPicPr>
        <p:blipFill>
          <a:blip r:embed="rId3"/>
          <a:stretch>
            <a:fillRect/>
          </a:stretch>
        </p:blipFill>
        <p:spPr>
          <a:xfrm>
            <a:off x="508764" y="990279"/>
            <a:ext cx="5967663" cy="3394533"/>
          </a:xfrm>
          <a:prstGeom prst="rect">
            <a:avLst/>
          </a:prstGeom>
        </p:spPr>
      </p:pic>
    </p:spTree>
    <p:extLst>
      <p:ext uri="{BB962C8B-B14F-4D97-AF65-F5344CB8AC3E}">
        <p14:creationId xmlns:p14="http://schemas.microsoft.com/office/powerpoint/2010/main" val="25770258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5"/>
          <p:cNvSpPr txBox="1"/>
          <p:nvPr/>
        </p:nvSpPr>
        <p:spPr>
          <a:xfrm>
            <a:off x="677191" y="533150"/>
            <a:ext cx="6352200" cy="7602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F68F0D"/>
              </a:buClr>
              <a:buSzPts val="4800"/>
              <a:buFont typeface="Calibri"/>
              <a:buNone/>
            </a:pPr>
            <a:endParaRPr sz="3400" b="0" i="0" u="none" strike="noStrike" cap="none">
              <a:solidFill>
                <a:srgbClr val="FFFFFF"/>
              </a:solidFill>
              <a:latin typeface="Calibri"/>
              <a:ea typeface="Calibri"/>
              <a:cs typeface="Calibri"/>
              <a:sym typeface="Calibri"/>
            </a:endParaRPr>
          </a:p>
        </p:txBody>
      </p:sp>
      <p:sp>
        <p:nvSpPr>
          <p:cNvPr id="114" name="Google Shape;114;p5"/>
          <p:cNvSpPr txBox="1"/>
          <p:nvPr/>
        </p:nvSpPr>
        <p:spPr>
          <a:xfrm>
            <a:off x="677191" y="533150"/>
            <a:ext cx="7767300" cy="215439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endParaRPr dirty="0"/>
          </a:p>
          <a:p>
            <a:pPr marL="0" marR="0" lvl="0" indent="0" algn="ctr" rtl="0">
              <a:lnSpc>
                <a:spcPct val="100000"/>
              </a:lnSpc>
              <a:spcBef>
                <a:spcPts val="0"/>
              </a:spcBef>
              <a:spcAft>
                <a:spcPts val="0"/>
              </a:spcAft>
              <a:buNone/>
            </a:pPr>
            <a:endParaRPr sz="4000" b="0" i="0" u="none" strike="noStrike" cap="none" dirty="0">
              <a:solidFill>
                <a:srgbClr val="000000"/>
              </a:solidFill>
              <a:latin typeface="Calibri"/>
              <a:ea typeface="Calibri"/>
              <a:cs typeface="Calibri"/>
              <a:sym typeface="Calibri"/>
            </a:endParaRPr>
          </a:p>
          <a:p>
            <a:pPr marL="0" marR="0" lvl="0" indent="0" algn="ctr" rtl="0">
              <a:lnSpc>
                <a:spcPct val="100000"/>
              </a:lnSpc>
              <a:spcBef>
                <a:spcPts val="0"/>
              </a:spcBef>
              <a:spcAft>
                <a:spcPts val="0"/>
              </a:spcAft>
              <a:buNone/>
            </a:pPr>
            <a:endParaRPr sz="40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0"/>
              </a:spcBef>
              <a:spcAft>
                <a:spcPts val="0"/>
              </a:spcAft>
              <a:buNone/>
            </a:pPr>
            <a:endParaRPr sz="4000" b="0" i="0" u="none" strike="noStrike" cap="none" dirty="0">
              <a:solidFill>
                <a:srgbClr val="3A3838"/>
              </a:solidFill>
              <a:latin typeface="Calibri"/>
              <a:ea typeface="Calibri"/>
              <a:cs typeface="Calibri"/>
              <a:sym typeface="Calibri"/>
            </a:endParaRPr>
          </a:p>
        </p:txBody>
      </p:sp>
      <p:sp>
        <p:nvSpPr>
          <p:cNvPr id="115" name="Google Shape;115;p5"/>
          <p:cNvSpPr/>
          <p:nvPr/>
        </p:nvSpPr>
        <p:spPr>
          <a:xfrm>
            <a:off x="382875" y="4629150"/>
            <a:ext cx="1729800" cy="4152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 name="CasellaDiTesto 3">
            <a:extLst>
              <a:ext uri="{FF2B5EF4-FFF2-40B4-BE49-F238E27FC236}">
                <a16:creationId xmlns:a16="http://schemas.microsoft.com/office/drawing/2014/main" id="{EBB993AF-BB16-699B-2820-B843233D7E67}"/>
              </a:ext>
            </a:extLst>
          </p:cNvPr>
          <p:cNvSpPr txBox="1"/>
          <p:nvPr/>
        </p:nvSpPr>
        <p:spPr>
          <a:xfrm>
            <a:off x="6172225" y="1006502"/>
            <a:ext cx="2272266" cy="3785652"/>
          </a:xfrm>
          <a:prstGeom prst="rect">
            <a:avLst/>
          </a:prstGeom>
          <a:noFill/>
        </p:spPr>
        <p:txBody>
          <a:bodyPr wrap="square" rtlCol="0">
            <a:spAutoFit/>
          </a:bodyPr>
          <a:lstStyle/>
          <a:p>
            <a:r>
              <a:rPr lang="it-IT" sz="1200" dirty="0"/>
              <a:t>Tradando la rottura dei massimi o dei minimi, scendo di time frame.</a:t>
            </a:r>
            <a:br>
              <a:rPr lang="it-IT" sz="1200" dirty="0"/>
            </a:br>
            <a:br>
              <a:rPr lang="it-IT" sz="1200" dirty="0"/>
            </a:br>
            <a:r>
              <a:rPr lang="it-IT" sz="1200" dirty="0"/>
              <a:t>Non entriamo subito a mercato, ma divido la size:</a:t>
            </a:r>
          </a:p>
          <a:p>
            <a:endParaRPr lang="it-IT" sz="1200" dirty="0"/>
          </a:p>
          <a:p>
            <a:r>
              <a:rPr lang="it-IT" sz="1200" dirty="0"/>
              <a:t>Sui massimi dove potrebbe andare a prendere la forza per ripartire e sulla media a 14 periodi, per entrare ad un prezzo migliore.</a:t>
            </a:r>
            <a:br>
              <a:rPr lang="it-IT" sz="1200" dirty="0"/>
            </a:br>
            <a:br>
              <a:rPr lang="it-IT" sz="1200" dirty="0"/>
            </a:br>
            <a:r>
              <a:rPr lang="it-IT" sz="1200" dirty="0"/>
              <a:t>Lo stop, lo metto sotto ai minimi</a:t>
            </a:r>
            <a:br>
              <a:rPr lang="it-IT" sz="1200" dirty="0"/>
            </a:br>
            <a:br>
              <a:rPr lang="it-IT" sz="1200" dirty="0"/>
            </a:br>
            <a:r>
              <a:rPr lang="it-IT" sz="1200" dirty="0"/>
              <a:t>Verifico la correlazione con l’</a:t>
            </a:r>
            <a:r>
              <a:rPr lang="it-IT" sz="1200" dirty="0" err="1"/>
              <a:t>spxusd</a:t>
            </a:r>
            <a:r>
              <a:rPr lang="it-IT" sz="1200" dirty="0"/>
              <a:t> per capire se lasciar correre l’operazione o ridurre</a:t>
            </a:r>
          </a:p>
          <a:p>
            <a:endParaRPr lang="it-IT" sz="1200" dirty="0"/>
          </a:p>
        </p:txBody>
      </p:sp>
      <p:pic>
        <p:nvPicPr>
          <p:cNvPr id="7" name="Immagine 6">
            <a:extLst>
              <a:ext uri="{FF2B5EF4-FFF2-40B4-BE49-F238E27FC236}">
                <a16:creationId xmlns:a16="http://schemas.microsoft.com/office/drawing/2014/main" id="{3DF5237A-3747-B9AE-579E-21EBC7C9DC8A}"/>
              </a:ext>
            </a:extLst>
          </p:cNvPr>
          <p:cNvPicPr>
            <a:picLocks noChangeAspect="1"/>
          </p:cNvPicPr>
          <p:nvPr/>
        </p:nvPicPr>
        <p:blipFill>
          <a:blip r:embed="rId3"/>
          <a:stretch>
            <a:fillRect/>
          </a:stretch>
        </p:blipFill>
        <p:spPr>
          <a:xfrm>
            <a:off x="386887" y="1041684"/>
            <a:ext cx="5402022" cy="3587465"/>
          </a:xfrm>
          <a:prstGeom prst="rect">
            <a:avLst/>
          </a:prstGeom>
        </p:spPr>
      </p:pic>
    </p:spTree>
    <p:extLst>
      <p:ext uri="{BB962C8B-B14F-4D97-AF65-F5344CB8AC3E}">
        <p14:creationId xmlns:p14="http://schemas.microsoft.com/office/powerpoint/2010/main" val="351205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5"/>
          <p:cNvSpPr txBox="1"/>
          <p:nvPr/>
        </p:nvSpPr>
        <p:spPr>
          <a:xfrm>
            <a:off x="677191" y="533150"/>
            <a:ext cx="6352200" cy="7602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F68F0D"/>
              </a:buClr>
              <a:buSzPts val="4800"/>
              <a:buFont typeface="Calibri"/>
              <a:buNone/>
            </a:pPr>
            <a:r>
              <a:rPr lang="it-IT" sz="3400" b="0" i="0" u="none" strike="noStrike" cap="none" dirty="0">
                <a:solidFill>
                  <a:schemeClr val="accent4">
                    <a:lumMod val="75000"/>
                  </a:schemeClr>
                </a:solidFill>
                <a:latin typeface="Calibri"/>
                <a:ea typeface="Calibri"/>
                <a:cs typeface="Calibri"/>
                <a:sym typeface="Calibri"/>
              </a:rPr>
              <a:t>Gestione operazione</a:t>
            </a:r>
            <a:endParaRPr sz="3400" b="0" i="0" u="none" strike="noStrike" cap="none" dirty="0">
              <a:solidFill>
                <a:schemeClr val="accent4">
                  <a:lumMod val="75000"/>
                </a:schemeClr>
              </a:solidFill>
              <a:latin typeface="Calibri"/>
              <a:ea typeface="Calibri"/>
              <a:cs typeface="Calibri"/>
              <a:sym typeface="Calibri"/>
            </a:endParaRPr>
          </a:p>
        </p:txBody>
      </p:sp>
      <p:sp>
        <p:nvSpPr>
          <p:cNvPr id="115" name="Google Shape;115;p5"/>
          <p:cNvSpPr/>
          <p:nvPr/>
        </p:nvSpPr>
        <p:spPr>
          <a:xfrm>
            <a:off x="382875" y="4629150"/>
            <a:ext cx="1729800" cy="4152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 name="CasellaDiTesto 3">
            <a:extLst>
              <a:ext uri="{FF2B5EF4-FFF2-40B4-BE49-F238E27FC236}">
                <a16:creationId xmlns:a16="http://schemas.microsoft.com/office/drawing/2014/main" id="{25A204B1-F1B3-0EAD-B396-DE20AEB76F76}"/>
              </a:ext>
            </a:extLst>
          </p:cNvPr>
          <p:cNvSpPr txBox="1"/>
          <p:nvPr/>
        </p:nvSpPr>
        <p:spPr>
          <a:xfrm>
            <a:off x="4915759" y="1443452"/>
            <a:ext cx="3894809" cy="2462213"/>
          </a:xfrm>
          <a:prstGeom prst="rect">
            <a:avLst/>
          </a:prstGeom>
          <a:noFill/>
        </p:spPr>
        <p:txBody>
          <a:bodyPr wrap="square" rtlCol="0">
            <a:spAutoFit/>
          </a:bodyPr>
          <a:lstStyle/>
          <a:p>
            <a:r>
              <a:rPr lang="it-IT" dirty="0"/>
              <a:t>Scendo di time Frame per gestire l’operazione. Mi sposto lo stop per rischiare meno.</a:t>
            </a:r>
          </a:p>
          <a:p>
            <a:endParaRPr lang="it-IT" dirty="0"/>
          </a:p>
          <a:p>
            <a:r>
              <a:rPr lang="it-IT" dirty="0"/>
              <a:t>Chiudo metà posizione e porto lo stop in pari e scendo di time frame in M1, dove seguirò con lo stop adeguandolo alla base della candela precedente, gestisco il rischio che diventerà poi uno stop profit dove guadagnerò senza avere rischi</a:t>
            </a:r>
          </a:p>
          <a:p>
            <a:endParaRPr lang="it-IT" dirty="0"/>
          </a:p>
          <a:p>
            <a:endParaRPr lang="it-IT" dirty="0"/>
          </a:p>
        </p:txBody>
      </p:sp>
      <p:pic>
        <p:nvPicPr>
          <p:cNvPr id="5" name="Immagine 4">
            <a:extLst>
              <a:ext uri="{FF2B5EF4-FFF2-40B4-BE49-F238E27FC236}">
                <a16:creationId xmlns:a16="http://schemas.microsoft.com/office/drawing/2014/main" id="{E55D3593-AEC1-2A3A-B367-E22CA9F28D58}"/>
              </a:ext>
            </a:extLst>
          </p:cNvPr>
          <p:cNvPicPr>
            <a:picLocks noChangeAspect="1"/>
          </p:cNvPicPr>
          <p:nvPr/>
        </p:nvPicPr>
        <p:blipFill>
          <a:blip r:embed="rId3"/>
          <a:stretch>
            <a:fillRect/>
          </a:stretch>
        </p:blipFill>
        <p:spPr>
          <a:xfrm>
            <a:off x="152710" y="1237534"/>
            <a:ext cx="4419290" cy="325389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5"/>
          <p:cNvSpPr txBox="1"/>
          <p:nvPr/>
        </p:nvSpPr>
        <p:spPr>
          <a:xfrm>
            <a:off x="677191" y="533150"/>
            <a:ext cx="6352200" cy="7602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F68F0D"/>
              </a:buClr>
              <a:buSzPts val="4800"/>
              <a:buFont typeface="Calibri"/>
              <a:buNone/>
            </a:pPr>
            <a:r>
              <a:rPr lang="it-IT" sz="3400" b="0" i="0" u="none" strike="noStrike" cap="none" dirty="0">
                <a:solidFill>
                  <a:schemeClr val="accent4">
                    <a:lumMod val="75000"/>
                  </a:schemeClr>
                </a:solidFill>
                <a:latin typeface="Calibri"/>
                <a:ea typeface="Calibri"/>
                <a:cs typeface="Calibri"/>
                <a:sym typeface="Calibri"/>
              </a:rPr>
              <a:t>Gestione operazione</a:t>
            </a:r>
            <a:endParaRPr sz="3400" b="0" i="0" u="none" strike="noStrike" cap="none" dirty="0">
              <a:solidFill>
                <a:schemeClr val="accent4">
                  <a:lumMod val="75000"/>
                </a:schemeClr>
              </a:solidFill>
              <a:latin typeface="Calibri"/>
              <a:ea typeface="Calibri"/>
              <a:cs typeface="Calibri"/>
              <a:sym typeface="Calibri"/>
            </a:endParaRPr>
          </a:p>
        </p:txBody>
      </p:sp>
      <p:sp>
        <p:nvSpPr>
          <p:cNvPr id="115" name="Google Shape;115;p5"/>
          <p:cNvSpPr/>
          <p:nvPr/>
        </p:nvSpPr>
        <p:spPr>
          <a:xfrm>
            <a:off x="382875" y="4629150"/>
            <a:ext cx="1729800" cy="4152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 name="CasellaDiTesto 3">
            <a:extLst>
              <a:ext uri="{FF2B5EF4-FFF2-40B4-BE49-F238E27FC236}">
                <a16:creationId xmlns:a16="http://schemas.microsoft.com/office/drawing/2014/main" id="{25A204B1-F1B3-0EAD-B396-DE20AEB76F76}"/>
              </a:ext>
            </a:extLst>
          </p:cNvPr>
          <p:cNvSpPr txBox="1"/>
          <p:nvPr/>
        </p:nvSpPr>
        <p:spPr>
          <a:xfrm>
            <a:off x="5630781" y="1771531"/>
            <a:ext cx="3190086" cy="2677656"/>
          </a:xfrm>
          <a:prstGeom prst="rect">
            <a:avLst/>
          </a:prstGeom>
          <a:noFill/>
        </p:spPr>
        <p:txBody>
          <a:bodyPr wrap="square" rtlCol="0">
            <a:spAutoFit/>
          </a:bodyPr>
          <a:lstStyle/>
          <a:p>
            <a:r>
              <a:rPr lang="it-IT" dirty="0"/>
              <a:t>Seguirò la posizione con lo stop profit lasciandola correre. </a:t>
            </a:r>
            <a:br>
              <a:rPr lang="it-IT" dirty="0"/>
            </a:br>
            <a:br>
              <a:rPr lang="it-IT" dirty="0"/>
            </a:br>
            <a:r>
              <a:rPr lang="it-IT" dirty="0"/>
              <a:t>Lascio lo spazio per far respirare il mercato, non avendo più rischio, sarà il mercato a decidere quando chiudere l’operazione.</a:t>
            </a:r>
          </a:p>
          <a:p>
            <a:endParaRPr lang="it-IT" dirty="0"/>
          </a:p>
          <a:p>
            <a:endParaRPr lang="it-IT" dirty="0"/>
          </a:p>
          <a:p>
            <a:endParaRPr lang="it-IT" dirty="0"/>
          </a:p>
          <a:p>
            <a:endParaRPr lang="it-IT" dirty="0"/>
          </a:p>
          <a:p>
            <a:endParaRPr lang="it-IT" dirty="0"/>
          </a:p>
        </p:txBody>
      </p:sp>
      <p:pic>
        <p:nvPicPr>
          <p:cNvPr id="6" name="Immagine 5">
            <a:extLst>
              <a:ext uri="{FF2B5EF4-FFF2-40B4-BE49-F238E27FC236}">
                <a16:creationId xmlns:a16="http://schemas.microsoft.com/office/drawing/2014/main" id="{17C7E0ED-5B48-55BE-49DC-A8A1AB9BF670}"/>
              </a:ext>
            </a:extLst>
          </p:cNvPr>
          <p:cNvPicPr>
            <a:picLocks noChangeAspect="1"/>
          </p:cNvPicPr>
          <p:nvPr/>
        </p:nvPicPr>
        <p:blipFill>
          <a:blip r:embed="rId3"/>
          <a:stretch>
            <a:fillRect/>
          </a:stretch>
        </p:blipFill>
        <p:spPr>
          <a:xfrm>
            <a:off x="677191" y="1392813"/>
            <a:ext cx="4788583" cy="3293164"/>
          </a:xfrm>
          <a:prstGeom prst="rect">
            <a:avLst/>
          </a:prstGeom>
        </p:spPr>
      </p:pic>
    </p:spTree>
    <p:extLst>
      <p:ext uri="{BB962C8B-B14F-4D97-AF65-F5344CB8AC3E}">
        <p14:creationId xmlns:p14="http://schemas.microsoft.com/office/powerpoint/2010/main" val="439292453"/>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232</TotalTime>
  <Words>507</Words>
  <Application>Microsoft Office PowerPoint</Application>
  <PresentationFormat>Presentazione su schermo (16:9)</PresentationFormat>
  <Paragraphs>112</Paragraphs>
  <Slides>12</Slides>
  <Notes>12</Notes>
  <HiddenSlides>0</HiddenSlides>
  <MMClips>0</MMClips>
  <ScaleCrop>false</ScaleCrop>
  <HeadingPairs>
    <vt:vector size="6" baseType="variant">
      <vt:variant>
        <vt:lpstr>Caratteri utilizzati</vt:lpstr>
      </vt:variant>
      <vt:variant>
        <vt:i4>2</vt:i4>
      </vt:variant>
      <vt:variant>
        <vt:lpstr>Tema</vt:lpstr>
      </vt:variant>
      <vt:variant>
        <vt:i4>1</vt:i4>
      </vt:variant>
      <vt:variant>
        <vt:lpstr>Titoli diapositive</vt:lpstr>
      </vt:variant>
      <vt:variant>
        <vt:i4>12</vt:i4>
      </vt:variant>
    </vt:vector>
  </HeadingPairs>
  <TitlesOfParts>
    <vt:vector size="15" baseType="lpstr">
      <vt:lpstr>Arial</vt:lpstr>
      <vt:lpstr>Calibri</vt:lpstr>
      <vt:lpstr>Simple Light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Cristina Tarullo</dc:creator>
  <cp:lastModifiedBy>Cristina Tarullo</cp:lastModifiedBy>
  <cp:revision>15</cp:revision>
  <dcterms:modified xsi:type="dcterms:W3CDTF">2024-03-11T23:03:26Z</dcterms:modified>
</cp:coreProperties>
</file>