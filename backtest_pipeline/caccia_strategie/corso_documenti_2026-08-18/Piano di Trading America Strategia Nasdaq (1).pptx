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22" r:id="rId4"/>
    <p:sldId id="258" r:id="rId5"/>
    <p:sldId id="320" r:id="rId6"/>
    <p:sldId id="323" r:id="rId7"/>
    <p:sldId id="319" r:id="rId8"/>
    <p:sldId id="259" r:id="rId9"/>
    <p:sldId id="318" r:id="rId10"/>
    <p:sldId id="317" r:id="rId11"/>
    <p:sldId id="260" r:id="rId12"/>
    <p:sldId id="321" r:id="rId13"/>
    <p:sldId id="324" r:id="rId14"/>
    <p:sldId id="261" r:id="rId15"/>
    <p:sldId id="262" r:id="rId16"/>
  </p:sldIdLst>
  <p:sldSz cx="9144000" cy="5143500" type="screen16x9"/>
  <p:notesSz cx="6858000" cy="9144000"/>
  <p:embeddedFontLst>
    <p:embeddedFont>
      <p:font typeface="Arimo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gygJRgRfzCP1wXG1ZtrKypO8vV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AD8E03-4F9D-401C-9EB1-3900ADFB450D}">
  <a:tblStyle styleId="{F6AD8E03-4F9D-401C-9EB1-3900ADFB45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6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77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013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737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4779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3438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726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3468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772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53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>
            <a:spLocks noGrp="1"/>
          </p:cNvSpPr>
          <p:nvPr>
            <p:ph type="subTitle" idx="1"/>
          </p:nvPr>
        </p:nvSpPr>
        <p:spPr>
          <a:xfrm>
            <a:off x="1008450" y="2197665"/>
            <a:ext cx="71271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530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5"/>
          <p:cNvSpPr/>
          <p:nvPr/>
        </p:nvSpPr>
        <p:spPr>
          <a:xfrm>
            <a:off x="471775" y="0"/>
            <a:ext cx="119100" cy="943500"/>
          </a:xfrm>
          <a:prstGeom prst="rect">
            <a:avLst/>
          </a:prstGeom>
          <a:solidFill>
            <a:srgbClr val="F68F0D"/>
          </a:solidFill>
          <a:ln>
            <a:noFill/>
          </a:ln>
        </p:spPr>
        <p:txBody>
          <a:bodyPr spcFirstLastPara="1" wrap="square" lIns="44175" tIns="44175" rIns="44175" bIns="44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5"/>
          <p:cNvSpPr txBox="1">
            <a:spLocks noGrp="1"/>
          </p:cNvSpPr>
          <p:nvPr>
            <p:ph type="subTitle" idx="1"/>
          </p:nvPr>
        </p:nvSpPr>
        <p:spPr>
          <a:xfrm>
            <a:off x="725425" y="566473"/>
            <a:ext cx="67413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3400"/>
              <a:buFont typeface="Calibri"/>
              <a:buNone/>
              <a:defRPr sz="340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/>
          <p:nvPr/>
        </p:nvSpPr>
        <p:spPr>
          <a:xfrm>
            <a:off x="398875" y="4735613"/>
            <a:ext cx="5006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COMPRARE CASA É SBAGLIATO</a:t>
            </a:r>
            <a:endParaRPr sz="900" b="1" i="0" u="none" strike="noStrike" cap="none">
              <a:solidFill>
                <a:srgbClr val="F68F0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4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4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 1">
  <p:cSld name="TITLE_AND_BODY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>
            <a:spLocks noGrp="1"/>
          </p:cNvSpPr>
          <p:nvPr>
            <p:ph type="sldNum" idx="12"/>
          </p:nvPr>
        </p:nvSpPr>
        <p:spPr>
          <a:xfrm>
            <a:off x="8286203" y="4800311"/>
            <a:ext cx="229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8F0D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3650" y="418950"/>
            <a:ext cx="2956675" cy="74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66" name="Google Shape;66;p1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7" name="Google Shape;67;p1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" name="Google Shape;68;p1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" name="Google Shape;69;p1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0" name="Google Shape;70;p1"/>
          <p:cNvSpPr txBox="1"/>
          <p:nvPr/>
        </p:nvSpPr>
        <p:spPr>
          <a:xfrm>
            <a:off x="-61877" y="2020163"/>
            <a:ext cx="9135000" cy="143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5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Piano di Trading</a:t>
            </a:r>
            <a:endParaRPr lang="en-US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0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Apertura Americana- </a:t>
            </a:r>
            <a:r>
              <a:rPr lang="en-US" sz="3200" b="0" i="1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Strategia</a:t>
            </a:r>
            <a:r>
              <a:rPr lang="en-US" sz="3200" b="0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Nasdaq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subTitle" idx="1"/>
          </p:nvPr>
        </p:nvSpPr>
        <p:spPr>
          <a:xfrm>
            <a:off x="635192" y="1149453"/>
            <a:ext cx="8259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>
                <a:solidFill>
                  <a:srgbClr val="EF8600"/>
                </a:solidFill>
                <a:latin typeface="Arimo"/>
                <a:ea typeface="Arimo"/>
                <a:cs typeface="Arimo"/>
                <a:sym typeface="Arimo"/>
              </a:rPr>
              <a:t>Apertura del </a:t>
            </a:r>
            <a:r>
              <a:rPr lang="en-US" sz="2000" b="1" dirty="0" err="1">
                <a:solidFill>
                  <a:srgbClr val="EF8600"/>
                </a:solidFill>
                <a:latin typeface="Arimo"/>
                <a:ea typeface="Arimo"/>
                <a:cs typeface="Arimo"/>
                <a:sym typeface="Arimo"/>
              </a:rPr>
              <a:t>mercato</a:t>
            </a:r>
            <a:r>
              <a:rPr lang="en-US" sz="2000" b="1" dirty="0">
                <a:solidFill>
                  <a:srgbClr val="EF8600"/>
                </a:solidFill>
                <a:latin typeface="Arimo"/>
                <a:ea typeface="Arimo"/>
                <a:cs typeface="Arimo"/>
                <a:sym typeface="Arimo"/>
              </a:rPr>
              <a:t> americano</a:t>
            </a:r>
            <a:endParaRPr sz="2000" dirty="0">
              <a:solidFill>
                <a:srgbClr val="EF8600"/>
              </a:solidFill>
            </a:endParaRPr>
          </a:p>
        </p:txBody>
      </p:sp>
      <p:pic>
        <p:nvPicPr>
          <p:cNvPr id="77" name="Google Shape;7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2"/>
          <p:cNvGrpSpPr/>
          <p:nvPr/>
        </p:nvGrpSpPr>
        <p:grpSpPr>
          <a:xfrm>
            <a:off x="1574001" y="475346"/>
            <a:ext cx="6022793" cy="399836"/>
            <a:chOff x="1828800" y="2092988"/>
            <a:chExt cx="8219999" cy="399836"/>
          </a:xfrm>
        </p:grpSpPr>
        <p:cxnSp>
          <p:nvCxnSpPr>
            <p:cNvPr id="80" name="Google Shape;80;p2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1" name="Google Shape;81;p2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2" name="Google Shape;82;p2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3" name="Google Shape;83;p2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4" name="Google Shape;84;p2"/>
          <p:cNvSpPr txBox="1"/>
          <p:nvPr/>
        </p:nvSpPr>
        <p:spPr>
          <a:xfrm>
            <a:off x="1560603" y="1958386"/>
            <a:ext cx="6408745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dirty="0">
                <a:sym typeface="Arimo"/>
              </a:rPr>
              <a:t>L’apertura del mercato americano e’ il momento topico per tutti i traders, in quanto tutti gli strumenti finanziari sono impattati proprio dalla volatilità.</a:t>
            </a:r>
            <a:endParaRPr sz="2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2794225" y="892787"/>
            <a:ext cx="8259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-IT" sz="3400" dirty="0"/>
              <a:t>Routine Quotidiana</a:t>
            </a:r>
            <a:endParaRPr sz="3400" dirty="0"/>
          </a:p>
        </p:txBody>
      </p:sp>
      <p:pic>
        <p:nvPicPr>
          <p:cNvPr id="90" name="Google Shape;9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3"/>
          <p:cNvGrpSpPr/>
          <p:nvPr/>
        </p:nvGrpSpPr>
        <p:grpSpPr>
          <a:xfrm>
            <a:off x="1574001" y="475346"/>
            <a:ext cx="6022793" cy="399836"/>
            <a:chOff x="1828800" y="2092988"/>
            <a:chExt cx="8219999" cy="399836"/>
          </a:xfrm>
        </p:grpSpPr>
        <p:cxnSp>
          <p:nvCxnSpPr>
            <p:cNvPr id="93" name="Google Shape;93;p3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6" name="Google Shape;96;p3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7" name="Google Shape;97;p3"/>
          <p:cNvSpPr txBox="1"/>
          <p:nvPr/>
        </p:nvSpPr>
        <p:spPr>
          <a:xfrm>
            <a:off x="263931" y="1603338"/>
            <a:ext cx="861613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Controlla prima di entrare a mercato i dati macroeconomici: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ForexFactory.com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Investing.com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Questo per avere chiaro quando operare sul mercato.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Le notizie a 3 tori, identificate con il colore rosso, sono quelle notizie che impattano maggiormente.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Se abbiamo operazioni in macchina o pendenti, prima di ogni rilascio di un dato a 3 tori, vado a togliere tutto. </a:t>
            </a: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306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1728571" y="872543"/>
            <a:ext cx="8259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 dirty="0"/>
              <a:t>Come </a:t>
            </a:r>
            <a:r>
              <a:rPr lang="en-US" sz="3400" dirty="0" err="1"/>
              <a:t>impostare</a:t>
            </a:r>
            <a:r>
              <a:rPr lang="en-US" sz="3400" dirty="0"/>
              <a:t> la </a:t>
            </a:r>
            <a:r>
              <a:rPr lang="en-US" sz="3400" dirty="0" err="1"/>
              <a:t>piattaforma</a:t>
            </a:r>
            <a:endParaRPr sz="3400" dirty="0"/>
          </a:p>
        </p:txBody>
      </p:sp>
      <p:pic>
        <p:nvPicPr>
          <p:cNvPr id="90" name="Google Shape;9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3"/>
          <p:cNvGrpSpPr/>
          <p:nvPr/>
        </p:nvGrpSpPr>
        <p:grpSpPr>
          <a:xfrm>
            <a:off x="1574001" y="475346"/>
            <a:ext cx="6022793" cy="399836"/>
            <a:chOff x="1828800" y="2092988"/>
            <a:chExt cx="8219999" cy="399836"/>
          </a:xfrm>
        </p:grpSpPr>
        <p:cxnSp>
          <p:nvCxnSpPr>
            <p:cNvPr id="93" name="Google Shape;93;p3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6" name="Google Shape;96;p3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7" name="Google Shape;97;p3"/>
          <p:cNvSpPr txBox="1"/>
          <p:nvPr/>
        </p:nvSpPr>
        <p:spPr>
          <a:xfrm>
            <a:off x="263931" y="1603338"/>
            <a:ext cx="861613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Indici di riferimento del mercato americano: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US30USD – Dow Jones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NASUSD- Nasdaq</a:t>
            </a: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SPXUSD- Indice che influenza i movimenti degli indici americani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D30EUR- Dax (Tradiamo in base alla correlazione degli indici americani che trainano i movimenti)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VALUTE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Gli indici sono molto più volatili rispetto alle valute e non hanno commissioni.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1158830" y="872846"/>
            <a:ext cx="8259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 dirty="0" err="1"/>
              <a:t>Indicatori</a:t>
            </a:r>
            <a:r>
              <a:rPr lang="en-US" sz="3400" dirty="0"/>
              <a:t> </a:t>
            </a:r>
            <a:r>
              <a:rPr lang="en-US" sz="3400" dirty="0" err="1"/>
              <a:t>all’interno</a:t>
            </a:r>
            <a:r>
              <a:rPr lang="en-US" sz="3400" dirty="0"/>
              <a:t> </a:t>
            </a:r>
            <a:r>
              <a:rPr lang="en-US" sz="3400" dirty="0" err="1"/>
              <a:t>della</a:t>
            </a:r>
            <a:r>
              <a:rPr lang="en-US" sz="3400" dirty="0"/>
              <a:t> </a:t>
            </a:r>
            <a:r>
              <a:rPr lang="en-US" sz="3400" dirty="0" err="1"/>
              <a:t>piattaforma</a:t>
            </a:r>
            <a:endParaRPr sz="3400" dirty="0"/>
          </a:p>
        </p:txBody>
      </p:sp>
      <p:pic>
        <p:nvPicPr>
          <p:cNvPr id="90" name="Google Shape;9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3"/>
          <p:cNvGrpSpPr/>
          <p:nvPr/>
        </p:nvGrpSpPr>
        <p:grpSpPr>
          <a:xfrm>
            <a:off x="1574001" y="475346"/>
            <a:ext cx="6022793" cy="399836"/>
            <a:chOff x="1828800" y="2092988"/>
            <a:chExt cx="8219999" cy="399836"/>
          </a:xfrm>
        </p:grpSpPr>
        <p:cxnSp>
          <p:nvCxnSpPr>
            <p:cNvPr id="93" name="Google Shape;93;p3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6" name="Google Shape;96;p3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7" name="Google Shape;97;p3"/>
          <p:cNvSpPr txBox="1"/>
          <p:nvPr/>
        </p:nvSpPr>
        <p:spPr>
          <a:xfrm>
            <a:off x="263931" y="1603338"/>
            <a:ext cx="861613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Candele giapponesi: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Bullish – colore Verde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Bearish</a:t>
            </a: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colore Rosso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- </a:t>
            </a:r>
            <a:r>
              <a:rPr lang="it-IT" dirty="0" err="1"/>
              <a:t>Qqin</a:t>
            </a:r>
            <a:r>
              <a:rPr lang="it-IT" dirty="0"/>
              <a:t> Multipivot</a:t>
            </a:r>
            <a:br>
              <a:rPr lang="it-IT" dirty="0"/>
            </a:br>
            <a:r>
              <a:rPr lang="it-IT" dirty="0"/>
              <a:t>Classic-b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Fibonacci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%Custom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8092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3709525" y="899662"/>
            <a:ext cx="8259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 dirty="0"/>
              <a:t>Time Frame </a:t>
            </a:r>
            <a:endParaRPr sz="3400" dirty="0"/>
          </a:p>
        </p:txBody>
      </p:sp>
      <p:pic>
        <p:nvPicPr>
          <p:cNvPr id="90" name="Google Shape;9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3"/>
          <p:cNvGrpSpPr/>
          <p:nvPr/>
        </p:nvGrpSpPr>
        <p:grpSpPr>
          <a:xfrm>
            <a:off x="1574001" y="475346"/>
            <a:ext cx="6022793" cy="399836"/>
            <a:chOff x="1828800" y="2092988"/>
            <a:chExt cx="8219999" cy="399836"/>
          </a:xfrm>
        </p:grpSpPr>
        <p:cxnSp>
          <p:nvCxnSpPr>
            <p:cNvPr id="93" name="Google Shape;93;p3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6" name="Google Shape;96;p3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7" name="Google Shape;97;p3"/>
          <p:cNvSpPr txBox="1"/>
          <p:nvPr/>
        </p:nvSpPr>
        <p:spPr>
          <a:xfrm>
            <a:off x="284771" y="1785688"/>
            <a:ext cx="8616138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: vediamo la tendenza del mercato giornaliero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it-IT" dirty="0"/>
              <a:t>H4 : vediamo uno spaccato della situazione delle ultime 4 ore</a:t>
            </a: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it-IT" dirty="0"/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H1 : time frame operativo </a:t>
            </a: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it-IT" dirty="0"/>
              <a:t>M15 : gestione dell’operazione</a:t>
            </a:r>
            <a:endParaRPr lang="it-IT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843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2544550" y="642235"/>
            <a:ext cx="8259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 dirty="0" err="1"/>
              <a:t>Schermata</a:t>
            </a:r>
            <a:r>
              <a:rPr lang="en-US" sz="3400" dirty="0"/>
              <a:t> </a:t>
            </a:r>
            <a:r>
              <a:rPr lang="en-US" sz="3400" dirty="0" err="1"/>
              <a:t>Operativa</a:t>
            </a:r>
            <a:endParaRPr sz="3400" dirty="0"/>
          </a:p>
        </p:txBody>
      </p:sp>
      <p:pic>
        <p:nvPicPr>
          <p:cNvPr id="90" name="Google Shape;9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3"/>
          <p:cNvGrpSpPr/>
          <p:nvPr/>
        </p:nvGrpSpPr>
        <p:grpSpPr>
          <a:xfrm>
            <a:off x="1581443" y="270214"/>
            <a:ext cx="6022793" cy="399836"/>
            <a:chOff x="1828800" y="2092988"/>
            <a:chExt cx="8219999" cy="399836"/>
          </a:xfrm>
        </p:grpSpPr>
        <p:cxnSp>
          <p:nvCxnSpPr>
            <p:cNvPr id="93" name="Google Shape;93;p3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6" name="Google Shape;96;p3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7" name="Google Shape;97;p3"/>
          <p:cNvSpPr txBox="1"/>
          <p:nvPr/>
        </p:nvSpPr>
        <p:spPr>
          <a:xfrm>
            <a:off x="263931" y="1603338"/>
            <a:ext cx="861613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21BEF8-C81E-F31A-2287-FBD5603B8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43" y="1165455"/>
            <a:ext cx="7856806" cy="382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8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8F0D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4"/>
          <p:cNvGrpSpPr/>
          <p:nvPr/>
        </p:nvGrpSpPr>
        <p:grpSpPr>
          <a:xfrm>
            <a:off x="1560601" y="1466205"/>
            <a:ext cx="6022793" cy="399836"/>
            <a:chOff x="1828800" y="2092988"/>
            <a:chExt cx="8219999" cy="399836"/>
          </a:xfrm>
        </p:grpSpPr>
        <p:cxnSp>
          <p:nvCxnSpPr>
            <p:cNvPr id="103" name="Google Shape;103;p4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4" name="Google Shape;104;p4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" name="Google Shape;105;p4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6" name="Google Shape;106;p4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-159512" y="2163966"/>
            <a:ext cx="9135000" cy="8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47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STRATEGIA NASDAQ</a:t>
            </a:r>
            <a:endParaRPr sz="47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677191" y="533150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endParaRPr sz="3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677191" y="533150"/>
            <a:ext cx="7767300" cy="215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B53BE57-AD0C-764D-1E8A-1B6FA5C7A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91" y="845965"/>
            <a:ext cx="2431897" cy="408440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A12C48-F135-11F7-480A-17E5964C03D9}"/>
              </a:ext>
            </a:extLst>
          </p:cNvPr>
          <p:cNvSpPr txBox="1"/>
          <p:nvPr/>
        </p:nvSpPr>
        <p:spPr>
          <a:xfrm>
            <a:off x="3667928" y="1904021"/>
            <a:ext cx="47988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L’indice Nasdaq si presta alla strategia della rottura dei minimi e dei massimi in apertura, grazie alla sua direzionalità.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7025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677191" y="533150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endParaRPr sz="3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677191" y="533150"/>
            <a:ext cx="7767300" cy="215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 dirty="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69C8507-B86C-EA67-5139-36A8C7810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76" y="1068463"/>
            <a:ext cx="3548469" cy="320790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B993AF-BB16-699B-2820-B843233D7E67}"/>
              </a:ext>
            </a:extLst>
          </p:cNvPr>
          <p:cNvSpPr txBox="1"/>
          <p:nvPr/>
        </p:nvSpPr>
        <p:spPr>
          <a:xfrm>
            <a:off x="4393244" y="1549726"/>
            <a:ext cx="41732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Si posizionano ordini nel time frame H1</a:t>
            </a:r>
          </a:p>
          <a:p>
            <a:br>
              <a:rPr lang="it-IT" dirty="0"/>
            </a:br>
            <a:r>
              <a:rPr lang="it-IT" b="1" dirty="0"/>
              <a:t>SELL STOP </a:t>
            </a:r>
            <a:r>
              <a:rPr lang="it-IT" dirty="0"/>
              <a:t>sotto i minimi precedenti, per ingresso short</a:t>
            </a:r>
          </a:p>
          <a:p>
            <a:endParaRPr lang="it-IT" dirty="0"/>
          </a:p>
          <a:p>
            <a:r>
              <a:rPr lang="it-IT" b="1" dirty="0"/>
              <a:t>BUY STOP </a:t>
            </a:r>
            <a:r>
              <a:rPr lang="it-IT" dirty="0"/>
              <a:t>sopra i massimi precedenti, per ingresso long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20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677191" y="533150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-IT" sz="3400" b="0" i="0" u="none" strike="noStrike" cap="none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Gestione operazione</a:t>
            </a:r>
            <a:endParaRPr sz="3400" b="0" i="0" u="none" strike="noStrike" cap="none" dirty="0">
              <a:solidFill>
                <a:schemeClr val="accent4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6F7A1A8-D939-563C-4C62-FAF524551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75" y="1154694"/>
            <a:ext cx="3839618" cy="345565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A204B1-F1B3-0EAD-B396-DE20AEB76F76}"/>
              </a:ext>
            </a:extLst>
          </p:cNvPr>
          <p:cNvSpPr txBox="1"/>
          <p:nvPr/>
        </p:nvSpPr>
        <p:spPr>
          <a:xfrm>
            <a:off x="4572000" y="1154694"/>
            <a:ext cx="38948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Una volta eseguito :</a:t>
            </a:r>
          </a:p>
          <a:p>
            <a:endParaRPr lang="it-IT" dirty="0"/>
          </a:p>
          <a:p>
            <a:r>
              <a:rPr lang="it-IT" dirty="0"/>
              <a:t>PORTO LO STOP SUI MASSIMI PRECEDENTI</a:t>
            </a:r>
          </a:p>
          <a:p>
            <a:endParaRPr lang="it-IT" dirty="0"/>
          </a:p>
          <a:p>
            <a:r>
              <a:rPr lang="it-IT" dirty="0"/>
              <a:t>CANCELLO L’ORDINE CHE NON E’ STATO ESEGUITO</a:t>
            </a:r>
          </a:p>
          <a:p>
            <a:endParaRPr lang="it-IT" dirty="0"/>
          </a:p>
          <a:p>
            <a:r>
              <a:rPr lang="it-IT" dirty="0"/>
              <a:t>TAKE PROFIT:</a:t>
            </a:r>
            <a:br>
              <a:rPr lang="it-IT" dirty="0"/>
            </a:br>
            <a:r>
              <a:rPr lang="it-IT" dirty="0"/>
              <a:t>LO STABILISCO IN DIVENIRE DIMEZZANDO SUI LIVELLI IMPORTANTI CHE INCONTRA.</a:t>
            </a:r>
          </a:p>
          <a:p>
            <a:r>
              <a:rPr lang="it-IT" dirty="0"/>
              <a:t>LO STOP LO PORTO IN PARI, OVVERO SUL LIVELLO D’INGRESSO.</a:t>
            </a:r>
          </a:p>
          <a:p>
            <a:endParaRPr lang="it-IT" dirty="0"/>
          </a:p>
          <a:p>
            <a:r>
              <a:rPr lang="it-IT" dirty="0"/>
              <a:t>I LIVELLI %CUSTOM SONO LIVELLI OBIETTIVO.</a:t>
            </a:r>
          </a:p>
          <a:p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677191" y="533150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it-IT" sz="3400" b="0" i="0" u="none" strike="noStrike" cap="none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Gestione operazione</a:t>
            </a:r>
            <a:endParaRPr sz="3400" b="0" i="0" u="none" strike="noStrike" cap="none" dirty="0">
              <a:solidFill>
                <a:schemeClr val="accent4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A204B1-F1B3-0EAD-B396-DE20AEB76F76}"/>
              </a:ext>
            </a:extLst>
          </p:cNvPr>
          <p:cNvSpPr txBox="1"/>
          <p:nvPr/>
        </p:nvSpPr>
        <p:spPr>
          <a:xfrm>
            <a:off x="5397023" y="1849427"/>
            <a:ext cx="38948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Primo obiettivo lo vedo in concomitanza:</a:t>
            </a:r>
            <a:br>
              <a:rPr lang="it-IT" dirty="0"/>
            </a:br>
            <a:br>
              <a:rPr lang="it-IT" dirty="0"/>
            </a:br>
            <a:r>
              <a:rPr lang="it-IT" dirty="0"/>
              <a:t>- Numero tondo</a:t>
            </a:r>
          </a:p>
          <a:p>
            <a:pPr marL="285750" indent="-285750">
              <a:buFontTx/>
              <a:buChar char="-"/>
            </a:pPr>
            <a:r>
              <a:rPr lang="it-IT" dirty="0"/>
              <a:t>% custom ( preso dall’algoritmo del multipivot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9EB0B5E-3A18-BFEA-0B33-92EAC3A7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7529"/>
            <a:ext cx="5292325" cy="382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92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subTitle" idx="1"/>
          </p:nvPr>
        </p:nvSpPr>
        <p:spPr>
          <a:xfrm>
            <a:off x="463340" y="970212"/>
            <a:ext cx="8259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3400" b="1" dirty="0"/>
              <a:t>Se non si configura il setup</a:t>
            </a:r>
            <a:endParaRPr sz="34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400" dirty="0"/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6"/>
          <p:cNvGrpSpPr/>
          <p:nvPr/>
        </p:nvGrpSpPr>
        <p:grpSpPr>
          <a:xfrm>
            <a:off x="1574001" y="475346"/>
            <a:ext cx="6022793" cy="399836"/>
            <a:chOff x="1828800" y="2092988"/>
            <a:chExt cx="8219999" cy="399836"/>
          </a:xfrm>
        </p:grpSpPr>
        <p:cxnSp>
          <p:nvCxnSpPr>
            <p:cNvPr id="124" name="Google Shape;124;p6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7" name="Google Shape;127;p6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8" name="Google Shape;128;p6"/>
          <p:cNvSpPr txBox="1"/>
          <p:nvPr/>
        </p:nvSpPr>
        <p:spPr>
          <a:xfrm>
            <a:off x="2100104" y="1621015"/>
            <a:ext cx="5308904" cy="2067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in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preapertura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non e’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invalidato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setup.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dirty="0"/>
              <a:t>Se non ho il setup,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strumento</a:t>
            </a:r>
            <a:r>
              <a:rPr lang="en-US" dirty="0"/>
              <a:t>.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dirty="0"/>
              <a:t>Il Nasdaq e’ </a:t>
            </a:r>
            <a:r>
              <a:rPr lang="en-US" dirty="0" err="1"/>
              <a:t>l’indice</a:t>
            </a:r>
            <a:r>
              <a:rPr lang="en-US" dirty="0"/>
              <a:t> in </a:t>
            </a:r>
            <a:r>
              <a:rPr lang="en-US" dirty="0" err="1"/>
              <a:t>assoluto</a:t>
            </a:r>
            <a:r>
              <a:rPr lang="en-US" dirty="0"/>
              <a:t> con la </a:t>
            </a:r>
            <a:r>
              <a:rPr lang="en-US" dirty="0" err="1"/>
              <a:t>massima</a:t>
            </a:r>
            <a:r>
              <a:rPr lang="en-US" dirty="0"/>
              <a:t> </a:t>
            </a:r>
            <a:r>
              <a:rPr lang="en-US" dirty="0" err="1"/>
              <a:t>volatilita</a:t>
            </a:r>
            <a:r>
              <a:rPr lang="en-US" dirty="0"/>
              <a:t>’.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8959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subTitle" idx="1"/>
          </p:nvPr>
        </p:nvSpPr>
        <p:spPr>
          <a:xfrm>
            <a:off x="463340" y="970212"/>
            <a:ext cx="8259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3400" b="1" dirty="0"/>
              <a:t>MONEY MANAGENT</a:t>
            </a:r>
            <a:endParaRPr sz="34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400" dirty="0"/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5605" y="4584308"/>
            <a:ext cx="358587" cy="354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608" y="4582453"/>
            <a:ext cx="358600" cy="356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6"/>
          <p:cNvGrpSpPr/>
          <p:nvPr/>
        </p:nvGrpSpPr>
        <p:grpSpPr>
          <a:xfrm>
            <a:off x="1574001" y="475346"/>
            <a:ext cx="6022793" cy="399836"/>
            <a:chOff x="1828800" y="2092988"/>
            <a:chExt cx="8219999" cy="399836"/>
          </a:xfrm>
        </p:grpSpPr>
        <p:cxnSp>
          <p:nvCxnSpPr>
            <p:cNvPr id="124" name="Google Shape;124;p6"/>
            <p:cNvCxnSpPr/>
            <p:nvPr/>
          </p:nvCxnSpPr>
          <p:spPr>
            <a:xfrm>
              <a:off x="1828800" y="2095324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6391199" y="2099481"/>
              <a:ext cx="3657600" cy="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5480957" y="2095324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7" name="Google Shape;127;p6"/>
            <p:cNvCxnSpPr/>
            <p:nvPr/>
          </p:nvCxnSpPr>
          <p:spPr>
            <a:xfrm flipH="1">
              <a:off x="5935669" y="2092988"/>
              <a:ext cx="468000" cy="397500"/>
            </a:xfrm>
            <a:prstGeom prst="straightConnector1">
              <a:avLst/>
            </a:prstGeom>
            <a:noFill/>
            <a:ln w="19050" cap="flat" cmpd="sng">
              <a:solidFill>
                <a:srgbClr val="F68F0D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8" name="Google Shape;128;p6"/>
          <p:cNvSpPr txBox="1"/>
          <p:nvPr/>
        </p:nvSpPr>
        <p:spPr>
          <a:xfrm>
            <a:off x="2100104" y="1367711"/>
            <a:ext cx="5308904" cy="425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dirty="0"/>
              <a:t>NON PERDERE!!!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dirty="0"/>
              <a:t>STABILISCO LA % DI PERDITA DEL MASSIMO DEL 2%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dirty="0"/>
              <a:t>CERCA IL SETUP D’INGRESSO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PRESERVA IL TUO CAPITALE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CERCARE LA VOLATILITA’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dirty="0"/>
              <a:t>GESTISCI LA POSIZIONE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dirty="0"/>
              <a:t>DISCIPLINA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dirty="0"/>
              <a:t>TREND IS YOUR FRIEND, CERCO SEMPRE DI ANDARE A FAVORE DI TREND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697816" y="533150"/>
            <a:ext cx="635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F0D"/>
              </a:buClr>
              <a:buSzPts val="4800"/>
              <a:buFont typeface="Calibri"/>
              <a:buNone/>
            </a:pPr>
            <a:r>
              <a:rPr lang="en-US" sz="3400" b="0" i="0" u="none" strike="noStrike" cap="none" dirty="0" err="1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Psicologia</a:t>
            </a:r>
            <a:r>
              <a:rPr lang="en-US" sz="3400" b="0" i="0" u="none" strike="noStrike" cap="none" dirty="0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b="0" i="0" u="none" strike="noStrike" cap="none" dirty="0" err="1">
                <a:solidFill>
                  <a:srgbClr val="F68F0D"/>
                </a:solidFill>
                <a:latin typeface="Calibri"/>
                <a:ea typeface="Calibri"/>
                <a:cs typeface="Calibri"/>
                <a:sym typeface="Calibri"/>
              </a:rPr>
              <a:t>collettiva</a:t>
            </a:r>
            <a:endParaRPr sz="34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784603" y="1750150"/>
            <a:ext cx="776730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Sui mercati finanziari c'è proprio un effetto di psicologia collettiva derivante da: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it-IT" sz="1200" dirty="0" err="1">
                <a:latin typeface="Calibri"/>
                <a:ea typeface="Calibri"/>
                <a:cs typeface="Calibri"/>
                <a:sym typeface="Calibri"/>
              </a:rPr>
              <a:t>Panic</a:t>
            </a:r>
            <a:r>
              <a:rPr lang="it-IT" sz="1200" dirty="0">
                <a:latin typeface="Calibri"/>
                <a:ea typeface="Calibri"/>
                <a:cs typeface="Calibri"/>
                <a:sym typeface="Calibri"/>
              </a:rPr>
              <a:t> selling, quando tutti vendono, i retail si fanno prendere dall’ emotività e vendono ad un prezzo meno conveniente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arenR"/>
            </a:pPr>
            <a:endParaRPr lang="it-IT" sz="1200" dirty="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it-IT" sz="1200" dirty="0">
                <a:latin typeface="Calibri"/>
                <a:ea typeface="Calibri"/>
                <a:cs typeface="Calibri"/>
                <a:sym typeface="Calibri"/>
              </a:rPr>
              <a:t>Un altro effetto e’ il numero tondo (17000-38000), dove gli operatori intervengono per emotività psicologica; i prezzi risentono di questo livello, che diventa quindi un livello obiettivo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82875" y="4629150"/>
            <a:ext cx="17298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501</Words>
  <Application>Microsoft Office PowerPoint</Application>
  <PresentationFormat>Presentazione su schermo (16:9)</PresentationFormat>
  <Paragraphs>107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Calibri</vt:lpstr>
      <vt:lpstr>Arial</vt:lpstr>
      <vt:lpstr>Arimo</vt:lpstr>
      <vt:lpstr>Simple Light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Cristina Tarullo</dc:creator>
  <cp:lastModifiedBy>Cristina Tarullo</cp:lastModifiedBy>
  <cp:revision>6</cp:revision>
  <dcterms:modified xsi:type="dcterms:W3CDTF">2024-04-28T22:46:49Z</dcterms:modified>
</cp:coreProperties>
</file>